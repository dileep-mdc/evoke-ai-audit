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walks through the AI Visibility Audit tool: what problem it solves, how it works, what we have built from the first version to today, and a short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Buying research increasingly starts in AI assistants. Those assistants quote only a handful of sources. Our tool measures whether a company's website and wider web presence are ready to be one of those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user's point of view the tool is three steps: enter a site, let the audit run, read the report. Everything in between is automated.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check belongs to one of three pillars. Technical: can AI get in and read the pages. On-page: is the content written in a way AI can lift and quote. Off-page: do trusted third-party sources confirm who the company is. Each pillar is scored and they combine into one overall AI Visibility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audit runs in five stages. The important design choice is in stage four: the AI is used where a judgement is needed, but the score itself always comes from fixed, tested formulas. The safeguards mean a scan always finishes with an honest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journey at a glance. We moved from a working prototype to a reliable, traceable and agent-driven product in about six weeks. The next slides go through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gave us an end-to-end tool. Stage two made the reading of websites dependable: we can now see how confidently each page was read, which links failed and why, and we cover pages that are not in the sitemap.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stage was about trust in the numbers. We drew a clear line: the AI answers questions of judgement, and plain formulas produce the score. We also froze the logic of every check and protected it with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completed audit now writes its own set of files. The workbook is what most people will use; the two data files are there for anyone who wants to check exactly what the tool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client conversation the most important question is: where did this number come from? Every score now answers that, with clickable sources and a sentence on which pages were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Off-page is the hardest pillar because the evidence lives on other websites. Six specialist agents each research one area, a seventh agent opens the sources to confirm they are genuinely about the company, and only then does the scoring engine calculate the result. Search results the agent did not actually find are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user works with day to day. I will show each of these in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side-by-side view of where we started and where we are now. The common thread is trust: fewer, clearer checks; evidence for every number; and automation for everything that used to be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that summarise the work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tool here and follow the five demo steps. Then close with what is in progress now and what we propose next; the pilot audits are where we would most value input from the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60720" y="914400"/>
            <a:ext cx="3291840" cy="3291840"/>
          </a:xfrm>
          <a:prstGeom prst="ellipse">
            <a:avLst/>
          </a:prstGeom>
          <a:solidFill>
            <a:srgbClr val="EEF3FA"/>
          </a:solidFill>
          <a:ln w="15875">
            <a:solidFill>
              <a:srgbClr val="DCE5F3"/>
            </a:solidFill>
            <a:prstDash val="solid"/>
          </a:ln>
        </p:spPr>
      </p:sp>
      <p:sp>
        <p:nvSpPr>
          <p:cNvPr id="3" name="Shape 1"/>
          <p:cNvSpPr/>
          <p:nvPr/>
        </p:nvSpPr>
        <p:spPr>
          <a:xfrm>
            <a:off x="6172200" y="1325880"/>
            <a:ext cx="2468880" cy="2468880"/>
          </a:xfrm>
          <a:prstGeom prst="ellipse">
            <a:avLst/>
          </a:prstGeom>
          <a:solidFill>
            <a:srgbClr val="EEF3FA"/>
          </a:solidFill>
          <a:ln w="19050">
            <a:solidFill>
              <a:srgbClr val="B4C7E6"/>
            </a:solidFill>
            <a:prstDash val="solid"/>
          </a:ln>
        </p:spPr>
      </p:sp>
      <p:sp>
        <p:nvSpPr>
          <p:cNvPr id="4" name="Shape 2"/>
          <p:cNvSpPr/>
          <p:nvPr/>
        </p:nvSpPr>
        <p:spPr>
          <a:xfrm>
            <a:off x="6583680" y="1737360"/>
            <a:ext cx="1645920" cy="1645920"/>
          </a:xfrm>
          <a:prstGeom prst="ellipse">
            <a:avLst/>
          </a:prstGeom>
          <a:solidFill>
            <a:srgbClr val="FFFFFF"/>
          </a:solidFill>
          <a:ln w="19050">
            <a:solidFill>
              <a:srgbClr val="7FA0D4"/>
            </a:solidFill>
            <a:prstDash val="solid"/>
          </a:ln>
        </p:spPr>
      </p:sp>
      <p:sp>
        <p:nvSpPr>
          <p:cNvPr id="5" name="Shape 3"/>
          <p:cNvSpPr/>
          <p:nvPr/>
        </p:nvSpPr>
        <p:spPr>
          <a:xfrm>
            <a:off x="7178040" y="2331720"/>
            <a:ext cx="457200" cy="457200"/>
          </a:xfrm>
          <a:prstGeom prst="ellipse">
            <a:avLst/>
          </a:prstGeom>
          <a:solidFill>
            <a:srgbClr val="F05000"/>
          </a:solidFill>
          <a:ln w="12700">
            <a:solidFill>
              <a:srgbClr val="F05000"/>
            </a:solidFill>
            <a:prstDash val="solid"/>
          </a:ln>
        </p:spPr>
      </p:sp>
      <p:pic>
        <p:nvPicPr>
          <p:cNvPr id="6" name="Image 0" descr="preencoded.png">    </p:cNvPr>
          <p:cNvPicPr>
            <a:picLocks noChangeAspect="1"/>
          </p:cNvPicPr>
          <p:nvPr/>
        </p:nvPicPr>
        <p:blipFill>
          <a:blip r:embed="rId1"/>
          <a:stretch>
            <a:fillRect/>
          </a:stretch>
        </p:blipFill>
        <p:spPr>
          <a:xfrm>
            <a:off x="548640" y="411480"/>
            <a:ext cx="868680" cy="832104"/>
          </a:xfrm>
          <a:prstGeom prst="rect">
            <a:avLst/>
          </a:prstGeom>
        </p:spPr>
      </p:pic>
      <p:sp>
        <p:nvSpPr>
          <p:cNvPr id="7" name="Text 4"/>
          <p:cNvSpPr txBox="1"/>
          <p:nvPr/>
        </p:nvSpPr>
        <p:spPr>
          <a:xfrm>
            <a:off x="548640" y="1508760"/>
            <a:ext cx="5486400" cy="274320"/>
          </a:xfrm>
          <a:prstGeom prst="rect">
            <a:avLst/>
          </a:prstGeom>
          <a:noFill/>
          <a:ln/>
        </p:spPr>
        <p:txBody>
          <a:bodyPr wrap="square" lIns="0" tIns="0" rIns="0" bIns="0" rtlCol="0" anchor="t"/>
          <a:lstStyle/>
          <a:p>
            <a:pPr indent="0" marL="0">
              <a:buNone/>
            </a:pPr>
            <a:r>
              <a:rPr lang="en-US" sz="1100" b="1" spc="400" kern="0" dirty="0">
                <a:solidFill>
                  <a:srgbClr val="F05000"/>
                </a:solidFill>
                <a:latin typeface="Arial" pitchFamily="34" charset="0"/>
                <a:ea typeface="Arial" pitchFamily="34" charset="-122"/>
                <a:cs typeface="Arial" pitchFamily="34" charset="-120"/>
              </a:rPr>
              <a:t>PROJECT PROGRESS REVIEW</a:t>
            </a:r>
            <a:endParaRPr lang="en-US" sz="1100" dirty="0"/>
          </a:p>
        </p:txBody>
      </p:sp>
      <p:sp>
        <p:nvSpPr>
          <p:cNvPr id="8" name="Text 5"/>
          <p:cNvSpPr txBox="1"/>
          <p:nvPr/>
        </p:nvSpPr>
        <p:spPr>
          <a:xfrm>
            <a:off x="548640" y="1828800"/>
            <a:ext cx="5669280" cy="822960"/>
          </a:xfrm>
          <a:prstGeom prst="rect">
            <a:avLst/>
          </a:prstGeom>
          <a:noFill/>
          <a:ln/>
        </p:spPr>
        <p:txBody>
          <a:bodyPr wrap="square" lIns="0" tIns="0" rIns="0" bIns="0" rtlCol="0" anchor="t"/>
          <a:lstStyle/>
          <a:p>
            <a:pPr indent="0" marL="0">
              <a:buNone/>
            </a:pPr>
            <a:r>
              <a:rPr lang="en-US" sz="4400" b="1" dirty="0">
                <a:solidFill>
                  <a:srgbClr val="154EA1"/>
                </a:solidFill>
                <a:latin typeface="Arial" pitchFamily="34" charset="0"/>
                <a:ea typeface="Arial" pitchFamily="34" charset="-122"/>
                <a:cs typeface="Arial" pitchFamily="34" charset="-120"/>
              </a:rPr>
              <a:t>AI Visibility Audit</a:t>
            </a:r>
            <a:endParaRPr lang="en-US" sz="4400" dirty="0"/>
          </a:p>
        </p:txBody>
      </p:sp>
      <p:sp>
        <p:nvSpPr>
          <p:cNvPr id="9" name="Text 6"/>
          <p:cNvSpPr txBox="1"/>
          <p:nvPr/>
        </p:nvSpPr>
        <p:spPr>
          <a:xfrm>
            <a:off x="548640" y="2697480"/>
            <a:ext cx="5486400" cy="731520"/>
          </a:xfrm>
          <a:prstGeom prst="rect">
            <a:avLst/>
          </a:prstGeom>
          <a:noFill/>
          <a:ln/>
        </p:spPr>
        <p:txBody>
          <a:bodyPr wrap="square" lIns="0" tIns="0" rIns="0" bIns="0" rtlCol="0" anchor="t"/>
          <a:lstStyle/>
          <a:p>
            <a:pPr indent="0" marL="0">
              <a:buNone/>
            </a:pPr>
            <a:r>
              <a:rPr lang="en-US" sz="1700" dirty="0">
                <a:solidFill>
                  <a:srgbClr val="444444"/>
                </a:solidFill>
                <a:latin typeface="Arial" pitchFamily="34" charset="0"/>
                <a:ea typeface="Arial" pitchFamily="34" charset="-122"/>
                <a:cs typeface="Arial" pitchFamily="34" charset="-120"/>
              </a:rPr>
              <a:t>How visible is a website to AI assistants —</a:t>
            </a:r>
            <a:endParaRPr lang="en-US" sz="1700" dirty="0"/>
          </a:p>
          <a:p>
            <a:pPr indent="0" marL="0">
              <a:buNone/>
            </a:pPr>
            <a:r>
              <a:rPr lang="en-US" sz="1700" dirty="0">
                <a:solidFill>
                  <a:srgbClr val="444444"/>
                </a:solidFill>
                <a:latin typeface="Arial" pitchFamily="34" charset="0"/>
                <a:ea typeface="Arial" pitchFamily="34" charset="-122"/>
                <a:cs typeface="Arial" pitchFamily="34" charset="-120"/>
              </a:rPr>
              <a:t>and what exactly should it fix?</a:t>
            </a:r>
            <a:endParaRPr lang="en-US" sz="1700" dirty="0"/>
          </a:p>
        </p:txBody>
      </p:sp>
      <p:sp>
        <p:nvSpPr>
          <p:cNvPr id="10" name="Text 7"/>
          <p:cNvSpPr txBox="1"/>
          <p:nvPr/>
        </p:nvSpPr>
        <p:spPr>
          <a:xfrm>
            <a:off x="548640" y="4160520"/>
            <a:ext cx="5486400" cy="27432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From the first build to today  ·  August –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THE PROBLEM</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Buyers now ask AI, not just search engines</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2</a:t>
            </a:r>
            <a:endParaRPr lang="en-US" sz="900" dirty="0"/>
          </a:p>
        </p:txBody>
      </p:sp>
      <p:sp>
        <p:nvSpPr>
          <p:cNvPr id="7" name="Shape 4"/>
          <p:cNvSpPr/>
          <p:nvPr/>
        </p:nvSpPr>
        <p:spPr>
          <a:xfrm>
            <a:off x="457200" y="1417320"/>
            <a:ext cx="566928" cy="566928"/>
          </a:xfrm>
          <a:prstGeom prst="ellipse">
            <a:avLst/>
          </a:prstGeom>
          <a:solidFill>
            <a:srgbClr val="154EA1"/>
          </a:solidFill>
          <a:ln w="12700">
            <a:solidFill>
              <a:srgbClr val="154EA1"/>
            </a:solidFill>
            <a:prstDash val="solid"/>
          </a:ln>
        </p:spPr>
      </p:sp>
      <p:pic>
        <p:nvPicPr>
          <p:cNvPr id="8" name="Image 1" descr="preencoded.png">    </p:cNvPr>
          <p:cNvPicPr>
            <a:picLocks noChangeAspect="1"/>
          </p:cNvPicPr>
          <p:nvPr/>
        </p:nvPicPr>
        <p:blipFill>
          <a:blip r:embed="rId2"/>
          <a:stretch>
            <a:fillRect/>
          </a:stretch>
        </p:blipFill>
        <p:spPr>
          <a:xfrm>
            <a:off x="610271" y="1570391"/>
            <a:ext cx="260787" cy="260787"/>
          </a:xfrm>
          <a:prstGeom prst="rect">
            <a:avLst/>
          </a:prstGeom>
        </p:spPr>
      </p:pic>
      <p:sp>
        <p:nvSpPr>
          <p:cNvPr id="9" name="Text 5"/>
          <p:cNvSpPr txBox="1"/>
          <p:nvPr/>
        </p:nvSpPr>
        <p:spPr>
          <a:xfrm>
            <a:off x="1188720" y="1399032"/>
            <a:ext cx="393192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Questions have moved to AI assistants</a:t>
            </a:r>
            <a:endParaRPr lang="en-US" sz="1500" dirty="0"/>
          </a:p>
        </p:txBody>
      </p:sp>
      <p:sp>
        <p:nvSpPr>
          <p:cNvPr id="10" name="Text 6"/>
          <p:cNvSpPr txBox="1"/>
          <p:nvPr/>
        </p:nvSpPr>
        <p:spPr>
          <a:xfrm>
            <a:off x="1188720" y="1709928"/>
            <a:ext cx="3931920" cy="5486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ChatGPT, Gemini, Copilot and Perplexity now answer questions that used to start on a search engine.</a:t>
            </a:r>
            <a:endParaRPr lang="en-US" sz="1200" dirty="0"/>
          </a:p>
        </p:txBody>
      </p:sp>
      <p:sp>
        <p:nvSpPr>
          <p:cNvPr id="11" name="Shape 7"/>
          <p:cNvSpPr/>
          <p:nvPr/>
        </p:nvSpPr>
        <p:spPr>
          <a:xfrm>
            <a:off x="457200" y="2441448"/>
            <a:ext cx="566928" cy="566928"/>
          </a:xfrm>
          <a:prstGeom prst="ellipse">
            <a:avLst/>
          </a:prstGeom>
          <a:solidFill>
            <a:srgbClr val="154EA1"/>
          </a:solidFill>
          <a:ln w="12700">
            <a:solidFill>
              <a:srgbClr val="154EA1"/>
            </a:solidFill>
            <a:prstDash val="solid"/>
          </a:ln>
        </p:spPr>
      </p:sp>
      <p:pic>
        <p:nvPicPr>
          <p:cNvPr id="12" name="Image 2" descr="preencoded.png">    </p:cNvPr>
          <p:cNvPicPr>
            <a:picLocks noChangeAspect="1"/>
          </p:cNvPicPr>
          <p:nvPr/>
        </p:nvPicPr>
        <p:blipFill>
          <a:blip r:embed="rId3"/>
          <a:stretch>
            <a:fillRect/>
          </a:stretch>
        </p:blipFill>
        <p:spPr>
          <a:xfrm>
            <a:off x="610271" y="2594519"/>
            <a:ext cx="260787" cy="260787"/>
          </a:xfrm>
          <a:prstGeom prst="rect">
            <a:avLst/>
          </a:prstGeom>
        </p:spPr>
      </p:pic>
      <p:sp>
        <p:nvSpPr>
          <p:cNvPr id="13" name="Text 8"/>
          <p:cNvSpPr txBox="1"/>
          <p:nvPr/>
        </p:nvSpPr>
        <p:spPr>
          <a:xfrm>
            <a:off x="1188720" y="2423160"/>
            <a:ext cx="393192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Answers cite only a few sources</a:t>
            </a:r>
            <a:endParaRPr lang="en-US" sz="1500" dirty="0"/>
          </a:p>
        </p:txBody>
      </p:sp>
      <p:sp>
        <p:nvSpPr>
          <p:cNvPr id="14" name="Text 9"/>
          <p:cNvSpPr txBox="1"/>
          <p:nvPr/>
        </p:nvSpPr>
        <p:spPr>
          <a:xfrm>
            <a:off x="1188720" y="2734056"/>
            <a:ext cx="3931920" cy="5486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If an assistant cannot read, understand or trust a website, that company is simply left out of the answer.</a:t>
            </a:r>
            <a:endParaRPr lang="en-US" sz="1200" dirty="0"/>
          </a:p>
        </p:txBody>
      </p:sp>
      <p:sp>
        <p:nvSpPr>
          <p:cNvPr id="15" name="Shape 10"/>
          <p:cNvSpPr/>
          <p:nvPr/>
        </p:nvSpPr>
        <p:spPr>
          <a:xfrm>
            <a:off x="457200" y="3465576"/>
            <a:ext cx="566928" cy="566928"/>
          </a:xfrm>
          <a:prstGeom prst="ellipse">
            <a:avLst/>
          </a:prstGeom>
          <a:solidFill>
            <a:srgbClr val="154EA1"/>
          </a:solidFill>
          <a:ln w="12700">
            <a:solidFill>
              <a:srgbClr val="154EA1"/>
            </a:solidFill>
            <a:prstDash val="solid"/>
          </a:ln>
        </p:spPr>
      </p:sp>
      <p:pic>
        <p:nvPicPr>
          <p:cNvPr id="16" name="Image 3" descr="preencoded.png">    </p:cNvPr>
          <p:cNvPicPr>
            <a:picLocks noChangeAspect="1"/>
          </p:cNvPicPr>
          <p:nvPr/>
        </p:nvPicPr>
        <p:blipFill>
          <a:blip r:embed="rId4"/>
          <a:stretch>
            <a:fillRect/>
          </a:stretch>
        </p:blipFill>
        <p:spPr>
          <a:xfrm>
            <a:off x="610271" y="3618647"/>
            <a:ext cx="260787" cy="260787"/>
          </a:xfrm>
          <a:prstGeom prst="rect">
            <a:avLst/>
          </a:prstGeom>
        </p:spPr>
      </p:pic>
      <p:sp>
        <p:nvSpPr>
          <p:cNvPr id="17" name="Text 11"/>
          <p:cNvSpPr txBox="1"/>
          <p:nvPr/>
        </p:nvSpPr>
        <p:spPr>
          <a:xfrm>
            <a:off x="1188720" y="3447288"/>
            <a:ext cx="393192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Traditional SEO does not measure this</a:t>
            </a:r>
            <a:endParaRPr lang="en-US" sz="1500" dirty="0"/>
          </a:p>
        </p:txBody>
      </p:sp>
      <p:sp>
        <p:nvSpPr>
          <p:cNvPr id="18" name="Text 12"/>
          <p:cNvSpPr txBox="1"/>
          <p:nvPr/>
        </p:nvSpPr>
        <p:spPr>
          <a:xfrm>
            <a:off x="1188720" y="3758184"/>
            <a:ext cx="3931920" cy="5486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Rankings and keywords do not show whether AI can extract, trust and cite a company's content.</a:t>
            </a:r>
            <a:endParaRPr lang="en-US" sz="1200" dirty="0"/>
          </a:p>
        </p:txBody>
      </p:sp>
      <p:sp>
        <p:nvSpPr>
          <p:cNvPr id="19" name="Shape 13"/>
          <p:cNvSpPr/>
          <p:nvPr/>
        </p:nvSpPr>
        <p:spPr>
          <a:xfrm>
            <a:off x="5577840" y="1417320"/>
            <a:ext cx="3108960" cy="3017520"/>
          </a:xfrm>
          <a:prstGeom prst="rect">
            <a:avLst/>
          </a:prstGeom>
          <a:solidFill>
            <a:srgbClr val="EEF3FA"/>
          </a:solidFill>
          <a:ln w="12700">
            <a:solidFill>
              <a:srgbClr val="EEF3FA"/>
            </a:solidFill>
            <a:prstDash val="solid"/>
          </a:ln>
        </p:spPr>
      </p:sp>
      <p:sp>
        <p:nvSpPr>
          <p:cNvPr id="20" name="Text 14"/>
          <p:cNvSpPr txBox="1"/>
          <p:nvPr/>
        </p:nvSpPr>
        <p:spPr>
          <a:xfrm>
            <a:off x="5852160" y="1691640"/>
            <a:ext cx="2651760" cy="274320"/>
          </a:xfrm>
          <a:prstGeom prst="rect">
            <a:avLst/>
          </a:prstGeom>
          <a:noFill/>
          <a:ln/>
        </p:spPr>
        <p:txBody>
          <a:bodyPr wrap="square" lIns="0" tIns="0" rIns="0" bIns="0" rtlCol="0" anchor="t"/>
          <a:lstStyle/>
          <a:p>
            <a:pPr indent="0" marL="0">
              <a:buNone/>
            </a:pPr>
            <a:r>
              <a:rPr lang="en-US" sz="1000" b="1" spc="300" kern="0" dirty="0">
                <a:solidFill>
                  <a:srgbClr val="154EA1"/>
                </a:solidFill>
                <a:latin typeface="Arial" pitchFamily="34" charset="0"/>
                <a:ea typeface="Arial" pitchFamily="34" charset="-122"/>
                <a:cs typeface="Arial" pitchFamily="34" charset="-120"/>
              </a:rPr>
              <a:t>THE QUESTION WE ANSWER</a:t>
            </a:r>
            <a:endParaRPr lang="en-US" sz="1000" dirty="0"/>
          </a:p>
        </p:txBody>
      </p:sp>
      <p:sp>
        <p:nvSpPr>
          <p:cNvPr id="21" name="Text 15"/>
          <p:cNvSpPr txBox="1"/>
          <p:nvPr/>
        </p:nvSpPr>
        <p:spPr>
          <a:xfrm>
            <a:off x="5852160" y="2057400"/>
            <a:ext cx="2606040" cy="1463040"/>
          </a:xfrm>
          <a:prstGeom prst="rect">
            <a:avLst/>
          </a:prstGeom>
          <a:noFill/>
          <a:ln/>
        </p:spPr>
        <p:txBody>
          <a:bodyPr wrap="square" lIns="0" tIns="0" rIns="0" bIns="0" rtlCol="0" anchor="t"/>
          <a:lstStyle/>
          <a:p>
            <a:pPr indent="0" marL="0">
              <a:buNone/>
            </a:pPr>
            <a:r>
              <a:rPr lang="en-US" sz="1900" b="1" dirty="0">
                <a:solidFill>
                  <a:srgbClr val="14213D"/>
                </a:solidFill>
                <a:latin typeface="Arial" pitchFamily="34" charset="0"/>
                <a:ea typeface="Arial" pitchFamily="34" charset="-122"/>
                <a:cs typeface="Arial" pitchFamily="34" charset="-120"/>
              </a:rPr>
              <a:t>How visible is this company to AI assistants — and what exactly should be fixed?</a:t>
            </a:r>
            <a:endParaRPr lang="en-US" sz="1900" dirty="0"/>
          </a:p>
        </p:txBody>
      </p:sp>
      <p:sp>
        <p:nvSpPr>
          <p:cNvPr id="22" name="Text 16"/>
          <p:cNvSpPr txBox="1"/>
          <p:nvPr/>
        </p:nvSpPr>
        <p:spPr>
          <a:xfrm>
            <a:off x="5852160" y="3611880"/>
            <a:ext cx="2606040" cy="640080"/>
          </a:xfrm>
          <a:prstGeom prst="rect">
            <a:avLst/>
          </a:prstGeom>
          <a:noFill/>
          <a:ln/>
        </p:spPr>
        <p:txBody>
          <a:bodyPr wrap="square" lIns="0" tIns="0" rIns="0" bIns="0" rtlCol="0" anchor="t"/>
          <a:lstStyle/>
          <a:p>
            <a:pPr indent="0" marL="0">
              <a:buNone/>
            </a:pPr>
            <a:r>
              <a:rPr lang="en-US" sz="1100" dirty="0">
                <a:solidFill>
                  <a:srgbClr val="444444"/>
                </a:solidFill>
                <a:latin typeface="Arial" pitchFamily="34" charset="0"/>
                <a:ea typeface="Arial" pitchFamily="34" charset="-122"/>
                <a:cs typeface="Arial" pitchFamily="34" charset="-120"/>
              </a:rPr>
              <a:t>Answered with a score, evidence and a recommended fix for every factor.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THE SOLUTION</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One website in. A scored report out.</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3</a:t>
            </a:r>
            <a:endParaRPr lang="en-US" sz="900" dirty="0"/>
          </a:p>
        </p:txBody>
      </p:sp>
      <p:sp>
        <p:nvSpPr>
          <p:cNvPr id="7" name="Shape 4"/>
          <p:cNvSpPr/>
          <p:nvPr/>
        </p:nvSpPr>
        <p:spPr>
          <a:xfrm>
            <a:off x="457200" y="1463040"/>
            <a:ext cx="2423160" cy="2331720"/>
          </a:xfrm>
          <a:prstGeom prst="rect">
            <a:avLst/>
          </a:prstGeom>
          <a:solidFill>
            <a:srgbClr val="FFFFFF"/>
          </a:solidFill>
          <a:ln w="12700">
            <a:solidFill>
              <a:srgbClr val="D3DCEA"/>
            </a:solidFill>
            <a:prstDash val="solid"/>
          </a:ln>
        </p:spPr>
      </p:sp>
      <p:sp>
        <p:nvSpPr>
          <p:cNvPr id="8" name="Text 5"/>
          <p:cNvSpPr txBox="1"/>
          <p:nvPr/>
        </p:nvSpPr>
        <p:spPr>
          <a:xfrm>
            <a:off x="731520" y="1691640"/>
            <a:ext cx="1371600" cy="548640"/>
          </a:xfrm>
          <a:prstGeom prst="rect">
            <a:avLst/>
          </a:prstGeom>
          <a:noFill/>
          <a:ln/>
        </p:spPr>
        <p:txBody>
          <a:bodyPr wrap="square" lIns="0" tIns="0" rIns="0" bIns="0" rtlCol="0" anchor="t"/>
          <a:lstStyle/>
          <a:p>
            <a:pPr indent="0" marL="0">
              <a:buNone/>
            </a:pPr>
            <a:r>
              <a:rPr lang="en-US" sz="3400" b="1" dirty="0">
                <a:solidFill>
                  <a:srgbClr val="F05000"/>
                </a:solidFill>
                <a:latin typeface="Arial" pitchFamily="34" charset="0"/>
                <a:ea typeface="Arial" pitchFamily="34" charset="-122"/>
                <a:cs typeface="Arial" pitchFamily="34" charset="-120"/>
              </a:rPr>
              <a:t>01</a:t>
            </a:r>
            <a:endParaRPr lang="en-US" sz="3400" dirty="0"/>
          </a:p>
        </p:txBody>
      </p:sp>
      <p:sp>
        <p:nvSpPr>
          <p:cNvPr id="9" name="Text 6"/>
          <p:cNvSpPr txBox="1"/>
          <p:nvPr/>
        </p:nvSpPr>
        <p:spPr>
          <a:xfrm>
            <a:off x="731520" y="2331720"/>
            <a:ext cx="1874520" cy="32004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Enter a website</a:t>
            </a:r>
            <a:endParaRPr lang="en-US" sz="1500" dirty="0"/>
          </a:p>
        </p:txBody>
      </p:sp>
      <p:sp>
        <p:nvSpPr>
          <p:cNvPr id="10" name="Text 7"/>
          <p:cNvSpPr txBox="1"/>
          <p:nvPr/>
        </p:nvSpPr>
        <p:spPr>
          <a:xfrm>
            <a:off x="731520" y="2697480"/>
            <a:ext cx="1874520" cy="10058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Type the company's website address, or pick a saved copy of the site.</a:t>
            </a:r>
            <a:endParaRPr lang="en-US" sz="1200" dirty="0"/>
          </a:p>
        </p:txBody>
      </p:sp>
      <p:sp>
        <p:nvSpPr>
          <p:cNvPr id="11" name="Shape 8"/>
          <p:cNvSpPr/>
          <p:nvPr/>
        </p:nvSpPr>
        <p:spPr>
          <a:xfrm>
            <a:off x="2971800" y="2628900"/>
            <a:ext cx="292608" cy="0"/>
          </a:xfrm>
          <a:prstGeom prst="line">
            <a:avLst/>
          </a:prstGeom>
          <a:noFill/>
          <a:ln w="22225">
            <a:solidFill>
              <a:srgbClr val="F05000"/>
            </a:solidFill>
            <a:prstDash val="solid"/>
            <a:tailEnd type="triangle"/>
          </a:ln>
        </p:spPr>
      </p:sp>
      <p:sp>
        <p:nvSpPr>
          <p:cNvPr id="12" name="Shape 9"/>
          <p:cNvSpPr/>
          <p:nvPr/>
        </p:nvSpPr>
        <p:spPr>
          <a:xfrm>
            <a:off x="3355848" y="1463040"/>
            <a:ext cx="2423160" cy="2331720"/>
          </a:xfrm>
          <a:prstGeom prst="rect">
            <a:avLst/>
          </a:prstGeom>
          <a:solidFill>
            <a:srgbClr val="FFFFFF"/>
          </a:solidFill>
          <a:ln w="12700">
            <a:solidFill>
              <a:srgbClr val="D3DCEA"/>
            </a:solidFill>
            <a:prstDash val="solid"/>
          </a:ln>
        </p:spPr>
      </p:sp>
      <p:sp>
        <p:nvSpPr>
          <p:cNvPr id="13" name="Text 10"/>
          <p:cNvSpPr txBox="1"/>
          <p:nvPr/>
        </p:nvSpPr>
        <p:spPr>
          <a:xfrm>
            <a:off x="3630168" y="1691640"/>
            <a:ext cx="1371600" cy="548640"/>
          </a:xfrm>
          <a:prstGeom prst="rect">
            <a:avLst/>
          </a:prstGeom>
          <a:noFill/>
          <a:ln/>
        </p:spPr>
        <p:txBody>
          <a:bodyPr wrap="square" lIns="0" tIns="0" rIns="0" bIns="0" rtlCol="0" anchor="t"/>
          <a:lstStyle/>
          <a:p>
            <a:pPr indent="0" marL="0">
              <a:buNone/>
            </a:pPr>
            <a:r>
              <a:rPr lang="en-US" sz="3400" b="1" dirty="0">
                <a:solidFill>
                  <a:srgbClr val="F05000"/>
                </a:solidFill>
                <a:latin typeface="Arial" pitchFamily="34" charset="0"/>
                <a:ea typeface="Arial" pitchFamily="34" charset="-122"/>
                <a:cs typeface="Arial" pitchFamily="34" charset="-120"/>
              </a:rPr>
              <a:t>02</a:t>
            </a:r>
            <a:endParaRPr lang="en-US" sz="3400" dirty="0"/>
          </a:p>
        </p:txBody>
      </p:sp>
      <p:sp>
        <p:nvSpPr>
          <p:cNvPr id="14" name="Text 11"/>
          <p:cNvSpPr txBox="1"/>
          <p:nvPr/>
        </p:nvSpPr>
        <p:spPr>
          <a:xfrm>
            <a:off x="3630168" y="2331720"/>
            <a:ext cx="1874520" cy="32004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Automatic audit</a:t>
            </a:r>
            <a:endParaRPr lang="en-US" sz="1500" dirty="0"/>
          </a:p>
        </p:txBody>
      </p:sp>
      <p:sp>
        <p:nvSpPr>
          <p:cNvPr id="15" name="Text 12"/>
          <p:cNvSpPr txBox="1"/>
          <p:nvPr/>
        </p:nvSpPr>
        <p:spPr>
          <a:xfrm>
            <a:off x="3630168" y="2697480"/>
            <a:ext cx="1874520" cy="10058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The tool reads the whole site, researches the company across the web and checks 51 visibility factors.</a:t>
            </a:r>
            <a:endParaRPr lang="en-US" sz="1200" dirty="0"/>
          </a:p>
        </p:txBody>
      </p:sp>
      <p:sp>
        <p:nvSpPr>
          <p:cNvPr id="16" name="Shape 13"/>
          <p:cNvSpPr/>
          <p:nvPr/>
        </p:nvSpPr>
        <p:spPr>
          <a:xfrm>
            <a:off x="5870448" y="2628900"/>
            <a:ext cx="292608" cy="0"/>
          </a:xfrm>
          <a:prstGeom prst="line">
            <a:avLst/>
          </a:prstGeom>
          <a:noFill/>
          <a:ln w="22225">
            <a:solidFill>
              <a:srgbClr val="F05000"/>
            </a:solidFill>
            <a:prstDash val="solid"/>
            <a:tailEnd type="triangle"/>
          </a:ln>
        </p:spPr>
      </p:sp>
      <p:sp>
        <p:nvSpPr>
          <p:cNvPr id="17" name="Shape 14"/>
          <p:cNvSpPr/>
          <p:nvPr/>
        </p:nvSpPr>
        <p:spPr>
          <a:xfrm>
            <a:off x="6254496" y="1463040"/>
            <a:ext cx="2423160" cy="2331720"/>
          </a:xfrm>
          <a:prstGeom prst="rect">
            <a:avLst/>
          </a:prstGeom>
          <a:solidFill>
            <a:srgbClr val="FFFFFF"/>
          </a:solidFill>
          <a:ln w="12700">
            <a:solidFill>
              <a:srgbClr val="D3DCEA"/>
            </a:solidFill>
            <a:prstDash val="solid"/>
          </a:ln>
        </p:spPr>
      </p:sp>
      <p:sp>
        <p:nvSpPr>
          <p:cNvPr id="18" name="Text 15"/>
          <p:cNvSpPr txBox="1"/>
          <p:nvPr/>
        </p:nvSpPr>
        <p:spPr>
          <a:xfrm>
            <a:off x="6528816" y="1691640"/>
            <a:ext cx="1371600" cy="548640"/>
          </a:xfrm>
          <a:prstGeom prst="rect">
            <a:avLst/>
          </a:prstGeom>
          <a:noFill/>
          <a:ln/>
        </p:spPr>
        <p:txBody>
          <a:bodyPr wrap="square" lIns="0" tIns="0" rIns="0" bIns="0" rtlCol="0" anchor="t"/>
          <a:lstStyle/>
          <a:p>
            <a:pPr indent="0" marL="0">
              <a:buNone/>
            </a:pPr>
            <a:r>
              <a:rPr lang="en-US" sz="3400" b="1" dirty="0">
                <a:solidFill>
                  <a:srgbClr val="F05000"/>
                </a:solidFill>
                <a:latin typeface="Arial" pitchFamily="34" charset="0"/>
                <a:ea typeface="Arial" pitchFamily="34" charset="-122"/>
                <a:cs typeface="Arial" pitchFamily="34" charset="-120"/>
              </a:rPr>
              <a:t>03</a:t>
            </a:r>
            <a:endParaRPr lang="en-US" sz="3400" dirty="0"/>
          </a:p>
        </p:txBody>
      </p:sp>
      <p:sp>
        <p:nvSpPr>
          <p:cNvPr id="19" name="Text 16"/>
          <p:cNvSpPr txBox="1"/>
          <p:nvPr/>
        </p:nvSpPr>
        <p:spPr>
          <a:xfrm>
            <a:off x="6528816" y="2331720"/>
            <a:ext cx="1874520" cy="32004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Scored report</a:t>
            </a:r>
            <a:endParaRPr lang="en-US" sz="1500" dirty="0"/>
          </a:p>
        </p:txBody>
      </p:sp>
      <p:sp>
        <p:nvSpPr>
          <p:cNvPr id="20" name="Text 17"/>
          <p:cNvSpPr txBox="1"/>
          <p:nvPr/>
        </p:nvSpPr>
        <p:spPr>
          <a:xfrm>
            <a:off x="6528816" y="2697480"/>
            <a:ext cx="1874520" cy="10058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Overall score, pillar scores, and every issue with its evidence, sources and a recommended fix.</a:t>
            </a:r>
            <a:endParaRPr lang="en-US" sz="1200" dirty="0"/>
          </a:p>
        </p:txBody>
      </p:sp>
      <p:sp>
        <p:nvSpPr>
          <p:cNvPr id="21" name="Text 18"/>
          <p:cNvSpPr txBox="1"/>
          <p:nvPr/>
        </p:nvSpPr>
        <p:spPr>
          <a:xfrm>
            <a:off x="457200" y="4069080"/>
            <a:ext cx="8229600" cy="320040"/>
          </a:xfrm>
          <a:prstGeom prst="rect">
            <a:avLst/>
          </a:prstGeom>
          <a:noFill/>
          <a:ln/>
        </p:spPr>
        <p:txBody>
          <a:bodyPr wrap="square" lIns="0" tIns="0" rIns="0" bIns="0" rtlCol="0" anchor="t"/>
          <a:lstStyle/>
          <a:p>
            <a:pPr indent="0" marL="0">
              <a:buNone/>
            </a:pPr>
            <a:r>
              <a:rPr lang="en-US" sz="1300" i="1" dirty="0">
                <a:solidFill>
                  <a:srgbClr val="444444"/>
                </a:solidFill>
                <a:latin typeface="Arial" pitchFamily="34" charset="0"/>
                <a:ea typeface="Arial" pitchFamily="34" charset="-122"/>
                <a:cs typeface="Arial" pitchFamily="34" charset="-120"/>
              </a:rPr>
              <a:t>No manual research. No spreadsheets to fill in. Every finding links back to where it came from.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WHAT WE MEASURE</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51 checks across three pillars</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4</a:t>
            </a:r>
            <a:endParaRPr lang="en-US" sz="900" dirty="0"/>
          </a:p>
        </p:txBody>
      </p:sp>
      <p:sp>
        <p:nvSpPr>
          <p:cNvPr id="7" name="Shape 4"/>
          <p:cNvSpPr/>
          <p:nvPr/>
        </p:nvSpPr>
        <p:spPr>
          <a:xfrm>
            <a:off x="457200" y="1325880"/>
            <a:ext cx="2560320" cy="3200400"/>
          </a:xfrm>
          <a:prstGeom prst="rect">
            <a:avLst/>
          </a:prstGeom>
          <a:solidFill>
            <a:srgbClr val="EEF3FA"/>
          </a:solidFill>
          <a:ln w="12700">
            <a:solidFill>
              <a:srgbClr val="EEF3FA"/>
            </a:solidFill>
            <a:prstDash val="solid"/>
          </a:ln>
        </p:spPr>
      </p:sp>
      <p:sp>
        <p:nvSpPr>
          <p:cNvPr id="8" name="Shape 5"/>
          <p:cNvSpPr/>
          <p:nvPr/>
        </p:nvSpPr>
        <p:spPr>
          <a:xfrm>
            <a:off x="685800" y="1536192"/>
            <a:ext cx="502920" cy="502920"/>
          </a:xfrm>
          <a:prstGeom prst="ellipse">
            <a:avLst/>
          </a:prstGeom>
          <a:solidFill>
            <a:srgbClr val="154EA1"/>
          </a:solidFill>
          <a:ln w="12700">
            <a:solidFill>
              <a:srgbClr val="154EA1"/>
            </a:solidFill>
            <a:prstDash val="solid"/>
          </a:ln>
        </p:spPr>
      </p:sp>
      <p:pic>
        <p:nvPicPr>
          <p:cNvPr id="9" name="Image 1" descr="preencoded.png">    </p:cNvPr>
          <p:cNvPicPr>
            <a:picLocks noChangeAspect="1"/>
          </p:cNvPicPr>
          <p:nvPr/>
        </p:nvPicPr>
        <p:blipFill>
          <a:blip r:embed="rId2"/>
          <a:stretch>
            <a:fillRect/>
          </a:stretch>
        </p:blipFill>
        <p:spPr>
          <a:xfrm>
            <a:off x="821588" y="1671980"/>
            <a:ext cx="231343" cy="231343"/>
          </a:xfrm>
          <a:prstGeom prst="rect">
            <a:avLst/>
          </a:prstGeom>
        </p:spPr>
      </p:pic>
      <p:sp>
        <p:nvSpPr>
          <p:cNvPr id="10" name="Text 6"/>
          <p:cNvSpPr txBox="1"/>
          <p:nvPr/>
        </p:nvSpPr>
        <p:spPr>
          <a:xfrm>
            <a:off x="1828800" y="1463040"/>
            <a:ext cx="960120" cy="640080"/>
          </a:xfrm>
          <a:prstGeom prst="rect">
            <a:avLst/>
          </a:prstGeom>
          <a:noFill/>
          <a:ln/>
        </p:spPr>
        <p:txBody>
          <a:bodyPr wrap="square" lIns="0" tIns="0" rIns="0" bIns="0" rtlCol="0" anchor="t"/>
          <a:lstStyle/>
          <a:p>
            <a:pPr algn="r" indent="0" marL="0">
              <a:buNone/>
            </a:pPr>
            <a:r>
              <a:rPr lang="en-US" sz="3600" b="1" dirty="0">
                <a:solidFill>
                  <a:srgbClr val="154EA1"/>
                </a:solidFill>
                <a:latin typeface="Arial" pitchFamily="34" charset="0"/>
                <a:ea typeface="Arial" pitchFamily="34" charset="-122"/>
                <a:cs typeface="Arial" pitchFamily="34" charset="-120"/>
              </a:rPr>
              <a:t>22</a:t>
            </a:r>
            <a:endParaRPr lang="en-US" sz="3600" dirty="0"/>
          </a:p>
        </p:txBody>
      </p:sp>
      <p:sp>
        <p:nvSpPr>
          <p:cNvPr id="11" name="Text 7"/>
          <p:cNvSpPr txBox="1"/>
          <p:nvPr/>
        </p:nvSpPr>
        <p:spPr>
          <a:xfrm>
            <a:off x="685800" y="2194560"/>
            <a:ext cx="2103120" cy="32004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Technical</a:t>
            </a:r>
            <a:endParaRPr lang="en-US" sz="1700" dirty="0"/>
          </a:p>
        </p:txBody>
      </p:sp>
      <p:sp>
        <p:nvSpPr>
          <p:cNvPr id="12" name="Text 8"/>
          <p:cNvSpPr txBox="1"/>
          <p:nvPr/>
        </p:nvSpPr>
        <p:spPr>
          <a:xfrm>
            <a:off x="685800" y="2542032"/>
            <a:ext cx="2103120" cy="502920"/>
          </a:xfrm>
          <a:prstGeom prst="rect">
            <a:avLst/>
          </a:prstGeom>
          <a:noFill/>
          <a:ln/>
        </p:spPr>
        <p:txBody>
          <a:bodyPr wrap="square" lIns="0" tIns="0" rIns="0" bIns="0" rtlCol="0" anchor="t"/>
          <a:lstStyle/>
          <a:p>
            <a:pPr indent="0" marL="0">
              <a:buNone/>
            </a:pPr>
            <a:r>
              <a:rPr lang="en-US" sz="1200" i="1" dirty="0">
                <a:solidFill>
                  <a:srgbClr val="444444"/>
                </a:solidFill>
                <a:latin typeface="Arial" pitchFamily="34" charset="0"/>
                <a:ea typeface="Arial" pitchFamily="34" charset="-122"/>
                <a:cs typeface="Arial" pitchFamily="34" charset="-120"/>
              </a:rPr>
              <a:t>Can AI crawlers reach and read the site?</a:t>
            </a:r>
            <a:endParaRPr lang="en-US" sz="1200" dirty="0"/>
          </a:p>
        </p:txBody>
      </p:sp>
      <p:sp>
        <p:nvSpPr>
          <p:cNvPr id="13" name="Text 9"/>
          <p:cNvSpPr txBox="1"/>
          <p:nvPr/>
        </p:nvSpPr>
        <p:spPr>
          <a:xfrm>
            <a:off x="685800" y="3127248"/>
            <a:ext cx="2103120" cy="201168"/>
          </a:xfrm>
          <a:prstGeom prst="rect">
            <a:avLst/>
          </a:prstGeom>
          <a:noFill/>
          <a:ln/>
        </p:spPr>
        <p:txBody>
          <a:bodyPr wrap="square" lIns="0" tIns="0" rIns="0" bIns="0" rtlCol="0" anchor="t"/>
          <a:lstStyle/>
          <a:p>
            <a:pPr indent="0" marL="0">
              <a:buNone/>
            </a:pPr>
            <a:r>
              <a:rPr lang="en-US" sz="900" b="1" spc="200" kern="0" dirty="0">
                <a:solidFill>
                  <a:srgbClr val="154EA1"/>
                </a:solidFill>
                <a:latin typeface="Arial" pitchFamily="34" charset="0"/>
                <a:ea typeface="Arial" pitchFamily="34" charset="-122"/>
                <a:cs typeface="Arial" pitchFamily="34" charset="-120"/>
              </a:rPr>
              <a:t>EXAMPLE CHECKS</a:t>
            </a:r>
            <a:endParaRPr lang="en-US" sz="900" dirty="0"/>
          </a:p>
        </p:txBody>
      </p:sp>
      <p:sp>
        <p:nvSpPr>
          <p:cNvPr id="14" name="Text 10"/>
          <p:cNvSpPr txBox="1"/>
          <p:nvPr/>
        </p:nvSpPr>
        <p:spPr>
          <a:xfrm>
            <a:off x="685800" y="3364992"/>
            <a:ext cx="2148840" cy="10515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AI crawler access and llms.txt</a:t>
            </a:r>
            <a:endParaRPr lang="en-US" sz="1100" dirty="0"/>
          </a:p>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Content visible without JavaScript</a:t>
            </a:r>
            <a:endParaRPr lang="en-US" sz="1100" dirty="0"/>
          </a:p>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Structured data (schema) markup</a:t>
            </a:r>
            <a:endParaRPr lang="en-US" sz="1100" dirty="0"/>
          </a:p>
        </p:txBody>
      </p:sp>
      <p:sp>
        <p:nvSpPr>
          <p:cNvPr id="15" name="Shape 11"/>
          <p:cNvSpPr/>
          <p:nvPr/>
        </p:nvSpPr>
        <p:spPr>
          <a:xfrm>
            <a:off x="3291840" y="1325880"/>
            <a:ext cx="2560320" cy="3200400"/>
          </a:xfrm>
          <a:prstGeom prst="rect">
            <a:avLst/>
          </a:prstGeom>
          <a:solidFill>
            <a:srgbClr val="EEF3FA"/>
          </a:solidFill>
          <a:ln w="12700">
            <a:solidFill>
              <a:srgbClr val="EEF3FA"/>
            </a:solidFill>
            <a:prstDash val="solid"/>
          </a:ln>
        </p:spPr>
      </p:sp>
      <p:sp>
        <p:nvSpPr>
          <p:cNvPr id="16" name="Shape 12"/>
          <p:cNvSpPr/>
          <p:nvPr/>
        </p:nvSpPr>
        <p:spPr>
          <a:xfrm>
            <a:off x="3520440" y="1536192"/>
            <a:ext cx="502920" cy="502920"/>
          </a:xfrm>
          <a:prstGeom prst="ellipse">
            <a:avLst/>
          </a:prstGeom>
          <a:solidFill>
            <a:srgbClr val="154EA1"/>
          </a:solidFill>
          <a:ln w="12700">
            <a:solidFill>
              <a:srgbClr val="154EA1"/>
            </a:solidFill>
            <a:prstDash val="solid"/>
          </a:ln>
        </p:spPr>
      </p:sp>
      <p:pic>
        <p:nvPicPr>
          <p:cNvPr id="17" name="Image 2" descr="preencoded.png">    </p:cNvPr>
          <p:cNvPicPr>
            <a:picLocks noChangeAspect="1"/>
          </p:cNvPicPr>
          <p:nvPr/>
        </p:nvPicPr>
        <p:blipFill>
          <a:blip r:embed="rId3"/>
          <a:stretch>
            <a:fillRect/>
          </a:stretch>
        </p:blipFill>
        <p:spPr>
          <a:xfrm>
            <a:off x="3656228" y="1671980"/>
            <a:ext cx="231343" cy="231343"/>
          </a:xfrm>
          <a:prstGeom prst="rect">
            <a:avLst/>
          </a:prstGeom>
        </p:spPr>
      </p:pic>
      <p:sp>
        <p:nvSpPr>
          <p:cNvPr id="18" name="Text 13"/>
          <p:cNvSpPr txBox="1"/>
          <p:nvPr/>
        </p:nvSpPr>
        <p:spPr>
          <a:xfrm>
            <a:off x="4663440" y="1463040"/>
            <a:ext cx="960120" cy="640080"/>
          </a:xfrm>
          <a:prstGeom prst="rect">
            <a:avLst/>
          </a:prstGeom>
          <a:noFill/>
          <a:ln/>
        </p:spPr>
        <p:txBody>
          <a:bodyPr wrap="square" lIns="0" tIns="0" rIns="0" bIns="0" rtlCol="0" anchor="t"/>
          <a:lstStyle/>
          <a:p>
            <a:pPr algn="r" indent="0" marL="0">
              <a:buNone/>
            </a:pPr>
            <a:r>
              <a:rPr lang="en-US" sz="3600" b="1" dirty="0">
                <a:solidFill>
                  <a:srgbClr val="154EA1"/>
                </a:solidFill>
                <a:latin typeface="Arial" pitchFamily="34" charset="0"/>
                <a:ea typeface="Arial" pitchFamily="34" charset="-122"/>
                <a:cs typeface="Arial" pitchFamily="34" charset="-120"/>
              </a:rPr>
              <a:t>20</a:t>
            </a:r>
            <a:endParaRPr lang="en-US" sz="3600" dirty="0"/>
          </a:p>
        </p:txBody>
      </p:sp>
      <p:sp>
        <p:nvSpPr>
          <p:cNvPr id="19" name="Text 14"/>
          <p:cNvSpPr txBox="1"/>
          <p:nvPr/>
        </p:nvSpPr>
        <p:spPr>
          <a:xfrm>
            <a:off x="3520440" y="2194560"/>
            <a:ext cx="2103120" cy="32004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On-Page</a:t>
            </a:r>
            <a:endParaRPr lang="en-US" sz="1700" dirty="0"/>
          </a:p>
        </p:txBody>
      </p:sp>
      <p:sp>
        <p:nvSpPr>
          <p:cNvPr id="20" name="Text 15"/>
          <p:cNvSpPr txBox="1"/>
          <p:nvPr/>
        </p:nvSpPr>
        <p:spPr>
          <a:xfrm>
            <a:off x="3520440" y="2542032"/>
            <a:ext cx="2103120" cy="502920"/>
          </a:xfrm>
          <a:prstGeom prst="rect">
            <a:avLst/>
          </a:prstGeom>
          <a:noFill/>
          <a:ln/>
        </p:spPr>
        <p:txBody>
          <a:bodyPr wrap="square" lIns="0" tIns="0" rIns="0" bIns="0" rtlCol="0" anchor="t"/>
          <a:lstStyle/>
          <a:p>
            <a:pPr indent="0" marL="0">
              <a:buNone/>
            </a:pPr>
            <a:r>
              <a:rPr lang="en-US" sz="1200" i="1" dirty="0">
                <a:solidFill>
                  <a:srgbClr val="444444"/>
                </a:solidFill>
                <a:latin typeface="Arial" pitchFamily="34" charset="0"/>
                <a:ea typeface="Arial" pitchFamily="34" charset="-122"/>
                <a:cs typeface="Arial" pitchFamily="34" charset="-120"/>
              </a:rPr>
              <a:t>Is the content easy for AI to quote?</a:t>
            </a:r>
            <a:endParaRPr lang="en-US" sz="1200" dirty="0"/>
          </a:p>
        </p:txBody>
      </p:sp>
      <p:sp>
        <p:nvSpPr>
          <p:cNvPr id="21" name="Text 16"/>
          <p:cNvSpPr txBox="1"/>
          <p:nvPr/>
        </p:nvSpPr>
        <p:spPr>
          <a:xfrm>
            <a:off x="3520440" y="3127248"/>
            <a:ext cx="2103120" cy="201168"/>
          </a:xfrm>
          <a:prstGeom prst="rect">
            <a:avLst/>
          </a:prstGeom>
          <a:noFill/>
          <a:ln/>
        </p:spPr>
        <p:txBody>
          <a:bodyPr wrap="square" lIns="0" tIns="0" rIns="0" bIns="0" rtlCol="0" anchor="t"/>
          <a:lstStyle/>
          <a:p>
            <a:pPr indent="0" marL="0">
              <a:buNone/>
            </a:pPr>
            <a:r>
              <a:rPr lang="en-US" sz="900" b="1" spc="200" kern="0" dirty="0">
                <a:solidFill>
                  <a:srgbClr val="154EA1"/>
                </a:solidFill>
                <a:latin typeface="Arial" pitchFamily="34" charset="0"/>
                <a:ea typeface="Arial" pitchFamily="34" charset="-122"/>
                <a:cs typeface="Arial" pitchFamily="34" charset="-120"/>
              </a:rPr>
              <a:t>EXAMPLE CHECKS</a:t>
            </a:r>
            <a:endParaRPr lang="en-US" sz="900" dirty="0"/>
          </a:p>
        </p:txBody>
      </p:sp>
      <p:sp>
        <p:nvSpPr>
          <p:cNvPr id="22" name="Text 17"/>
          <p:cNvSpPr txBox="1"/>
          <p:nvPr/>
        </p:nvSpPr>
        <p:spPr>
          <a:xfrm>
            <a:off x="3520440" y="3364992"/>
            <a:ext cx="2148840" cy="10515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Headings phrased as buyer questions</a:t>
            </a:r>
            <a:endParaRPr lang="en-US" sz="1100" dirty="0"/>
          </a:p>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Short, self-contained answers</a:t>
            </a:r>
            <a:endParaRPr lang="en-US" sz="1100" dirty="0"/>
          </a:p>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Named authors, data and case studies</a:t>
            </a:r>
            <a:endParaRPr lang="en-US" sz="1100" dirty="0"/>
          </a:p>
        </p:txBody>
      </p:sp>
      <p:sp>
        <p:nvSpPr>
          <p:cNvPr id="23" name="Shape 18"/>
          <p:cNvSpPr/>
          <p:nvPr/>
        </p:nvSpPr>
        <p:spPr>
          <a:xfrm>
            <a:off x="6126480" y="1325880"/>
            <a:ext cx="2560320" cy="3200400"/>
          </a:xfrm>
          <a:prstGeom prst="rect">
            <a:avLst/>
          </a:prstGeom>
          <a:solidFill>
            <a:srgbClr val="EEF3FA"/>
          </a:solidFill>
          <a:ln w="12700">
            <a:solidFill>
              <a:srgbClr val="EEF3FA"/>
            </a:solidFill>
            <a:prstDash val="solid"/>
          </a:ln>
        </p:spPr>
      </p:sp>
      <p:sp>
        <p:nvSpPr>
          <p:cNvPr id="24" name="Shape 19"/>
          <p:cNvSpPr/>
          <p:nvPr/>
        </p:nvSpPr>
        <p:spPr>
          <a:xfrm>
            <a:off x="6355080" y="1536192"/>
            <a:ext cx="502920" cy="502920"/>
          </a:xfrm>
          <a:prstGeom prst="ellipse">
            <a:avLst/>
          </a:prstGeom>
          <a:solidFill>
            <a:srgbClr val="154EA1"/>
          </a:solidFill>
          <a:ln w="12700">
            <a:solidFill>
              <a:srgbClr val="154EA1"/>
            </a:solidFill>
            <a:prstDash val="solid"/>
          </a:ln>
        </p:spPr>
      </p:sp>
      <p:pic>
        <p:nvPicPr>
          <p:cNvPr id="25" name="Image 3" descr="preencoded.png">    </p:cNvPr>
          <p:cNvPicPr>
            <a:picLocks noChangeAspect="1"/>
          </p:cNvPicPr>
          <p:nvPr/>
        </p:nvPicPr>
        <p:blipFill>
          <a:blip r:embed="rId4"/>
          <a:stretch>
            <a:fillRect/>
          </a:stretch>
        </p:blipFill>
        <p:spPr>
          <a:xfrm>
            <a:off x="6490868" y="1671980"/>
            <a:ext cx="231343" cy="231343"/>
          </a:xfrm>
          <a:prstGeom prst="rect">
            <a:avLst/>
          </a:prstGeom>
        </p:spPr>
      </p:pic>
      <p:sp>
        <p:nvSpPr>
          <p:cNvPr id="26" name="Text 20"/>
          <p:cNvSpPr txBox="1"/>
          <p:nvPr/>
        </p:nvSpPr>
        <p:spPr>
          <a:xfrm>
            <a:off x="7498080" y="1463040"/>
            <a:ext cx="960120" cy="640080"/>
          </a:xfrm>
          <a:prstGeom prst="rect">
            <a:avLst/>
          </a:prstGeom>
          <a:noFill/>
          <a:ln/>
        </p:spPr>
        <p:txBody>
          <a:bodyPr wrap="square" lIns="0" tIns="0" rIns="0" bIns="0" rtlCol="0" anchor="t"/>
          <a:lstStyle/>
          <a:p>
            <a:pPr algn="r" indent="0" marL="0">
              <a:buNone/>
            </a:pPr>
            <a:r>
              <a:rPr lang="en-US" sz="3600" b="1" dirty="0">
                <a:solidFill>
                  <a:srgbClr val="154EA1"/>
                </a:solidFill>
                <a:latin typeface="Arial" pitchFamily="34" charset="0"/>
                <a:ea typeface="Arial" pitchFamily="34" charset="-122"/>
                <a:cs typeface="Arial" pitchFamily="34" charset="-120"/>
              </a:rPr>
              <a:t>9</a:t>
            </a:r>
            <a:endParaRPr lang="en-US" sz="3600" dirty="0"/>
          </a:p>
        </p:txBody>
      </p:sp>
      <p:sp>
        <p:nvSpPr>
          <p:cNvPr id="27" name="Text 21"/>
          <p:cNvSpPr txBox="1"/>
          <p:nvPr/>
        </p:nvSpPr>
        <p:spPr>
          <a:xfrm>
            <a:off x="6355080" y="2194560"/>
            <a:ext cx="2103120" cy="32004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Off-Page</a:t>
            </a:r>
            <a:endParaRPr lang="en-US" sz="1700" dirty="0"/>
          </a:p>
        </p:txBody>
      </p:sp>
      <p:sp>
        <p:nvSpPr>
          <p:cNvPr id="28" name="Text 22"/>
          <p:cNvSpPr txBox="1"/>
          <p:nvPr/>
        </p:nvSpPr>
        <p:spPr>
          <a:xfrm>
            <a:off x="6355080" y="2542032"/>
            <a:ext cx="2103120" cy="502920"/>
          </a:xfrm>
          <a:prstGeom prst="rect">
            <a:avLst/>
          </a:prstGeom>
          <a:noFill/>
          <a:ln/>
        </p:spPr>
        <p:txBody>
          <a:bodyPr wrap="square" lIns="0" tIns="0" rIns="0" bIns="0" rtlCol="0" anchor="t"/>
          <a:lstStyle/>
          <a:p>
            <a:pPr indent="0" marL="0">
              <a:buNone/>
            </a:pPr>
            <a:r>
              <a:rPr lang="en-US" sz="1200" i="1" dirty="0">
                <a:solidFill>
                  <a:srgbClr val="444444"/>
                </a:solidFill>
                <a:latin typeface="Arial" pitchFamily="34" charset="0"/>
                <a:ea typeface="Arial" pitchFamily="34" charset="-122"/>
                <a:cs typeface="Arial" pitchFamily="34" charset="-120"/>
              </a:rPr>
              <a:t>Does the rest of the web vouch for the company?</a:t>
            </a:r>
            <a:endParaRPr lang="en-US" sz="1200" dirty="0"/>
          </a:p>
        </p:txBody>
      </p:sp>
      <p:sp>
        <p:nvSpPr>
          <p:cNvPr id="29" name="Text 23"/>
          <p:cNvSpPr txBox="1"/>
          <p:nvPr/>
        </p:nvSpPr>
        <p:spPr>
          <a:xfrm>
            <a:off x="6355080" y="3127248"/>
            <a:ext cx="2103120" cy="201168"/>
          </a:xfrm>
          <a:prstGeom prst="rect">
            <a:avLst/>
          </a:prstGeom>
          <a:noFill/>
          <a:ln/>
        </p:spPr>
        <p:txBody>
          <a:bodyPr wrap="square" lIns="0" tIns="0" rIns="0" bIns="0" rtlCol="0" anchor="t"/>
          <a:lstStyle/>
          <a:p>
            <a:pPr indent="0" marL="0">
              <a:buNone/>
            </a:pPr>
            <a:r>
              <a:rPr lang="en-US" sz="900" b="1" spc="200" kern="0" dirty="0">
                <a:solidFill>
                  <a:srgbClr val="154EA1"/>
                </a:solidFill>
                <a:latin typeface="Arial" pitchFamily="34" charset="0"/>
                <a:ea typeface="Arial" pitchFamily="34" charset="-122"/>
                <a:cs typeface="Arial" pitchFamily="34" charset="-120"/>
              </a:rPr>
              <a:t>EXAMPLE CHECKS</a:t>
            </a:r>
            <a:endParaRPr lang="en-US" sz="900" dirty="0"/>
          </a:p>
        </p:txBody>
      </p:sp>
      <p:sp>
        <p:nvSpPr>
          <p:cNvPr id="30" name="Text 24"/>
          <p:cNvSpPr txBox="1"/>
          <p:nvPr/>
        </p:nvSpPr>
        <p:spPr>
          <a:xfrm>
            <a:off x="6355080" y="3364992"/>
            <a:ext cx="2148840" cy="10515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Wikipedia and Wikidata presence</a:t>
            </a:r>
            <a:endParaRPr lang="en-US" sz="1100" dirty="0"/>
          </a:p>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Review platforms, volume and recency</a:t>
            </a:r>
            <a:endParaRPr lang="en-US" sz="1100" dirty="0"/>
          </a:p>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Best-of lists, analysts and press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HOW IT WORKS</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What happens during an audit</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5</a:t>
            </a:r>
            <a:endParaRPr lang="en-US" sz="900" dirty="0"/>
          </a:p>
        </p:txBody>
      </p:sp>
      <p:sp>
        <p:nvSpPr>
          <p:cNvPr id="7" name="Shape 4"/>
          <p:cNvSpPr/>
          <p:nvPr/>
        </p:nvSpPr>
        <p:spPr>
          <a:xfrm>
            <a:off x="1234440" y="1783080"/>
            <a:ext cx="6675120" cy="0"/>
          </a:xfrm>
          <a:prstGeom prst="line">
            <a:avLst/>
          </a:prstGeom>
          <a:noFill/>
          <a:ln w="19050">
            <a:solidFill>
              <a:srgbClr val="B4C7E6"/>
            </a:solidFill>
            <a:prstDash val="solid"/>
          </a:ln>
        </p:spPr>
      </p:sp>
      <p:sp>
        <p:nvSpPr>
          <p:cNvPr id="8" name="Shape 5"/>
          <p:cNvSpPr/>
          <p:nvPr/>
        </p:nvSpPr>
        <p:spPr>
          <a:xfrm>
            <a:off x="914400" y="1463040"/>
            <a:ext cx="640080" cy="640080"/>
          </a:xfrm>
          <a:prstGeom prst="ellipse">
            <a:avLst/>
          </a:prstGeom>
          <a:solidFill>
            <a:srgbClr val="154EA1"/>
          </a:solidFill>
          <a:ln w="12700">
            <a:solidFill>
              <a:srgbClr val="154EA1"/>
            </a:solidFill>
            <a:prstDash val="solid"/>
          </a:ln>
        </p:spPr>
      </p:sp>
      <p:pic>
        <p:nvPicPr>
          <p:cNvPr id="9" name="Image 1" descr="preencoded.png">    </p:cNvPr>
          <p:cNvPicPr>
            <a:picLocks noChangeAspect="1"/>
          </p:cNvPicPr>
          <p:nvPr/>
        </p:nvPicPr>
        <p:blipFill>
          <a:blip r:embed="rId2"/>
          <a:stretch>
            <a:fillRect/>
          </a:stretch>
        </p:blipFill>
        <p:spPr>
          <a:xfrm>
            <a:off x="1087222" y="1635862"/>
            <a:ext cx="294437" cy="294437"/>
          </a:xfrm>
          <a:prstGeom prst="rect">
            <a:avLst/>
          </a:prstGeom>
        </p:spPr>
      </p:pic>
      <p:sp>
        <p:nvSpPr>
          <p:cNvPr id="10" name="Text 6"/>
          <p:cNvSpPr txBox="1"/>
          <p:nvPr/>
        </p:nvSpPr>
        <p:spPr>
          <a:xfrm>
            <a:off x="457200" y="2240280"/>
            <a:ext cx="1554480" cy="292608"/>
          </a:xfrm>
          <a:prstGeom prst="rect">
            <a:avLst/>
          </a:prstGeom>
          <a:noFill/>
          <a:ln/>
        </p:spPr>
        <p:txBody>
          <a:bodyPr wrap="square" lIns="0" tIns="0" rIns="0" bIns="0" rtlCol="0" anchor="t"/>
          <a:lstStyle/>
          <a:p>
            <a:pPr algn="ctr" indent="0" marL="0">
              <a:buNone/>
            </a:pPr>
            <a:r>
              <a:rPr lang="en-US" sz="1400" b="1" dirty="0">
                <a:solidFill>
                  <a:srgbClr val="14213D"/>
                </a:solidFill>
                <a:latin typeface="Arial" pitchFamily="34" charset="0"/>
                <a:ea typeface="Arial" pitchFamily="34" charset="-122"/>
                <a:cs typeface="Arial" pitchFamily="34" charset="-120"/>
              </a:rPr>
              <a:t>1. Discover</a:t>
            </a:r>
            <a:endParaRPr lang="en-US" sz="1400" dirty="0"/>
          </a:p>
        </p:txBody>
      </p:sp>
      <p:sp>
        <p:nvSpPr>
          <p:cNvPr id="11" name="Text 7"/>
          <p:cNvSpPr txBox="1"/>
          <p:nvPr/>
        </p:nvSpPr>
        <p:spPr>
          <a:xfrm>
            <a:off x="502920" y="2560320"/>
            <a:ext cx="1463040" cy="777240"/>
          </a:xfrm>
          <a:prstGeom prst="rect">
            <a:avLst/>
          </a:prstGeom>
          <a:noFill/>
          <a:ln/>
        </p:spPr>
        <p:txBody>
          <a:bodyPr wrap="square" lIns="0" tIns="0" rIns="0" bIns="0" rtlCol="0" anchor="t"/>
          <a:lstStyle/>
          <a:p>
            <a:pPr algn="ctr" indent="0" marL="0">
              <a:buNone/>
            </a:pPr>
            <a:r>
              <a:rPr lang="en-US" sz="1100" dirty="0">
                <a:solidFill>
                  <a:srgbClr val="444444"/>
                </a:solidFill>
                <a:latin typeface="Arial" pitchFamily="34" charset="0"/>
                <a:ea typeface="Arial" pitchFamily="34" charset="-122"/>
                <a:cs typeface="Arial" pitchFamily="34" charset="-120"/>
              </a:rPr>
              <a:t>Finds every page through the sitemap and internal links.</a:t>
            </a:r>
            <a:endParaRPr lang="en-US" sz="1100" dirty="0"/>
          </a:p>
        </p:txBody>
      </p:sp>
      <p:sp>
        <p:nvSpPr>
          <p:cNvPr id="12" name="Shape 8"/>
          <p:cNvSpPr/>
          <p:nvPr/>
        </p:nvSpPr>
        <p:spPr>
          <a:xfrm>
            <a:off x="2583180" y="1463040"/>
            <a:ext cx="640080" cy="640080"/>
          </a:xfrm>
          <a:prstGeom prst="ellipse">
            <a:avLst/>
          </a:prstGeom>
          <a:solidFill>
            <a:srgbClr val="154EA1"/>
          </a:solidFill>
          <a:ln w="12700">
            <a:solidFill>
              <a:srgbClr val="154EA1"/>
            </a:solidFill>
            <a:prstDash val="solid"/>
          </a:ln>
        </p:spPr>
      </p:sp>
      <p:pic>
        <p:nvPicPr>
          <p:cNvPr id="13" name="Image 2" descr="preencoded.png">    </p:cNvPr>
          <p:cNvPicPr>
            <a:picLocks noChangeAspect="1"/>
          </p:cNvPicPr>
          <p:nvPr/>
        </p:nvPicPr>
        <p:blipFill>
          <a:blip r:embed="rId3"/>
          <a:stretch>
            <a:fillRect/>
          </a:stretch>
        </p:blipFill>
        <p:spPr>
          <a:xfrm>
            <a:off x="2756002" y="1635862"/>
            <a:ext cx="294437" cy="294437"/>
          </a:xfrm>
          <a:prstGeom prst="rect">
            <a:avLst/>
          </a:prstGeom>
        </p:spPr>
      </p:pic>
      <p:sp>
        <p:nvSpPr>
          <p:cNvPr id="14" name="Text 9"/>
          <p:cNvSpPr txBox="1"/>
          <p:nvPr/>
        </p:nvSpPr>
        <p:spPr>
          <a:xfrm>
            <a:off x="2125980" y="2240280"/>
            <a:ext cx="1554480" cy="292608"/>
          </a:xfrm>
          <a:prstGeom prst="rect">
            <a:avLst/>
          </a:prstGeom>
          <a:noFill/>
          <a:ln/>
        </p:spPr>
        <p:txBody>
          <a:bodyPr wrap="square" lIns="0" tIns="0" rIns="0" bIns="0" rtlCol="0" anchor="t"/>
          <a:lstStyle/>
          <a:p>
            <a:pPr algn="ctr" indent="0" marL="0">
              <a:buNone/>
            </a:pPr>
            <a:r>
              <a:rPr lang="en-US" sz="1400" b="1" dirty="0">
                <a:solidFill>
                  <a:srgbClr val="14213D"/>
                </a:solidFill>
                <a:latin typeface="Arial" pitchFamily="34" charset="0"/>
                <a:ea typeface="Arial" pitchFamily="34" charset="-122"/>
                <a:cs typeface="Arial" pitchFamily="34" charset="-120"/>
              </a:rPr>
              <a:t>2. Read</a:t>
            </a:r>
            <a:endParaRPr lang="en-US" sz="1400" dirty="0"/>
          </a:p>
        </p:txBody>
      </p:sp>
      <p:sp>
        <p:nvSpPr>
          <p:cNvPr id="15" name="Text 10"/>
          <p:cNvSpPr txBox="1"/>
          <p:nvPr/>
        </p:nvSpPr>
        <p:spPr>
          <a:xfrm>
            <a:off x="2171700" y="2560320"/>
            <a:ext cx="1463040" cy="777240"/>
          </a:xfrm>
          <a:prstGeom prst="rect">
            <a:avLst/>
          </a:prstGeom>
          <a:noFill/>
          <a:ln/>
        </p:spPr>
        <p:txBody>
          <a:bodyPr wrap="square" lIns="0" tIns="0" rIns="0" bIns="0" rtlCol="0" anchor="t"/>
          <a:lstStyle/>
          <a:p>
            <a:pPr algn="ctr" indent="0" marL="0">
              <a:buNone/>
            </a:pPr>
            <a:r>
              <a:rPr lang="en-US" sz="1100" dirty="0">
                <a:solidFill>
                  <a:srgbClr val="444444"/>
                </a:solidFill>
                <a:latin typeface="Arial" pitchFamily="34" charset="0"/>
                <a:ea typeface="Arial" pitchFamily="34" charset="-122"/>
                <a:cs typeface="Arial" pitchFamily="34" charset="-120"/>
              </a:rPr>
              <a:t>Fetches each page, using a real browser where content loads by script.</a:t>
            </a:r>
            <a:endParaRPr lang="en-US" sz="1100" dirty="0"/>
          </a:p>
        </p:txBody>
      </p:sp>
      <p:sp>
        <p:nvSpPr>
          <p:cNvPr id="16" name="Shape 11"/>
          <p:cNvSpPr/>
          <p:nvPr/>
        </p:nvSpPr>
        <p:spPr>
          <a:xfrm>
            <a:off x="4251960" y="1463040"/>
            <a:ext cx="640080" cy="640080"/>
          </a:xfrm>
          <a:prstGeom prst="ellipse">
            <a:avLst/>
          </a:prstGeom>
          <a:solidFill>
            <a:srgbClr val="154EA1"/>
          </a:solidFill>
          <a:ln w="12700">
            <a:solidFill>
              <a:srgbClr val="154EA1"/>
            </a:solidFill>
            <a:prstDash val="solid"/>
          </a:ln>
        </p:spPr>
      </p:sp>
      <p:pic>
        <p:nvPicPr>
          <p:cNvPr id="17" name="Image 3" descr="preencoded.png">    </p:cNvPr>
          <p:cNvPicPr>
            <a:picLocks noChangeAspect="1"/>
          </p:cNvPicPr>
          <p:nvPr/>
        </p:nvPicPr>
        <p:blipFill>
          <a:blip r:embed="rId4"/>
          <a:stretch>
            <a:fillRect/>
          </a:stretch>
        </p:blipFill>
        <p:spPr>
          <a:xfrm>
            <a:off x="4424782" y="1635862"/>
            <a:ext cx="294437" cy="294437"/>
          </a:xfrm>
          <a:prstGeom prst="rect">
            <a:avLst/>
          </a:prstGeom>
        </p:spPr>
      </p:pic>
      <p:sp>
        <p:nvSpPr>
          <p:cNvPr id="18" name="Text 12"/>
          <p:cNvSpPr txBox="1"/>
          <p:nvPr/>
        </p:nvSpPr>
        <p:spPr>
          <a:xfrm>
            <a:off x="3794760" y="2240280"/>
            <a:ext cx="1554480" cy="292608"/>
          </a:xfrm>
          <a:prstGeom prst="rect">
            <a:avLst/>
          </a:prstGeom>
          <a:noFill/>
          <a:ln/>
        </p:spPr>
        <p:txBody>
          <a:bodyPr wrap="square" lIns="0" tIns="0" rIns="0" bIns="0" rtlCol="0" anchor="t"/>
          <a:lstStyle/>
          <a:p>
            <a:pPr algn="ctr" indent="0" marL="0">
              <a:buNone/>
            </a:pPr>
            <a:r>
              <a:rPr lang="en-US" sz="1400" b="1" dirty="0">
                <a:solidFill>
                  <a:srgbClr val="14213D"/>
                </a:solidFill>
                <a:latin typeface="Arial" pitchFamily="34" charset="0"/>
                <a:ea typeface="Arial" pitchFamily="34" charset="-122"/>
                <a:cs typeface="Arial" pitchFamily="34" charset="-120"/>
              </a:rPr>
              <a:t>3. Research</a:t>
            </a:r>
            <a:endParaRPr lang="en-US" sz="1400" dirty="0"/>
          </a:p>
        </p:txBody>
      </p:sp>
      <p:sp>
        <p:nvSpPr>
          <p:cNvPr id="19" name="Text 13"/>
          <p:cNvSpPr txBox="1"/>
          <p:nvPr/>
        </p:nvSpPr>
        <p:spPr>
          <a:xfrm>
            <a:off x="3840480" y="2560320"/>
            <a:ext cx="1463040" cy="777240"/>
          </a:xfrm>
          <a:prstGeom prst="rect">
            <a:avLst/>
          </a:prstGeom>
          <a:noFill/>
          <a:ln/>
        </p:spPr>
        <p:txBody>
          <a:bodyPr wrap="square" lIns="0" tIns="0" rIns="0" bIns="0" rtlCol="0" anchor="t"/>
          <a:lstStyle/>
          <a:p>
            <a:pPr algn="ctr" indent="0" marL="0">
              <a:buNone/>
            </a:pPr>
            <a:r>
              <a:rPr lang="en-US" sz="1100" dirty="0">
                <a:solidFill>
                  <a:srgbClr val="444444"/>
                </a:solidFill>
                <a:latin typeface="Arial" pitchFamily="34" charset="0"/>
                <a:ea typeface="Arial" pitchFamily="34" charset="-122"/>
                <a:cs typeface="Arial" pitchFamily="34" charset="-120"/>
              </a:rPr>
              <a:t>AI agents search the web and verify sources about the company.</a:t>
            </a:r>
            <a:endParaRPr lang="en-US" sz="1100" dirty="0"/>
          </a:p>
        </p:txBody>
      </p:sp>
      <p:sp>
        <p:nvSpPr>
          <p:cNvPr id="20" name="Shape 14"/>
          <p:cNvSpPr/>
          <p:nvPr/>
        </p:nvSpPr>
        <p:spPr>
          <a:xfrm>
            <a:off x="5920740" y="1463040"/>
            <a:ext cx="640080" cy="640080"/>
          </a:xfrm>
          <a:prstGeom prst="ellipse">
            <a:avLst/>
          </a:prstGeom>
          <a:solidFill>
            <a:srgbClr val="154EA1"/>
          </a:solidFill>
          <a:ln w="12700">
            <a:solidFill>
              <a:srgbClr val="154EA1"/>
            </a:solidFill>
            <a:prstDash val="solid"/>
          </a:ln>
        </p:spPr>
      </p:sp>
      <p:pic>
        <p:nvPicPr>
          <p:cNvPr id="21" name="Image 4" descr="preencoded.png">    </p:cNvPr>
          <p:cNvPicPr>
            <a:picLocks noChangeAspect="1"/>
          </p:cNvPicPr>
          <p:nvPr/>
        </p:nvPicPr>
        <p:blipFill>
          <a:blip r:embed="rId5"/>
          <a:stretch>
            <a:fillRect/>
          </a:stretch>
        </p:blipFill>
        <p:spPr>
          <a:xfrm>
            <a:off x="6093562" y="1635862"/>
            <a:ext cx="294437" cy="294437"/>
          </a:xfrm>
          <a:prstGeom prst="rect">
            <a:avLst/>
          </a:prstGeom>
        </p:spPr>
      </p:pic>
      <p:sp>
        <p:nvSpPr>
          <p:cNvPr id="22" name="Text 15"/>
          <p:cNvSpPr txBox="1"/>
          <p:nvPr/>
        </p:nvSpPr>
        <p:spPr>
          <a:xfrm>
            <a:off x="5463540" y="2240280"/>
            <a:ext cx="1554480" cy="292608"/>
          </a:xfrm>
          <a:prstGeom prst="rect">
            <a:avLst/>
          </a:prstGeom>
          <a:noFill/>
          <a:ln/>
        </p:spPr>
        <p:txBody>
          <a:bodyPr wrap="square" lIns="0" tIns="0" rIns="0" bIns="0" rtlCol="0" anchor="t"/>
          <a:lstStyle/>
          <a:p>
            <a:pPr algn="ctr" indent="0" marL="0">
              <a:buNone/>
            </a:pPr>
            <a:r>
              <a:rPr lang="en-US" sz="1400" b="1" dirty="0">
                <a:solidFill>
                  <a:srgbClr val="14213D"/>
                </a:solidFill>
                <a:latin typeface="Arial" pitchFamily="34" charset="0"/>
                <a:ea typeface="Arial" pitchFamily="34" charset="-122"/>
                <a:cs typeface="Arial" pitchFamily="34" charset="-120"/>
              </a:rPr>
              <a:t>4. Score</a:t>
            </a:r>
            <a:endParaRPr lang="en-US" sz="1400" dirty="0"/>
          </a:p>
        </p:txBody>
      </p:sp>
      <p:sp>
        <p:nvSpPr>
          <p:cNvPr id="23" name="Text 16"/>
          <p:cNvSpPr txBox="1"/>
          <p:nvPr/>
        </p:nvSpPr>
        <p:spPr>
          <a:xfrm>
            <a:off x="5509260" y="2560320"/>
            <a:ext cx="1463040" cy="777240"/>
          </a:xfrm>
          <a:prstGeom prst="rect">
            <a:avLst/>
          </a:prstGeom>
          <a:noFill/>
          <a:ln/>
        </p:spPr>
        <p:txBody>
          <a:bodyPr wrap="square" lIns="0" tIns="0" rIns="0" bIns="0" rtlCol="0" anchor="t"/>
          <a:lstStyle/>
          <a:p>
            <a:pPr algn="ctr" indent="0" marL="0">
              <a:buNone/>
            </a:pPr>
            <a:r>
              <a:rPr lang="en-US" sz="1100" dirty="0">
                <a:solidFill>
                  <a:srgbClr val="444444"/>
                </a:solidFill>
                <a:latin typeface="Arial" pitchFamily="34" charset="0"/>
                <a:ea typeface="Arial" pitchFamily="34" charset="-122"/>
                <a:cs typeface="Arial" pitchFamily="34" charset="-120"/>
              </a:rPr>
              <a:t>AI makes the judgement calls; fixed formulas calculate the score.</a:t>
            </a:r>
            <a:endParaRPr lang="en-US" sz="1100" dirty="0"/>
          </a:p>
        </p:txBody>
      </p:sp>
      <p:sp>
        <p:nvSpPr>
          <p:cNvPr id="24" name="Shape 17"/>
          <p:cNvSpPr/>
          <p:nvPr/>
        </p:nvSpPr>
        <p:spPr>
          <a:xfrm>
            <a:off x="7589520" y="1463040"/>
            <a:ext cx="640080" cy="640080"/>
          </a:xfrm>
          <a:prstGeom prst="ellipse">
            <a:avLst/>
          </a:prstGeom>
          <a:solidFill>
            <a:srgbClr val="154EA1"/>
          </a:solidFill>
          <a:ln w="12700">
            <a:solidFill>
              <a:srgbClr val="154EA1"/>
            </a:solidFill>
            <a:prstDash val="solid"/>
          </a:ln>
        </p:spPr>
      </p:sp>
      <p:pic>
        <p:nvPicPr>
          <p:cNvPr id="25" name="Image 5" descr="preencoded.png">    </p:cNvPr>
          <p:cNvPicPr>
            <a:picLocks noChangeAspect="1"/>
          </p:cNvPicPr>
          <p:nvPr/>
        </p:nvPicPr>
        <p:blipFill>
          <a:blip r:embed="rId6"/>
          <a:stretch>
            <a:fillRect/>
          </a:stretch>
        </p:blipFill>
        <p:spPr>
          <a:xfrm>
            <a:off x="7762342" y="1635862"/>
            <a:ext cx="294437" cy="294437"/>
          </a:xfrm>
          <a:prstGeom prst="rect">
            <a:avLst/>
          </a:prstGeom>
        </p:spPr>
      </p:pic>
      <p:sp>
        <p:nvSpPr>
          <p:cNvPr id="26" name="Text 18"/>
          <p:cNvSpPr txBox="1"/>
          <p:nvPr/>
        </p:nvSpPr>
        <p:spPr>
          <a:xfrm>
            <a:off x="7132320" y="2240280"/>
            <a:ext cx="1554480" cy="292608"/>
          </a:xfrm>
          <a:prstGeom prst="rect">
            <a:avLst/>
          </a:prstGeom>
          <a:noFill/>
          <a:ln/>
        </p:spPr>
        <p:txBody>
          <a:bodyPr wrap="square" lIns="0" tIns="0" rIns="0" bIns="0" rtlCol="0" anchor="t"/>
          <a:lstStyle/>
          <a:p>
            <a:pPr algn="ctr" indent="0" marL="0">
              <a:buNone/>
            </a:pPr>
            <a:r>
              <a:rPr lang="en-US" sz="1400" b="1" dirty="0">
                <a:solidFill>
                  <a:srgbClr val="14213D"/>
                </a:solidFill>
                <a:latin typeface="Arial" pitchFamily="34" charset="0"/>
                <a:ea typeface="Arial" pitchFamily="34" charset="-122"/>
                <a:cs typeface="Arial" pitchFamily="34" charset="-120"/>
              </a:rPr>
              <a:t>5. Report</a:t>
            </a:r>
            <a:endParaRPr lang="en-US" sz="1400" dirty="0"/>
          </a:p>
        </p:txBody>
      </p:sp>
      <p:sp>
        <p:nvSpPr>
          <p:cNvPr id="27" name="Text 19"/>
          <p:cNvSpPr txBox="1"/>
          <p:nvPr/>
        </p:nvSpPr>
        <p:spPr>
          <a:xfrm>
            <a:off x="7178040" y="2560320"/>
            <a:ext cx="1463040" cy="777240"/>
          </a:xfrm>
          <a:prstGeom prst="rect">
            <a:avLst/>
          </a:prstGeom>
          <a:noFill/>
          <a:ln/>
        </p:spPr>
        <p:txBody>
          <a:bodyPr wrap="square" lIns="0" tIns="0" rIns="0" bIns="0" rtlCol="0" anchor="t"/>
          <a:lstStyle/>
          <a:p>
            <a:pPr algn="ctr" indent="0" marL="0">
              <a:buNone/>
            </a:pPr>
            <a:r>
              <a:rPr lang="en-US" sz="1100" dirty="0">
                <a:solidFill>
                  <a:srgbClr val="444444"/>
                </a:solidFill>
                <a:latin typeface="Arial" pitchFamily="34" charset="0"/>
                <a:ea typeface="Arial" pitchFamily="34" charset="-122"/>
                <a:cs typeface="Arial" pitchFamily="34" charset="-120"/>
              </a:rPr>
              <a:t>Dashboard, Excel workbook and PDF are produced automatically.</a:t>
            </a:r>
            <a:endParaRPr lang="en-US" sz="1100" dirty="0"/>
          </a:p>
        </p:txBody>
      </p:sp>
      <p:sp>
        <p:nvSpPr>
          <p:cNvPr id="28" name="Shape 20"/>
          <p:cNvSpPr/>
          <p:nvPr/>
        </p:nvSpPr>
        <p:spPr>
          <a:xfrm>
            <a:off x="457200" y="3520440"/>
            <a:ext cx="8229600" cy="960120"/>
          </a:xfrm>
          <a:prstGeom prst="rect">
            <a:avLst/>
          </a:prstGeom>
          <a:solidFill>
            <a:srgbClr val="EEF3FA"/>
          </a:solidFill>
          <a:ln w="12700">
            <a:solidFill>
              <a:srgbClr val="EEF3FA"/>
            </a:solidFill>
            <a:prstDash val="solid"/>
          </a:ln>
        </p:spPr>
      </p:sp>
      <p:sp>
        <p:nvSpPr>
          <p:cNvPr id="29" name="Text 21"/>
          <p:cNvSpPr txBox="1"/>
          <p:nvPr/>
        </p:nvSpPr>
        <p:spPr>
          <a:xfrm>
            <a:off x="685800" y="3639312"/>
            <a:ext cx="2743200" cy="201168"/>
          </a:xfrm>
          <a:prstGeom prst="rect">
            <a:avLst/>
          </a:prstGeom>
          <a:noFill/>
          <a:ln/>
        </p:spPr>
        <p:txBody>
          <a:bodyPr wrap="square" lIns="0" tIns="0" rIns="0" bIns="0" rtlCol="0" anchor="t"/>
          <a:lstStyle/>
          <a:p>
            <a:pPr indent="0" marL="0">
              <a:buNone/>
            </a:pPr>
            <a:r>
              <a:rPr lang="en-US" sz="900" b="1" spc="200" kern="0" dirty="0">
                <a:solidFill>
                  <a:srgbClr val="154EA1"/>
                </a:solidFill>
                <a:latin typeface="Arial" pitchFamily="34" charset="0"/>
                <a:ea typeface="Arial" pitchFamily="34" charset="-122"/>
                <a:cs typeface="Arial" pitchFamily="34" charset="-120"/>
              </a:rPr>
              <a:t>BUILT-IN SAFEGUARDS</a:t>
            </a:r>
            <a:endParaRPr lang="en-US" sz="900" dirty="0"/>
          </a:p>
        </p:txBody>
      </p:sp>
      <p:sp>
        <p:nvSpPr>
          <p:cNvPr id="30" name="Text 22"/>
          <p:cNvSpPr txBox="1"/>
          <p:nvPr/>
        </p:nvSpPr>
        <p:spPr>
          <a:xfrm>
            <a:off x="685800" y="3904488"/>
            <a:ext cx="2468880" cy="502920"/>
          </a:xfrm>
          <a:prstGeom prst="rect">
            <a:avLst/>
          </a:prstGeom>
          <a:noFill/>
          <a:ln/>
        </p:spPr>
        <p:txBody>
          <a:bodyPr wrap="square" lIns="0" tIns="0" rIns="0" bIns="0" rtlCol="0" anchor="t"/>
          <a:lstStyle/>
          <a:p>
            <a:pPr indent="0" marL="0">
              <a:buNone/>
            </a:pPr>
            <a:r>
              <a:rPr lang="en-US" sz="1100" b="1" dirty="0">
                <a:solidFill>
                  <a:srgbClr val="14213D"/>
                </a:solidFill>
                <a:latin typeface="Arial" pitchFamily="34" charset="0"/>
                <a:ea typeface="Arial" pitchFamily="34" charset="-122"/>
                <a:cs typeface="Arial" pitchFamily="34" charset="-120"/>
              </a:rPr>
              <a:t>AI unavailable? </a:t>
            </a:r>
            <a:pPr indent="0" marL="0">
              <a:buNone/>
            </a:pPr>
            <a:r>
              <a:rPr lang="en-US" sz="1100" dirty="0">
                <a:solidFill>
                  <a:srgbClr val="444444"/>
                </a:solidFill>
                <a:latin typeface="Arial" pitchFamily="34" charset="0"/>
                <a:ea typeface="Arial" pitchFamily="34" charset="-122"/>
                <a:cs typeface="Arial" pitchFamily="34" charset="-120"/>
              </a:rPr>
              <a:t>Falls back to rules-based scoring, clearly labelled.</a:t>
            </a:r>
            <a:endParaRPr lang="en-US" sz="1100" dirty="0"/>
          </a:p>
        </p:txBody>
      </p:sp>
      <p:sp>
        <p:nvSpPr>
          <p:cNvPr id="31" name="Text 23"/>
          <p:cNvSpPr txBox="1"/>
          <p:nvPr/>
        </p:nvSpPr>
        <p:spPr>
          <a:xfrm>
            <a:off x="3319272" y="3904488"/>
            <a:ext cx="2468880" cy="502920"/>
          </a:xfrm>
          <a:prstGeom prst="rect">
            <a:avLst/>
          </a:prstGeom>
          <a:noFill/>
          <a:ln/>
        </p:spPr>
        <p:txBody>
          <a:bodyPr wrap="square" lIns="0" tIns="0" rIns="0" bIns="0" rtlCol="0" anchor="t"/>
          <a:lstStyle/>
          <a:p>
            <a:pPr indent="0" marL="0">
              <a:buNone/>
            </a:pPr>
            <a:r>
              <a:rPr lang="en-US" sz="1100" b="1" dirty="0">
                <a:solidFill>
                  <a:srgbClr val="14213D"/>
                </a:solidFill>
                <a:latin typeface="Arial" pitchFamily="34" charset="0"/>
                <a:ea typeface="Arial" pitchFamily="34" charset="-122"/>
                <a:cs typeface="Arial" pitchFamily="34" charset="-120"/>
              </a:rPr>
              <a:t>Evidence not found? </a:t>
            </a:r>
            <a:pPr indent="0" marL="0">
              <a:buNone/>
            </a:pPr>
            <a:r>
              <a:rPr lang="en-US" sz="1100" dirty="0">
                <a:solidFill>
                  <a:srgbClr val="444444"/>
                </a:solidFill>
                <a:latin typeface="Arial" pitchFamily="34" charset="0"/>
                <a:ea typeface="Arial" pitchFamily="34" charset="-122"/>
                <a:cs typeface="Arial" pitchFamily="34" charset="-120"/>
              </a:rPr>
              <a:t>Reported as Unknown — never guessed.</a:t>
            </a:r>
            <a:endParaRPr lang="en-US" sz="1100" dirty="0"/>
          </a:p>
        </p:txBody>
      </p:sp>
      <p:sp>
        <p:nvSpPr>
          <p:cNvPr id="32" name="Text 24"/>
          <p:cNvSpPr txBox="1"/>
          <p:nvPr/>
        </p:nvSpPr>
        <p:spPr>
          <a:xfrm>
            <a:off x="5952744" y="3904488"/>
            <a:ext cx="2468880" cy="502920"/>
          </a:xfrm>
          <a:prstGeom prst="rect">
            <a:avLst/>
          </a:prstGeom>
          <a:noFill/>
          <a:ln/>
        </p:spPr>
        <p:txBody>
          <a:bodyPr wrap="square" lIns="0" tIns="0" rIns="0" bIns="0" rtlCol="0" anchor="t"/>
          <a:lstStyle/>
          <a:p>
            <a:pPr indent="0" marL="0">
              <a:buNone/>
            </a:pPr>
            <a:r>
              <a:rPr lang="en-US" sz="1100" b="1" dirty="0">
                <a:solidFill>
                  <a:srgbClr val="14213D"/>
                </a:solidFill>
                <a:latin typeface="Arial" pitchFamily="34" charset="0"/>
                <a:ea typeface="Arial" pitchFamily="34" charset="-122"/>
                <a:cs typeface="Arial" pitchFamily="34" charset="-120"/>
              </a:rPr>
              <a:t>A check failed? </a:t>
            </a:r>
            <a:pPr indent="0" marL="0">
              <a:buNone/>
            </a:pPr>
            <a:r>
              <a:rPr lang="en-US" sz="1100" dirty="0">
                <a:solidFill>
                  <a:srgbClr val="444444"/>
                </a:solidFill>
                <a:latin typeface="Arial" pitchFamily="34" charset="0"/>
                <a:ea typeface="Arial" pitchFamily="34" charset="-122"/>
                <a:cs typeface="Arial" pitchFamily="34" charset="-120"/>
              </a:rPr>
              <a:t>Retried automatically before the scan finishes.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OUR JOURNEY</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Six milestones in six weeks</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6</a:t>
            </a:r>
            <a:endParaRPr lang="en-US" sz="900" dirty="0"/>
          </a:p>
        </p:txBody>
      </p:sp>
      <p:sp>
        <p:nvSpPr>
          <p:cNvPr id="7" name="Shape 4"/>
          <p:cNvSpPr/>
          <p:nvPr/>
        </p:nvSpPr>
        <p:spPr>
          <a:xfrm>
            <a:off x="1143000" y="2148840"/>
            <a:ext cx="6858000" cy="0"/>
          </a:xfrm>
          <a:prstGeom prst="line">
            <a:avLst/>
          </a:prstGeom>
          <a:noFill/>
          <a:ln w="19050">
            <a:solidFill>
              <a:srgbClr val="154EA1"/>
            </a:solidFill>
            <a:prstDash val="solid"/>
          </a:ln>
        </p:spPr>
      </p:sp>
      <p:sp>
        <p:nvSpPr>
          <p:cNvPr id="8" name="Text 5"/>
          <p:cNvSpPr txBox="1"/>
          <p:nvPr/>
        </p:nvSpPr>
        <p:spPr>
          <a:xfrm>
            <a:off x="457200" y="1508760"/>
            <a:ext cx="1371600" cy="274320"/>
          </a:xfrm>
          <a:prstGeom prst="rect">
            <a:avLst/>
          </a:prstGeom>
          <a:noFill/>
          <a:ln/>
        </p:spPr>
        <p:txBody>
          <a:bodyPr wrap="square" lIns="0" tIns="0" rIns="0" bIns="0" rtlCol="0" anchor="t"/>
          <a:lstStyle/>
          <a:p>
            <a:pPr algn="ctr" indent="0" marL="0">
              <a:buNone/>
            </a:pPr>
            <a:r>
              <a:rPr lang="en-US" sz="1100" b="1" dirty="0">
                <a:solidFill>
                  <a:srgbClr val="154EA1"/>
                </a:solidFill>
                <a:latin typeface="Arial" pitchFamily="34" charset="0"/>
                <a:ea typeface="Arial" pitchFamily="34" charset="-122"/>
                <a:cs typeface="Arial" pitchFamily="34" charset="-120"/>
              </a:rPr>
              <a:t>21 Aug</a:t>
            </a:r>
            <a:endParaRPr lang="en-US" sz="1100" dirty="0"/>
          </a:p>
        </p:txBody>
      </p:sp>
      <p:sp>
        <p:nvSpPr>
          <p:cNvPr id="9" name="Shape 6"/>
          <p:cNvSpPr/>
          <p:nvPr/>
        </p:nvSpPr>
        <p:spPr>
          <a:xfrm>
            <a:off x="1024128" y="2029968"/>
            <a:ext cx="237744" cy="237744"/>
          </a:xfrm>
          <a:prstGeom prst="ellipse">
            <a:avLst/>
          </a:prstGeom>
          <a:solidFill>
            <a:srgbClr val="FFFFFF"/>
          </a:solidFill>
          <a:ln w="19050">
            <a:solidFill>
              <a:srgbClr val="154EA1"/>
            </a:solidFill>
            <a:prstDash val="solid"/>
          </a:ln>
        </p:spPr>
      </p:sp>
      <p:sp>
        <p:nvSpPr>
          <p:cNvPr id="10" name="Text 7"/>
          <p:cNvSpPr txBox="1"/>
          <p:nvPr/>
        </p:nvSpPr>
        <p:spPr>
          <a:xfrm>
            <a:off x="530352" y="2468880"/>
            <a:ext cx="1225296" cy="457200"/>
          </a:xfrm>
          <a:prstGeom prst="rect">
            <a:avLst/>
          </a:prstGeom>
          <a:noFill/>
          <a:ln/>
        </p:spPr>
        <p:txBody>
          <a:bodyPr wrap="square" lIns="0" tIns="0" rIns="0" bIns="0" rtlCol="0" anchor="t"/>
          <a:lstStyle/>
          <a:p>
            <a:pPr algn="ctr" indent="0" marL="0">
              <a:buNone/>
            </a:pPr>
            <a:r>
              <a:rPr lang="en-US" sz="1300" b="1" dirty="0">
                <a:solidFill>
                  <a:srgbClr val="14213D"/>
                </a:solidFill>
                <a:latin typeface="Arial" pitchFamily="34" charset="0"/>
                <a:ea typeface="Arial" pitchFamily="34" charset="-122"/>
                <a:cs typeface="Arial" pitchFamily="34" charset="-120"/>
              </a:rPr>
              <a:t>Foundation</a:t>
            </a:r>
            <a:endParaRPr lang="en-US" sz="1300" dirty="0"/>
          </a:p>
        </p:txBody>
      </p:sp>
      <p:sp>
        <p:nvSpPr>
          <p:cNvPr id="11" name="Text 8"/>
          <p:cNvSpPr txBox="1"/>
          <p:nvPr/>
        </p:nvSpPr>
        <p:spPr>
          <a:xfrm>
            <a:off x="530352" y="2926080"/>
            <a:ext cx="1225296" cy="1188720"/>
          </a:xfrm>
          <a:prstGeom prst="rect">
            <a:avLst/>
          </a:prstGeom>
          <a:noFill/>
          <a:ln/>
        </p:spPr>
        <p:txBody>
          <a:bodyPr wrap="square" lIns="0" tIns="0" rIns="0" bIns="0" rtlCol="0" anchor="t"/>
          <a:lstStyle/>
          <a:p>
            <a:pPr algn="ctr" indent="0" marL="0">
              <a:buNone/>
            </a:pPr>
            <a:r>
              <a:rPr lang="en-US" sz="1050" dirty="0">
                <a:solidFill>
                  <a:srgbClr val="444444"/>
                </a:solidFill>
                <a:latin typeface="Arial" pitchFamily="34" charset="0"/>
                <a:ea typeface="Arial" pitchFamily="34" charset="-122"/>
                <a:cs typeface="Arial" pitchFamily="34" charset="-120"/>
              </a:rPr>
              <a:t>First working version: crawler, scoring, dashboard and PDF.</a:t>
            </a:r>
            <a:endParaRPr lang="en-US" sz="1050" dirty="0"/>
          </a:p>
        </p:txBody>
      </p:sp>
      <p:sp>
        <p:nvSpPr>
          <p:cNvPr id="12" name="Text 9"/>
          <p:cNvSpPr txBox="1"/>
          <p:nvPr/>
        </p:nvSpPr>
        <p:spPr>
          <a:xfrm>
            <a:off x="1828800" y="1508760"/>
            <a:ext cx="1371600" cy="274320"/>
          </a:xfrm>
          <a:prstGeom prst="rect">
            <a:avLst/>
          </a:prstGeom>
          <a:noFill/>
          <a:ln/>
        </p:spPr>
        <p:txBody>
          <a:bodyPr wrap="square" lIns="0" tIns="0" rIns="0" bIns="0" rtlCol="0" anchor="t"/>
          <a:lstStyle/>
          <a:p>
            <a:pPr algn="ctr" indent="0" marL="0">
              <a:buNone/>
            </a:pPr>
            <a:r>
              <a:rPr lang="en-US" sz="1100" b="1" dirty="0">
                <a:solidFill>
                  <a:srgbClr val="154EA1"/>
                </a:solidFill>
                <a:latin typeface="Arial" pitchFamily="34" charset="0"/>
                <a:ea typeface="Arial" pitchFamily="34" charset="-122"/>
                <a:cs typeface="Arial" pitchFamily="34" charset="-120"/>
              </a:rPr>
              <a:t>3 – 10 Sep</a:t>
            </a:r>
            <a:endParaRPr lang="en-US" sz="1100" dirty="0"/>
          </a:p>
        </p:txBody>
      </p:sp>
      <p:sp>
        <p:nvSpPr>
          <p:cNvPr id="13" name="Shape 10"/>
          <p:cNvSpPr/>
          <p:nvPr/>
        </p:nvSpPr>
        <p:spPr>
          <a:xfrm>
            <a:off x="2395728" y="2029968"/>
            <a:ext cx="237744" cy="237744"/>
          </a:xfrm>
          <a:prstGeom prst="ellipse">
            <a:avLst/>
          </a:prstGeom>
          <a:solidFill>
            <a:srgbClr val="FFFFFF"/>
          </a:solidFill>
          <a:ln w="19050">
            <a:solidFill>
              <a:srgbClr val="154EA1"/>
            </a:solidFill>
            <a:prstDash val="solid"/>
          </a:ln>
        </p:spPr>
      </p:sp>
      <p:sp>
        <p:nvSpPr>
          <p:cNvPr id="14" name="Text 11"/>
          <p:cNvSpPr txBox="1"/>
          <p:nvPr/>
        </p:nvSpPr>
        <p:spPr>
          <a:xfrm>
            <a:off x="1901952" y="2468880"/>
            <a:ext cx="1225296" cy="457200"/>
          </a:xfrm>
          <a:prstGeom prst="rect">
            <a:avLst/>
          </a:prstGeom>
          <a:noFill/>
          <a:ln/>
        </p:spPr>
        <p:txBody>
          <a:bodyPr wrap="square" lIns="0" tIns="0" rIns="0" bIns="0" rtlCol="0" anchor="t"/>
          <a:lstStyle/>
          <a:p>
            <a:pPr algn="ctr" indent="0" marL="0">
              <a:buNone/>
            </a:pPr>
            <a:r>
              <a:rPr lang="en-US" sz="1300" b="1" dirty="0">
                <a:solidFill>
                  <a:srgbClr val="14213D"/>
                </a:solidFill>
                <a:latin typeface="Arial" pitchFamily="34" charset="0"/>
                <a:ea typeface="Arial" pitchFamily="34" charset="-122"/>
                <a:cs typeface="Arial" pitchFamily="34" charset="-120"/>
              </a:rPr>
              <a:t>Reliable crawling</a:t>
            </a:r>
            <a:endParaRPr lang="en-US" sz="1300" dirty="0"/>
          </a:p>
        </p:txBody>
      </p:sp>
      <p:sp>
        <p:nvSpPr>
          <p:cNvPr id="15" name="Text 12"/>
          <p:cNvSpPr txBox="1"/>
          <p:nvPr/>
        </p:nvSpPr>
        <p:spPr>
          <a:xfrm>
            <a:off x="1901952" y="2926080"/>
            <a:ext cx="1225296" cy="1188720"/>
          </a:xfrm>
          <a:prstGeom prst="rect">
            <a:avLst/>
          </a:prstGeom>
          <a:noFill/>
          <a:ln/>
        </p:spPr>
        <p:txBody>
          <a:bodyPr wrap="square" lIns="0" tIns="0" rIns="0" bIns="0" rtlCol="0" anchor="t"/>
          <a:lstStyle/>
          <a:p>
            <a:pPr algn="ctr" indent="0" marL="0">
              <a:buNone/>
            </a:pPr>
            <a:r>
              <a:rPr lang="en-US" sz="1050" dirty="0">
                <a:solidFill>
                  <a:srgbClr val="444444"/>
                </a:solidFill>
                <a:latin typeface="Arial" pitchFamily="34" charset="0"/>
                <a:ea typeface="Arial" pitchFamily="34" charset="-122"/>
                <a:cs typeface="Arial" pitchFamily="34" charset="-120"/>
              </a:rPr>
              <a:t>Larger sites covered, page-read confidence, failed links tracked.</a:t>
            </a:r>
            <a:endParaRPr lang="en-US" sz="1050" dirty="0"/>
          </a:p>
        </p:txBody>
      </p:sp>
      <p:sp>
        <p:nvSpPr>
          <p:cNvPr id="16" name="Text 13"/>
          <p:cNvSpPr txBox="1"/>
          <p:nvPr/>
        </p:nvSpPr>
        <p:spPr>
          <a:xfrm>
            <a:off x="3200400" y="1508760"/>
            <a:ext cx="1371600" cy="274320"/>
          </a:xfrm>
          <a:prstGeom prst="rect">
            <a:avLst/>
          </a:prstGeom>
          <a:noFill/>
          <a:ln/>
        </p:spPr>
        <p:txBody>
          <a:bodyPr wrap="square" lIns="0" tIns="0" rIns="0" bIns="0" rtlCol="0" anchor="t"/>
          <a:lstStyle/>
          <a:p>
            <a:pPr algn="ctr" indent="0" marL="0">
              <a:buNone/>
            </a:pPr>
            <a:r>
              <a:rPr lang="en-US" sz="1100" b="1" dirty="0">
                <a:solidFill>
                  <a:srgbClr val="154EA1"/>
                </a:solidFill>
                <a:latin typeface="Arial" pitchFamily="34" charset="0"/>
                <a:ea typeface="Arial" pitchFamily="34" charset="-122"/>
                <a:cs typeface="Arial" pitchFamily="34" charset="-120"/>
              </a:rPr>
              <a:t>10 – 11 Sep</a:t>
            </a:r>
            <a:endParaRPr lang="en-US" sz="1100" dirty="0"/>
          </a:p>
        </p:txBody>
      </p:sp>
      <p:sp>
        <p:nvSpPr>
          <p:cNvPr id="17" name="Shape 14"/>
          <p:cNvSpPr/>
          <p:nvPr/>
        </p:nvSpPr>
        <p:spPr>
          <a:xfrm>
            <a:off x="3767328" y="2029968"/>
            <a:ext cx="237744" cy="237744"/>
          </a:xfrm>
          <a:prstGeom prst="ellipse">
            <a:avLst/>
          </a:prstGeom>
          <a:solidFill>
            <a:srgbClr val="FFFFFF"/>
          </a:solidFill>
          <a:ln w="19050">
            <a:solidFill>
              <a:srgbClr val="154EA1"/>
            </a:solidFill>
            <a:prstDash val="solid"/>
          </a:ln>
        </p:spPr>
      </p:sp>
      <p:sp>
        <p:nvSpPr>
          <p:cNvPr id="18" name="Text 15"/>
          <p:cNvSpPr txBox="1"/>
          <p:nvPr/>
        </p:nvSpPr>
        <p:spPr>
          <a:xfrm>
            <a:off x="3273552" y="2468880"/>
            <a:ext cx="1225296" cy="457200"/>
          </a:xfrm>
          <a:prstGeom prst="rect">
            <a:avLst/>
          </a:prstGeom>
          <a:noFill/>
          <a:ln/>
        </p:spPr>
        <p:txBody>
          <a:bodyPr wrap="square" lIns="0" tIns="0" rIns="0" bIns="0" rtlCol="0" anchor="t"/>
          <a:lstStyle/>
          <a:p>
            <a:pPr algn="ctr" indent="0" marL="0">
              <a:buNone/>
            </a:pPr>
            <a:r>
              <a:rPr lang="en-US" sz="1300" b="1" dirty="0">
                <a:solidFill>
                  <a:srgbClr val="14213D"/>
                </a:solidFill>
                <a:latin typeface="Arial" pitchFamily="34" charset="0"/>
                <a:ea typeface="Arial" pitchFamily="34" charset="-122"/>
                <a:cs typeface="Arial" pitchFamily="34" charset="-120"/>
              </a:rPr>
              <a:t>Accurate scoring</a:t>
            </a:r>
            <a:endParaRPr lang="en-US" sz="1300" dirty="0"/>
          </a:p>
        </p:txBody>
      </p:sp>
      <p:sp>
        <p:nvSpPr>
          <p:cNvPr id="19" name="Text 16"/>
          <p:cNvSpPr txBox="1"/>
          <p:nvPr/>
        </p:nvSpPr>
        <p:spPr>
          <a:xfrm>
            <a:off x="3273552" y="2926080"/>
            <a:ext cx="1225296" cy="1188720"/>
          </a:xfrm>
          <a:prstGeom prst="rect">
            <a:avLst/>
          </a:prstGeom>
          <a:noFill/>
          <a:ln/>
        </p:spPr>
        <p:txBody>
          <a:bodyPr wrap="square" lIns="0" tIns="0" rIns="0" bIns="0" rtlCol="0" anchor="t"/>
          <a:lstStyle/>
          <a:p>
            <a:pPr algn="ctr" indent="0" marL="0">
              <a:buNone/>
            </a:pPr>
            <a:r>
              <a:rPr lang="en-US" sz="1050" dirty="0">
                <a:solidFill>
                  <a:srgbClr val="444444"/>
                </a:solidFill>
                <a:latin typeface="Arial" pitchFamily="34" charset="0"/>
                <a:ea typeface="Arial" pitchFamily="34" charset="-122"/>
                <a:cs typeface="Arial" pitchFamily="34" charset="-120"/>
              </a:rPr>
              <a:t>AI for judgement, formulas for maths; logic frozen and tested.</a:t>
            </a:r>
            <a:endParaRPr lang="en-US" sz="1050" dirty="0"/>
          </a:p>
        </p:txBody>
      </p:sp>
      <p:sp>
        <p:nvSpPr>
          <p:cNvPr id="20" name="Text 17"/>
          <p:cNvSpPr txBox="1"/>
          <p:nvPr/>
        </p:nvSpPr>
        <p:spPr>
          <a:xfrm>
            <a:off x="4572000" y="1508760"/>
            <a:ext cx="1371600" cy="274320"/>
          </a:xfrm>
          <a:prstGeom prst="rect">
            <a:avLst/>
          </a:prstGeom>
          <a:noFill/>
          <a:ln/>
        </p:spPr>
        <p:txBody>
          <a:bodyPr wrap="square" lIns="0" tIns="0" rIns="0" bIns="0" rtlCol="0" anchor="t"/>
          <a:lstStyle/>
          <a:p>
            <a:pPr algn="ctr" indent="0" marL="0">
              <a:buNone/>
            </a:pPr>
            <a:r>
              <a:rPr lang="en-US" sz="1100" b="1" dirty="0">
                <a:solidFill>
                  <a:srgbClr val="154EA1"/>
                </a:solidFill>
                <a:latin typeface="Arial" pitchFamily="34" charset="0"/>
                <a:ea typeface="Arial" pitchFamily="34" charset="-122"/>
                <a:cs typeface="Arial" pitchFamily="34" charset="-120"/>
              </a:rPr>
              <a:t>18 Sep</a:t>
            </a:r>
            <a:endParaRPr lang="en-US" sz="1100" dirty="0"/>
          </a:p>
        </p:txBody>
      </p:sp>
      <p:sp>
        <p:nvSpPr>
          <p:cNvPr id="21" name="Shape 18"/>
          <p:cNvSpPr/>
          <p:nvPr/>
        </p:nvSpPr>
        <p:spPr>
          <a:xfrm>
            <a:off x="5138928" y="2029968"/>
            <a:ext cx="237744" cy="237744"/>
          </a:xfrm>
          <a:prstGeom prst="ellipse">
            <a:avLst/>
          </a:prstGeom>
          <a:solidFill>
            <a:srgbClr val="FFFFFF"/>
          </a:solidFill>
          <a:ln w="19050">
            <a:solidFill>
              <a:srgbClr val="154EA1"/>
            </a:solidFill>
            <a:prstDash val="solid"/>
          </a:ln>
        </p:spPr>
      </p:sp>
      <p:sp>
        <p:nvSpPr>
          <p:cNvPr id="22" name="Text 19"/>
          <p:cNvSpPr txBox="1"/>
          <p:nvPr/>
        </p:nvSpPr>
        <p:spPr>
          <a:xfrm>
            <a:off x="4645152" y="2468880"/>
            <a:ext cx="1225296" cy="457200"/>
          </a:xfrm>
          <a:prstGeom prst="rect">
            <a:avLst/>
          </a:prstGeom>
          <a:noFill/>
          <a:ln/>
        </p:spPr>
        <p:txBody>
          <a:bodyPr wrap="square" lIns="0" tIns="0" rIns="0" bIns="0" rtlCol="0" anchor="t"/>
          <a:lstStyle/>
          <a:p>
            <a:pPr algn="ctr" indent="0" marL="0">
              <a:buNone/>
            </a:pPr>
            <a:r>
              <a:rPr lang="en-US" sz="1300" b="1" dirty="0">
                <a:solidFill>
                  <a:srgbClr val="14213D"/>
                </a:solidFill>
                <a:latin typeface="Arial" pitchFamily="34" charset="0"/>
                <a:ea typeface="Arial" pitchFamily="34" charset="-122"/>
                <a:cs typeface="Arial" pitchFamily="34" charset="-120"/>
              </a:rPr>
              <a:t>Automatic reports</a:t>
            </a:r>
            <a:endParaRPr lang="en-US" sz="1300" dirty="0"/>
          </a:p>
        </p:txBody>
      </p:sp>
      <p:sp>
        <p:nvSpPr>
          <p:cNvPr id="23" name="Text 20"/>
          <p:cNvSpPr txBox="1"/>
          <p:nvPr/>
        </p:nvSpPr>
        <p:spPr>
          <a:xfrm>
            <a:off x="4645152" y="2926080"/>
            <a:ext cx="1225296" cy="1188720"/>
          </a:xfrm>
          <a:prstGeom prst="rect">
            <a:avLst/>
          </a:prstGeom>
          <a:noFill/>
          <a:ln/>
        </p:spPr>
        <p:txBody>
          <a:bodyPr wrap="square" lIns="0" tIns="0" rIns="0" bIns="0" rtlCol="0" anchor="t"/>
          <a:lstStyle/>
          <a:p>
            <a:pPr algn="ctr" indent="0" marL="0">
              <a:buNone/>
            </a:pPr>
            <a:r>
              <a:rPr lang="en-US" sz="1050" dirty="0">
                <a:solidFill>
                  <a:srgbClr val="444444"/>
                </a:solidFill>
                <a:latin typeface="Arial" pitchFamily="34" charset="0"/>
                <a:ea typeface="Arial" pitchFamily="34" charset="-122"/>
                <a:cs typeface="Arial" pitchFamily="34" charset="-120"/>
              </a:rPr>
              <a:t>Every scan saves its workbook and data files.</a:t>
            </a:r>
            <a:endParaRPr lang="en-US" sz="1050" dirty="0"/>
          </a:p>
        </p:txBody>
      </p:sp>
      <p:sp>
        <p:nvSpPr>
          <p:cNvPr id="24" name="Text 21"/>
          <p:cNvSpPr txBox="1"/>
          <p:nvPr/>
        </p:nvSpPr>
        <p:spPr>
          <a:xfrm>
            <a:off x="5943600" y="1508760"/>
            <a:ext cx="1371600" cy="274320"/>
          </a:xfrm>
          <a:prstGeom prst="rect">
            <a:avLst/>
          </a:prstGeom>
          <a:noFill/>
          <a:ln/>
        </p:spPr>
        <p:txBody>
          <a:bodyPr wrap="square" lIns="0" tIns="0" rIns="0" bIns="0" rtlCol="0" anchor="t"/>
          <a:lstStyle/>
          <a:p>
            <a:pPr algn="ctr" indent="0" marL="0">
              <a:buNone/>
            </a:pPr>
            <a:r>
              <a:rPr lang="en-US" sz="1100" b="1" dirty="0">
                <a:solidFill>
                  <a:srgbClr val="154EA1"/>
                </a:solidFill>
                <a:latin typeface="Arial" pitchFamily="34" charset="0"/>
                <a:ea typeface="Arial" pitchFamily="34" charset="-122"/>
                <a:cs typeface="Arial" pitchFamily="34" charset="-120"/>
              </a:rPr>
              <a:t>28 Sep</a:t>
            </a:r>
            <a:endParaRPr lang="en-US" sz="1100" dirty="0"/>
          </a:p>
        </p:txBody>
      </p:sp>
      <p:sp>
        <p:nvSpPr>
          <p:cNvPr id="25" name="Shape 22"/>
          <p:cNvSpPr/>
          <p:nvPr/>
        </p:nvSpPr>
        <p:spPr>
          <a:xfrm>
            <a:off x="6510528" y="2029968"/>
            <a:ext cx="237744" cy="237744"/>
          </a:xfrm>
          <a:prstGeom prst="ellipse">
            <a:avLst/>
          </a:prstGeom>
          <a:solidFill>
            <a:srgbClr val="FFFFFF"/>
          </a:solidFill>
          <a:ln w="19050">
            <a:solidFill>
              <a:srgbClr val="154EA1"/>
            </a:solidFill>
            <a:prstDash val="solid"/>
          </a:ln>
        </p:spPr>
      </p:sp>
      <p:sp>
        <p:nvSpPr>
          <p:cNvPr id="26" name="Text 23"/>
          <p:cNvSpPr txBox="1"/>
          <p:nvPr/>
        </p:nvSpPr>
        <p:spPr>
          <a:xfrm>
            <a:off x="6016752" y="2468880"/>
            <a:ext cx="1225296" cy="457200"/>
          </a:xfrm>
          <a:prstGeom prst="rect">
            <a:avLst/>
          </a:prstGeom>
          <a:noFill/>
          <a:ln/>
        </p:spPr>
        <p:txBody>
          <a:bodyPr wrap="square" lIns="0" tIns="0" rIns="0" bIns="0" rtlCol="0" anchor="t"/>
          <a:lstStyle/>
          <a:p>
            <a:pPr algn="ctr" indent="0" marL="0">
              <a:buNone/>
            </a:pPr>
            <a:r>
              <a:rPr lang="en-US" sz="1300" b="1" dirty="0">
                <a:solidFill>
                  <a:srgbClr val="14213D"/>
                </a:solidFill>
                <a:latin typeface="Arial" pitchFamily="34" charset="0"/>
                <a:ea typeface="Arial" pitchFamily="34" charset="-122"/>
                <a:cs typeface="Arial" pitchFamily="34" charset="-120"/>
              </a:rPr>
              <a:t>Traceability</a:t>
            </a:r>
            <a:endParaRPr lang="en-US" sz="1300" dirty="0"/>
          </a:p>
        </p:txBody>
      </p:sp>
      <p:sp>
        <p:nvSpPr>
          <p:cNvPr id="27" name="Text 24"/>
          <p:cNvSpPr txBox="1"/>
          <p:nvPr/>
        </p:nvSpPr>
        <p:spPr>
          <a:xfrm>
            <a:off x="6016752" y="2926080"/>
            <a:ext cx="1225296" cy="1188720"/>
          </a:xfrm>
          <a:prstGeom prst="rect">
            <a:avLst/>
          </a:prstGeom>
          <a:noFill/>
          <a:ln/>
        </p:spPr>
        <p:txBody>
          <a:bodyPr wrap="square" lIns="0" tIns="0" rIns="0" bIns="0" rtlCol="0" anchor="t"/>
          <a:lstStyle/>
          <a:p>
            <a:pPr algn="ctr" indent="0" marL="0">
              <a:buNone/>
            </a:pPr>
            <a:r>
              <a:rPr lang="en-US" sz="1050" dirty="0">
                <a:solidFill>
                  <a:srgbClr val="444444"/>
                </a:solidFill>
                <a:latin typeface="Arial" pitchFamily="34" charset="0"/>
                <a:ea typeface="Arial" pitchFamily="34" charset="-122"/>
                <a:cs typeface="Arial" pitchFamily="34" charset="-120"/>
              </a:rPr>
              <a:t>Every score cited; audits from saved site copies.</a:t>
            </a:r>
            <a:endParaRPr lang="en-US" sz="1050" dirty="0"/>
          </a:p>
        </p:txBody>
      </p:sp>
      <p:sp>
        <p:nvSpPr>
          <p:cNvPr id="28" name="Text 25"/>
          <p:cNvSpPr txBox="1"/>
          <p:nvPr/>
        </p:nvSpPr>
        <p:spPr>
          <a:xfrm>
            <a:off x="7315200" y="1508760"/>
            <a:ext cx="1371600" cy="274320"/>
          </a:xfrm>
          <a:prstGeom prst="rect">
            <a:avLst/>
          </a:prstGeom>
          <a:noFill/>
          <a:ln/>
        </p:spPr>
        <p:txBody>
          <a:bodyPr wrap="square" lIns="0" tIns="0" rIns="0" bIns="0" rtlCol="0" anchor="t"/>
          <a:lstStyle/>
          <a:p>
            <a:pPr algn="ctr" indent="0" marL="0">
              <a:buNone/>
            </a:pPr>
            <a:r>
              <a:rPr lang="en-US" sz="1100" b="1" dirty="0">
                <a:solidFill>
                  <a:srgbClr val="154EA1"/>
                </a:solidFill>
                <a:latin typeface="Arial" pitchFamily="34" charset="0"/>
                <a:ea typeface="Arial" pitchFamily="34" charset="-122"/>
                <a:cs typeface="Arial" pitchFamily="34" charset="-120"/>
              </a:rPr>
              <a:t>30 Sep</a:t>
            </a:r>
            <a:endParaRPr lang="en-US" sz="1100" dirty="0"/>
          </a:p>
        </p:txBody>
      </p:sp>
      <p:sp>
        <p:nvSpPr>
          <p:cNvPr id="29" name="Shape 26"/>
          <p:cNvSpPr/>
          <p:nvPr/>
        </p:nvSpPr>
        <p:spPr>
          <a:xfrm>
            <a:off x="7882128" y="2029968"/>
            <a:ext cx="237744" cy="237744"/>
          </a:xfrm>
          <a:prstGeom prst="ellipse">
            <a:avLst/>
          </a:prstGeom>
          <a:solidFill>
            <a:srgbClr val="F05000"/>
          </a:solidFill>
          <a:ln w="19050">
            <a:solidFill>
              <a:srgbClr val="F05000"/>
            </a:solidFill>
            <a:prstDash val="solid"/>
          </a:ln>
        </p:spPr>
      </p:sp>
      <p:sp>
        <p:nvSpPr>
          <p:cNvPr id="30" name="Text 27"/>
          <p:cNvSpPr txBox="1"/>
          <p:nvPr/>
        </p:nvSpPr>
        <p:spPr>
          <a:xfrm>
            <a:off x="7388352" y="2468880"/>
            <a:ext cx="1225296" cy="457200"/>
          </a:xfrm>
          <a:prstGeom prst="rect">
            <a:avLst/>
          </a:prstGeom>
          <a:noFill/>
          <a:ln/>
        </p:spPr>
        <p:txBody>
          <a:bodyPr wrap="square" lIns="0" tIns="0" rIns="0" bIns="0" rtlCol="0" anchor="t"/>
          <a:lstStyle/>
          <a:p>
            <a:pPr algn="ctr" indent="0" marL="0">
              <a:buNone/>
            </a:pPr>
            <a:r>
              <a:rPr lang="en-US" sz="1300" b="1" dirty="0">
                <a:solidFill>
                  <a:srgbClr val="14213D"/>
                </a:solidFill>
                <a:latin typeface="Arial" pitchFamily="34" charset="0"/>
                <a:ea typeface="Arial" pitchFamily="34" charset="-122"/>
                <a:cs typeface="Arial" pitchFamily="34" charset="-120"/>
              </a:rPr>
              <a:t>Off-page agents</a:t>
            </a:r>
            <a:endParaRPr lang="en-US" sz="1300" dirty="0"/>
          </a:p>
        </p:txBody>
      </p:sp>
      <p:sp>
        <p:nvSpPr>
          <p:cNvPr id="31" name="Text 28"/>
          <p:cNvSpPr txBox="1"/>
          <p:nvPr/>
        </p:nvSpPr>
        <p:spPr>
          <a:xfrm>
            <a:off x="7388352" y="2926080"/>
            <a:ext cx="1225296" cy="1188720"/>
          </a:xfrm>
          <a:prstGeom prst="rect">
            <a:avLst/>
          </a:prstGeom>
          <a:noFill/>
          <a:ln/>
        </p:spPr>
        <p:txBody>
          <a:bodyPr wrap="square" lIns="0" tIns="0" rIns="0" bIns="0" rtlCol="0" anchor="t"/>
          <a:lstStyle/>
          <a:p>
            <a:pPr algn="ctr" indent="0" marL="0">
              <a:buNone/>
            </a:pPr>
            <a:r>
              <a:rPr lang="en-US" sz="1050" dirty="0">
                <a:solidFill>
                  <a:srgbClr val="444444"/>
                </a:solidFill>
                <a:latin typeface="Arial" pitchFamily="34" charset="0"/>
                <a:ea typeface="Arial" pitchFamily="34" charset="-122"/>
                <a:cs typeface="Arial" pitchFamily="34" charset="-120"/>
              </a:rPr>
              <a:t>Seven AI agents research and verify off-site evidence.</a:t>
            </a:r>
            <a:endParaRPr lang="en-US" sz="1050" dirty="0"/>
          </a:p>
        </p:txBody>
      </p:sp>
      <p:sp>
        <p:nvSpPr>
          <p:cNvPr id="32" name="Text 29"/>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100" i="1" dirty="0">
                <a:solidFill>
                  <a:srgbClr val="6B6B6B"/>
                </a:solidFill>
                <a:latin typeface="Arial" pitchFamily="34" charset="0"/>
                <a:ea typeface="Arial" pitchFamily="34" charset="-122"/>
                <a:cs typeface="Arial" pitchFamily="34" charset="-120"/>
              </a:rPr>
              <a:t>Next: reliability hardening in progress — see the final slides.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STAGES 1 &amp; 2  ·  AUGUST – EARLY SEPTEMBER</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A working tool, then a reliable crawler</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7</a:t>
            </a:r>
            <a:endParaRPr lang="en-US" sz="900" dirty="0"/>
          </a:p>
        </p:txBody>
      </p:sp>
      <p:sp>
        <p:nvSpPr>
          <p:cNvPr id="7" name="Shape 4"/>
          <p:cNvSpPr/>
          <p:nvPr/>
        </p:nvSpPr>
        <p:spPr>
          <a:xfrm>
            <a:off x="457200" y="1371600"/>
            <a:ext cx="502920" cy="502920"/>
          </a:xfrm>
          <a:prstGeom prst="ellipse">
            <a:avLst/>
          </a:prstGeom>
          <a:solidFill>
            <a:srgbClr val="154EA1"/>
          </a:solidFill>
          <a:ln w="12700">
            <a:solidFill>
              <a:srgbClr val="154EA1"/>
            </a:solidFill>
            <a:prstDash val="solid"/>
          </a:ln>
        </p:spPr>
      </p:sp>
      <p:pic>
        <p:nvPicPr>
          <p:cNvPr id="8" name="Image 1" descr="preencoded.png">    </p:cNvPr>
          <p:cNvPicPr>
            <a:picLocks noChangeAspect="1"/>
          </p:cNvPicPr>
          <p:nvPr/>
        </p:nvPicPr>
        <p:blipFill>
          <a:blip r:embed="rId2"/>
          <a:stretch>
            <a:fillRect/>
          </a:stretch>
        </p:blipFill>
        <p:spPr>
          <a:xfrm>
            <a:off x="592988" y="1507388"/>
            <a:ext cx="231343" cy="231343"/>
          </a:xfrm>
          <a:prstGeom prst="rect">
            <a:avLst/>
          </a:prstGeom>
        </p:spPr>
      </p:pic>
      <p:sp>
        <p:nvSpPr>
          <p:cNvPr id="9" name="Text 5"/>
          <p:cNvSpPr txBox="1"/>
          <p:nvPr/>
        </p:nvSpPr>
        <p:spPr>
          <a:xfrm>
            <a:off x="1143000" y="1353312"/>
            <a:ext cx="3200400" cy="292608"/>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Foundation</a:t>
            </a:r>
            <a:endParaRPr lang="en-US" sz="1600" dirty="0"/>
          </a:p>
        </p:txBody>
      </p:sp>
      <p:sp>
        <p:nvSpPr>
          <p:cNvPr id="10" name="Text 6"/>
          <p:cNvSpPr txBox="1"/>
          <p:nvPr/>
        </p:nvSpPr>
        <p:spPr>
          <a:xfrm>
            <a:off x="1143000" y="1645920"/>
            <a:ext cx="3200400" cy="22860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21 August</a:t>
            </a:r>
            <a:endParaRPr lang="en-US" sz="1100" dirty="0"/>
          </a:p>
        </p:txBody>
      </p:sp>
      <p:sp>
        <p:nvSpPr>
          <p:cNvPr id="11" name="Text 7"/>
          <p:cNvSpPr txBox="1"/>
          <p:nvPr/>
        </p:nvSpPr>
        <p:spPr>
          <a:xfrm>
            <a:off x="457200" y="2148840"/>
            <a:ext cx="3840480" cy="23774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A service that reads a website and scores it across Technical, On-Page and Off-Page pillars</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Web dashboard to start an audit and review the results</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PDF export of the finished report</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Optional AI-assisted scoring for selected checks</a:t>
            </a:r>
            <a:endParaRPr lang="en-US" sz="1200" dirty="0"/>
          </a:p>
        </p:txBody>
      </p:sp>
      <p:sp>
        <p:nvSpPr>
          <p:cNvPr id="12" name="Shape 8"/>
          <p:cNvSpPr/>
          <p:nvPr/>
        </p:nvSpPr>
        <p:spPr>
          <a:xfrm>
            <a:off x="4709160" y="1371600"/>
            <a:ext cx="502920" cy="502920"/>
          </a:xfrm>
          <a:prstGeom prst="ellipse">
            <a:avLst/>
          </a:prstGeom>
          <a:solidFill>
            <a:srgbClr val="154EA1"/>
          </a:solidFill>
          <a:ln w="12700">
            <a:solidFill>
              <a:srgbClr val="154EA1"/>
            </a:solidFill>
            <a:prstDash val="solid"/>
          </a:ln>
        </p:spPr>
      </p:sp>
      <p:pic>
        <p:nvPicPr>
          <p:cNvPr id="13" name="Image 2" descr="preencoded.png">    </p:cNvPr>
          <p:cNvPicPr>
            <a:picLocks noChangeAspect="1"/>
          </p:cNvPicPr>
          <p:nvPr/>
        </p:nvPicPr>
        <p:blipFill>
          <a:blip r:embed="rId3"/>
          <a:stretch>
            <a:fillRect/>
          </a:stretch>
        </p:blipFill>
        <p:spPr>
          <a:xfrm>
            <a:off x="4844948" y="1507388"/>
            <a:ext cx="231343" cy="231343"/>
          </a:xfrm>
          <a:prstGeom prst="rect">
            <a:avLst/>
          </a:prstGeom>
        </p:spPr>
      </p:pic>
      <p:sp>
        <p:nvSpPr>
          <p:cNvPr id="14" name="Text 9"/>
          <p:cNvSpPr txBox="1"/>
          <p:nvPr/>
        </p:nvSpPr>
        <p:spPr>
          <a:xfrm>
            <a:off x="5394960" y="1353312"/>
            <a:ext cx="3200400" cy="292608"/>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Reliable crawling</a:t>
            </a:r>
            <a:endParaRPr lang="en-US" sz="1600" dirty="0"/>
          </a:p>
        </p:txBody>
      </p:sp>
      <p:sp>
        <p:nvSpPr>
          <p:cNvPr id="15" name="Text 10"/>
          <p:cNvSpPr txBox="1"/>
          <p:nvPr/>
        </p:nvSpPr>
        <p:spPr>
          <a:xfrm>
            <a:off x="5394960" y="1645920"/>
            <a:ext cx="3200400" cy="22860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3 – 10 September</a:t>
            </a:r>
            <a:endParaRPr lang="en-US" sz="1100" dirty="0"/>
          </a:p>
        </p:txBody>
      </p:sp>
      <p:sp>
        <p:nvSpPr>
          <p:cNvPr id="16" name="Text 11"/>
          <p:cNvSpPr txBox="1"/>
          <p:nvPr/>
        </p:nvSpPr>
        <p:spPr>
          <a:xfrm>
            <a:off x="4709160" y="2148840"/>
            <a:ext cx="3840480" cy="23774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A confidence score for every page read, so weak reads are visible</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Every link that could not be read is recorded with the reason</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Follows links beyond the sitemap to cover the whole site</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Real-browser reading for sites that load content by script</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Fixed issues that stopped scans on large sites</a:t>
            </a:r>
            <a:endParaRPr lang="en-US" sz="1200" dirty="0"/>
          </a:p>
        </p:txBody>
      </p:sp>
      <p:sp>
        <p:nvSpPr>
          <p:cNvPr id="17" name="Shape 12"/>
          <p:cNvSpPr/>
          <p:nvPr/>
        </p:nvSpPr>
        <p:spPr>
          <a:xfrm>
            <a:off x="4572000" y="1371600"/>
            <a:ext cx="0" cy="3063240"/>
          </a:xfrm>
          <a:prstGeom prst="line">
            <a:avLst/>
          </a:prstGeom>
          <a:noFill/>
          <a:ln w="12700">
            <a:solidFill>
              <a:srgbClr val="D3DCEA"/>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STAGE 3  ·  10 – 11 SEPTEMBER</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AI judges. Formulas calculate.</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8</a:t>
            </a:r>
            <a:endParaRPr lang="en-US" sz="900" dirty="0"/>
          </a:p>
        </p:txBody>
      </p:sp>
      <p:sp>
        <p:nvSpPr>
          <p:cNvPr id="7" name="Shape 4"/>
          <p:cNvSpPr/>
          <p:nvPr/>
        </p:nvSpPr>
        <p:spPr>
          <a:xfrm>
            <a:off x="457200" y="1325880"/>
            <a:ext cx="4023360" cy="1874520"/>
          </a:xfrm>
          <a:prstGeom prst="rect">
            <a:avLst/>
          </a:prstGeom>
          <a:solidFill>
            <a:srgbClr val="EEF3FA"/>
          </a:solidFill>
          <a:ln w="12700">
            <a:solidFill>
              <a:srgbClr val="EEF3FA"/>
            </a:solidFill>
            <a:prstDash val="solid"/>
          </a:ln>
        </p:spPr>
      </p:sp>
      <p:sp>
        <p:nvSpPr>
          <p:cNvPr id="8" name="Shape 5"/>
          <p:cNvSpPr/>
          <p:nvPr/>
        </p:nvSpPr>
        <p:spPr>
          <a:xfrm>
            <a:off x="685800" y="1508760"/>
            <a:ext cx="502920" cy="502920"/>
          </a:xfrm>
          <a:prstGeom prst="ellipse">
            <a:avLst/>
          </a:prstGeom>
          <a:solidFill>
            <a:srgbClr val="154EA1"/>
          </a:solidFill>
          <a:ln w="12700">
            <a:solidFill>
              <a:srgbClr val="154EA1"/>
            </a:solidFill>
            <a:prstDash val="solid"/>
          </a:ln>
        </p:spPr>
      </p:sp>
      <p:pic>
        <p:nvPicPr>
          <p:cNvPr id="9" name="Image 1" descr="preencoded.png">    </p:cNvPr>
          <p:cNvPicPr>
            <a:picLocks noChangeAspect="1"/>
          </p:cNvPicPr>
          <p:nvPr/>
        </p:nvPicPr>
        <p:blipFill>
          <a:blip r:embed="rId2"/>
          <a:stretch>
            <a:fillRect/>
          </a:stretch>
        </p:blipFill>
        <p:spPr>
          <a:xfrm>
            <a:off x="821588" y="1644548"/>
            <a:ext cx="231343" cy="231343"/>
          </a:xfrm>
          <a:prstGeom prst="rect">
            <a:avLst/>
          </a:prstGeom>
        </p:spPr>
      </p:pic>
      <p:sp>
        <p:nvSpPr>
          <p:cNvPr id="10" name="Text 6"/>
          <p:cNvSpPr txBox="1"/>
          <p:nvPr/>
        </p:nvSpPr>
        <p:spPr>
          <a:xfrm>
            <a:off x="1325880" y="1508760"/>
            <a:ext cx="2926080" cy="274320"/>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AI model</a:t>
            </a:r>
            <a:endParaRPr lang="en-US" sz="1600" dirty="0"/>
          </a:p>
        </p:txBody>
      </p:sp>
      <p:sp>
        <p:nvSpPr>
          <p:cNvPr id="11" name="Text 7"/>
          <p:cNvSpPr txBox="1"/>
          <p:nvPr/>
        </p:nvSpPr>
        <p:spPr>
          <a:xfrm>
            <a:off x="1325880" y="1783080"/>
            <a:ext cx="2926080" cy="228600"/>
          </a:xfrm>
          <a:prstGeom prst="rect">
            <a:avLst/>
          </a:prstGeom>
          <a:noFill/>
          <a:ln/>
        </p:spPr>
        <p:txBody>
          <a:bodyPr wrap="square" lIns="0" tIns="0" rIns="0" bIns="0" rtlCol="0" anchor="t"/>
          <a:lstStyle/>
          <a:p>
            <a:pPr indent="0" marL="0">
              <a:buNone/>
            </a:pPr>
            <a:r>
              <a:rPr lang="en-US" sz="1100" i="1" dirty="0">
                <a:solidFill>
                  <a:srgbClr val="6B6B6B"/>
                </a:solidFill>
                <a:latin typeface="Arial" pitchFamily="34" charset="0"/>
                <a:ea typeface="Arial" pitchFamily="34" charset="-122"/>
                <a:cs typeface="Arial" pitchFamily="34" charset="-120"/>
              </a:rPr>
              <a:t>Decisions that need judgement</a:t>
            </a:r>
            <a:endParaRPr lang="en-US" sz="1100" dirty="0"/>
          </a:p>
        </p:txBody>
      </p:sp>
      <p:sp>
        <p:nvSpPr>
          <p:cNvPr id="12" name="Text 8"/>
          <p:cNvSpPr txBox="1"/>
          <p:nvPr/>
        </p:nvSpPr>
        <p:spPr>
          <a:xfrm>
            <a:off x="685800" y="2194560"/>
            <a:ext cx="3611880" cy="91440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222222"/>
                </a:solidFill>
                <a:latin typeface="Arial" pitchFamily="34" charset="0"/>
                <a:ea typeface="Arial" pitchFamily="34" charset="-122"/>
                <a:cs typeface="Arial" pitchFamily="34" charset="-120"/>
              </a:rPr>
              <a:t>Is this heading a real buyer question?</a:t>
            </a:r>
            <a:endParaRPr lang="en-US" sz="1200" dirty="0"/>
          </a:p>
          <a:p>
            <a:pPr marL="152400" indent="-152400">
              <a:spcAft>
                <a:spcPts val="400"/>
              </a:spcAft>
              <a:buSzPct val="100000"/>
              <a:buChar char="•"/>
            </a:pPr>
            <a:r>
              <a:rPr lang="en-US" sz="1200" dirty="0">
                <a:solidFill>
                  <a:srgbClr val="222222"/>
                </a:solidFill>
                <a:latin typeface="Arial" pitchFamily="34" charset="0"/>
                <a:ea typeface="Arial" pitchFamily="34" charset="-122"/>
                <a:cs typeface="Arial" pitchFamily="34" charset="-120"/>
              </a:rPr>
              <a:t>Does this answer stand on its own?</a:t>
            </a:r>
            <a:endParaRPr lang="en-US" sz="1200" dirty="0"/>
          </a:p>
          <a:p>
            <a:pPr marL="152400" indent="-152400">
              <a:spcAft>
                <a:spcPts val="400"/>
              </a:spcAft>
              <a:buSzPct val="100000"/>
              <a:buChar char="•"/>
            </a:pPr>
            <a:r>
              <a:rPr lang="en-US" sz="1200" dirty="0">
                <a:solidFill>
                  <a:srgbClr val="222222"/>
                </a:solidFill>
                <a:latin typeface="Arial" pitchFamily="34" charset="0"/>
                <a:ea typeface="Arial" pitchFamily="34" charset="-122"/>
                <a:cs typeface="Arial" pitchFamily="34" charset="-120"/>
              </a:rPr>
              <a:t>Is this claim backed by a source?</a:t>
            </a:r>
            <a:endParaRPr lang="en-US" sz="1200" dirty="0"/>
          </a:p>
        </p:txBody>
      </p:sp>
      <p:sp>
        <p:nvSpPr>
          <p:cNvPr id="13" name="Shape 9"/>
          <p:cNvSpPr/>
          <p:nvPr/>
        </p:nvSpPr>
        <p:spPr>
          <a:xfrm>
            <a:off x="4663440" y="1325880"/>
            <a:ext cx="4023360" cy="1874520"/>
          </a:xfrm>
          <a:prstGeom prst="rect">
            <a:avLst/>
          </a:prstGeom>
          <a:solidFill>
            <a:srgbClr val="FFFFFF"/>
          </a:solidFill>
          <a:ln w="12700">
            <a:solidFill>
              <a:srgbClr val="D3DCEA"/>
            </a:solidFill>
            <a:prstDash val="solid"/>
          </a:ln>
        </p:spPr>
      </p:sp>
      <p:sp>
        <p:nvSpPr>
          <p:cNvPr id="14" name="Shape 10"/>
          <p:cNvSpPr/>
          <p:nvPr/>
        </p:nvSpPr>
        <p:spPr>
          <a:xfrm>
            <a:off x="4892040" y="1508760"/>
            <a:ext cx="502920" cy="502920"/>
          </a:xfrm>
          <a:prstGeom prst="ellipse">
            <a:avLst/>
          </a:prstGeom>
          <a:solidFill>
            <a:srgbClr val="154EA1"/>
          </a:solidFill>
          <a:ln w="12700">
            <a:solidFill>
              <a:srgbClr val="154EA1"/>
            </a:solidFill>
            <a:prstDash val="solid"/>
          </a:ln>
        </p:spPr>
      </p:sp>
      <p:pic>
        <p:nvPicPr>
          <p:cNvPr id="15" name="Image 2" descr="preencoded.png">    </p:cNvPr>
          <p:cNvPicPr>
            <a:picLocks noChangeAspect="1"/>
          </p:cNvPicPr>
          <p:nvPr/>
        </p:nvPicPr>
        <p:blipFill>
          <a:blip r:embed="rId3"/>
          <a:stretch>
            <a:fillRect/>
          </a:stretch>
        </p:blipFill>
        <p:spPr>
          <a:xfrm>
            <a:off x="5027828" y="1644548"/>
            <a:ext cx="231343" cy="231343"/>
          </a:xfrm>
          <a:prstGeom prst="rect">
            <a:avLst/>
          </a:prstGeom>
        </p:spPr>
      </p:pic>
      <p:sp>
        <p:nvSpPr>
          <p:cNvPr id="16" name="Text 11"/>
          <p:cNvSpPr txBox="1"/>
          <p:nvPr/>
        </p:nvSpPr>
        <p:spPr>
          <a:xfrm>
            <a:off x="5532120" y="1508760"/>
            <a:ext cx="2926080" cy="274320"/>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Fixed formulas</a:t>
            </a:r>
            <a:endParaRPr lang="en-US" sz="1600" dirty="0"/>
          </a:p>
        </p:txBody>
      </p:sp>
      <p:sp>
        <p:nvSpPr>
          <p:cNvPr id="17" name="Text 12"/>
          <p:cNvSpPr txBox="1"/>
          <p:nvPr/>
        </p:nvSpPr>
        <p:spPr>
          <a:xfrm>
            <a:off x="5532120" y="1783080"/>
            <a:ext cx="2926080" cy="228600"/>
          </a:xfrm>
          <a:prstGeom prst="rect">
            <a:avLst/>
          </a:prstGeom>
          <a:noFill/>
          <a:ln/>
        </p:spPr>
        <p:txBody>
          <a:bodyPr wrap="square" lIns="0" tIns="0" rIns="0" bIns="0" rtlCol="0" anchor="t"/>
          <a:lstStyle/>
          <a:p>
            <a:pPr indent="0" marL="0">
              <a:buNone/>
            </a:pPr>
            <a:r>
              <a:rPr lang="en-US" sz="1100" i="1" dirty="0">
                <a:solidFill>
                  <a:srgbClr val="6B6B6B"/>
                </a:solidFill>
                <a:latin typeface="Arial" pitchFamily="34" charset="0"/>
                <a:ea typeface="Arial" pitchFamily="34" charset="-122"/>
                <a:cs typeface="Arial" pitchFamily="34" charset="-120"/>
              </a:rPr>
              <a:t>Everything that is arithmetic</a:t>
            </a:r>
            <a:endParaRPr lang="en-US" sz="1100" dirty="0"/>
          </a:p>
        </p:txBody>
      </p:sp>
      <p:sp>
        <p:nvSpPr>
          <p:cNvPr id="18" name="Text 13"/>
          <p:cNvSpPr txBox="1"/>
          <p:nvPr/>
        </p:nvSpPr>
        <p:spPr>
          <a:xfrm>
            <a:off x="4892040" y="2194560"/>
            <a:ext cx="3611880" cy="91440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222222"/>
                </a:solidFill>
                <a:latin typeface="Arial" pitchFamily="34" charset="0"/>
                <a:ea typeface="Arial" pitchFamily="34" charset="-122"/>
                <a:cs typeface="Arial" pitchFamily="34" charset="-120"/>
              </a:rPr>
              <a:t>Counts, ratios and percentages</a:t>
            </a:r>
            <a:endParaRPr lang="en-US" sz="1200" dirty="0"/>
          </a:p>
          <a:p>
            <a:pPr marL="152400" indent="-152400">
              <a:spcAft>
                <a:spcPts val="400"/>
              </a:spcAft>
              <a:buSzPct val="100000"/>
              <a:buChar char="•"/>
            </a:pPr>
            <a:r>
              <a:rPr lang="en-US" sz="1200" dirty="0">
                <a:solidFill>
                  <a:srgbClr val="222222"/>
                </a:solidFill>
                <a:latin typeface="Arial" pitchFamily="34" charset="0"/>
                <a:ea typeface="Arial" pitchFamily="34" charset="-122"/>
                <a:cs typeface="Arial" pitchFamily="34" charset="-120"/>
              </a:rPr>
              <a:t>Each check's exact share of the score</a:t>
            </a:r>
            <a:endParaRPr lang="en-US" sz="1200" dirty="0"/>
          </a:p>
          <a:p>
            <a:pPr marL="152400" indent="-152400">
              <a:spcAft>
                <a:spcPts val="400"/>
              </a:spcAft>
              <a:buSzPct val="100000"/>
              <a:buChar char="•"/>
            </a:pPr>
            <a:r>
              <a:rPr lang="en-US" sz="1200" dirty="0">
                <a:solidFill>
                  <a:srgbClr val="222222"/>
                </a:solidFill>
                <a:latin typeface="Arial" pitchFamily="34" charset="0"/>
                <a:ea typeface="Arial" pitchFamily="34" charset="-122"/>
                <a:cs typeface="Arial" pitchFamily="34" charset="-120"/>
              </a:rPr>
              <a:t>Pillar and overall totals</a:t>
            </a:r>
            <a:endParaRPr lang="en-US" sz="1200" dirty="0"/>
          </a:p>
        </p:txBody>
      </p:sp>
      <p:sp>
        <p:nvSpPr>
          <p:cNvPr id="19" name="Text 14"/>
          <p:cNvSpPr txBox="1"/>
          <p:nvPr/>
        </p:nvSpPr>
        <p:spPr>
          <a:xfrm>
            <a:off x="457200" y="3456432"/>
            <a:ext cx="2606040" cy="27432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Scores that mean something</a:t>
            </a:r>
            <a:endParaRPr lang="en-US" sz="1300" dirty="0"/>
          </a:p>
        </p:txBody>
      </p:sp>
      <p:sp>
        <p:nvSpPr>
          <p:cNvPr id="20" name="Text 15"/>
          <p:cNvSpPr txBox="1"/>
          <p:nvPr/>
        </p:nvSpPr>
        <p:spPr>
          <a:xfrm>
            <a:off x="457200" y="3749040"/>
            <a:ext cx="2606040" cy="731520"/>
          </a:xfrm>
          <a:prstGeom prst="rect">
            <a:avLst/>
          </a:prstGeom>
          <a:noFill/>
          <a:ln/>
        </p:spPr>
        <p:txBody>
          <a:bodyPr wrap="square" lIns="0" tIns="0" rIns="0" bIns="0" rtlCol="0" anchor="t"/>
          <a:lstStyle/>
          <a:p>
            <a:pPr indent="0" marL="0">
              <a:buNone/>
            </a:pPr>
            <a:r>
              <a:rPr lang="en-US" sz="1100" dirty="0">
                <a:solidFill>
                  <a:srgbClr val="444444"/>
                </a:solidFill>
                <a:latin typeface="Arial" pitchFamily="34" charset="0"/>
                <a:ea typeface="Arial" pitchFamily="34" charset="-122"/>
                <a:cs typeface="Arial" pitchFamily="34" charset="-120"/>
              </a:rPr>
              <a:t>Fixed scoring defects so different sites now get genuinely different scores.</a:t>
            </a:r>
            <a:endParaRPr lang="en-US" sz="1100" dirty="0"/>
          </a:p>
        </p:txBody>
      </p:sp>
      <p:sp>
        <p:nvSpPr>
          <p:cNvPr id="21" name="Text 16"/>
          <p:cNvSpPr txBox="1"/>
          <p:nvPr/>
        </p:nvSpPr>
        <p:spPr>
          <a:xfrm>
            <a:off x="3264408" y="3456432"/>
            <a:ext cx="2606040" cy="27432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Logic frozen and tested</a:t>
            </a:r>
            <a:endParaRPr lang="en-US" sz="1300" dirty="0"/>
          </a:p>
        </p:txBody>
      </p:sp>
      <p:sp>
        <p:nvSpPr>
          <p:cNvPr id="22" name="Text 17"/>
          <p:cNvSpPr txBox="1"/>
          <p:nvPr/>
        </p:nvSpPr>
        <p:spPr>
          <a:xfrm>
            <a:off x="3264408" y="3749040"/>
            <a:ext cx="2606040" cy="731520"/>
          </a:xfrm>
          <a:prstGeom prst="rect">
            <a:avLst/>
          </a:prstGeom>
          <a:noFill/>
          <a:ln/>
        </p:spPr>
        <p:txBody>
          <a:bodyPr wrap="square" lIns="0" tIns="0" rIns="0" bIns="0" rtlCol="0" anchor="t"/>
          <a:lstStyle/>
          <a:p>
            <a:pPr indent="0" marL="0">
              <a:buNone/>
            </a:pPr>
            <a:r>
              <a:rPr lang="en-US" sz="1100" dirty="0">
                <a:solidFill>
                  <a:srgbClr val="444444"/>
                </a:solidFill>
                <a:latin typeface="Arial" pitchFamily="34" charset="0"/>
                <a:ea typeface="Arial" pitchFamily="34" charset="-122"/>
                <a:cs typeface="Arial" pitchFamily="34" charset="-120"/>
              </a:rPr>
              <a:t>Every check's logic is written down and verified by automated tests, so it cannot drift.</a:t>
            </a:r>
            <a:endParaRPr lang="en-US" sz="1100" dirty="0"/>
          </a:p>
        </p:txBody>
      </p:sp>
      <p:sp>
        <p:nvSpPr>
          <p:cNvPr id="23" name="Text 18"/>
          <p:cNvSpPr txBox="1"/>
          <p:nvPr/>
        </p:nvSpPr>
        <p:spPr>
          <a:xfrm>
            <a:off x="6071616" y="3456432"/>
            <a:ext cx="2606040" cy="27432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Honest gaps</a:t>
            </a:r>
            <a:endParaRPr lang="en-US" sz="1300" dirty="0"/>
          </a:p>
        </p:txBody>
      </p:sp>
      <p:sp>
        <p:nvSpPr>
          <p:cNvPr id="24" name="Text 19"/>
          <p:cNvSpPr txBox="1"/>
          <p:nvPr/>
        </p:nvSpPr>
        <p:spPr>
          <a:xfrm>
            <a:off x="6071616" y="3749040"/>
            <a:ext cx="2606040" cy="731520"/>
          </a:xfrm>
          <a:prstGeom prst="rect">
            <a:avLst/>
          </a:prstGeom>
          <a:noFill/>
          <a:ln/>
        </p:spPr>
        <p:txBody>
          <a:bodyPr wrap="square" lIns="0" tIns="0" rIns="0" bIns="0" rtlCol="0" anchor="t"/>
          <a:lstStyle/>
          <a:p>
            <a:pPr indent="0" marL="0">
              <a:buNone/>
            </a:pPr>
            <a:r>
              <a:rPr lang="en-US" sz="1100" dirty="0">
                <a:solidFill>
                  <a:srgbClr val="444444"/>
                </a:solidFill>
                <a:latin typeface="Arial" pitchFamily="34" charset="0"/>
                <a:ea typeface="Arial" pitchFamily="34" charset="-122"/>
                <a:cs typeface="Arial" pitchFamily="34" charset="-120"/>
              </a:rPr>
              <a:t>A check that cannot be measured is reported as Unknown, never guessed.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STAGE 4  ·  18 SEPTEMBER</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Every audit now writes its own report</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9</a:t>
            </a:r>
            <a:endParaRPr lang="en-US" sz="900" dirty="0"/>
          </a:p>
        </p:txBody>
      </p:sp>
      <p:sp>
        <p:nvSpPr>
          <p:cNvPr id="7" name="Shape 4"/>
          <p:cNvSpPr/>
          <p:nvPr/>
        </p:nvSpPr>
        <p:spPr>
          <a:xfrm>
            <a:off x="457200" y="1371600"/>
            <a:ext cx="566928" cy="566928"/>
          </a:xfrm>
          <a:prstGeom prst="ellipse">
            <a:avLst/>
          </a:prstGeom>
          <a:solidFill>
            <a:srgbClr val="154EA1"/>
          </a:solidFill>
          <a:ln w="12700">
            <a:solidFill>
              <a:srgbClr val="154EA1"/>
            </a:solidFill>
            <a:prstDash val="solid"/>
          </a:ln>
        </p:spPr>
      </p:sp>
      <p:pic>
        <p:nvPicPr>
          <p:cNvPr id="8" name="Image 1" descr="preencoded.png">    </p:cNvPr>
          <p:cNvPicPr>
            <a:picLocks noChangeAspect="1"/>
          </p:cNvPicPr>
          <p:nvPr/>
        </p:nvPicPr>
        <p:blipFill>
          <a:blip r:embed="rId2"/>
          <a:stretch>
            <a:fillRect/>
          </a:stretch>
        </p:blipFill>
        <p:spPr>
          <a:xfrm>
            <a:off x="610271" y="1524671"/>
            <a:ext cx="260787" cy="260787"/>
          </a:xfrm>
          <a:prstGeom prst="rect">
            <a:avLst/>
          </a:prstGeom>
        </p:spPr>
      </p:pic>
      <p:sp>
        <p:nvSpPr>
          <p:cNvPr id="9" name="Text 5"/>
          <p:cNvSpPr txBox="1"/>
          <p:nvPr/>
        </p:nvSpPr>
        <p:spPr>
          <a:xfrm>
            <a:off x="1207008" y="1353312"/>
            <a:ext cx="365760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Excel workbook</a:t>
            </a:r>
            <a:endParaRPr lang="en-US" sz="1500" dirty="0"/>
          </a:p>
        </p:txBody>
      </p:sp>
      <p:sp>
        <p:nvSpPr>
          <p:cNvPr id="10" name="Text 6"/>
          <p:cNvSpPr txBox="1"/>
          <p:nvPr/>
        </p:nvSpPr>
        <p:spPr>
          <a:xfrm>
            <a:off x="1207008" y="1664208"/>
            <a:ext cx="3657600" cy="566928"/>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One row per check: score, verdict, whether AI or rules scored it, and the working in plain English.</a:t>
            </a:r>
            <a:endParaRPr lang="en-US" sz="1200" dirty="0"/>
          </a:p>
        </p:txBody>
      </p:sp>
      <p:sp>
        <p:nvSpPr>
          <p:cNvPr id="11" name="Shape 7"/>
          <p:cNvSpPr/>
          <p:nvPr/>
        </p:nvSpPr>
        <p:spPr>
          <a:xfrm>
            <a:off x="457200" y="2359152"/>
            <a:ext cx="566928" cy="566928"/>
          </a:xfrm>
          <a:prstGeom prst="ellipse">
            <a:avLst/>
          </a:prstGeom>
          <a:solidFill>
            <a:srgbClr val="154EA1"/>
          </a:solidFill>
          <a:ln w="12700">
            <a:solidFill>
              <a:srgbClr val="154EA1"/>
            </a:solidFill>
            <a:prstDash val="solid"/>
          </a:ln>
        </p:spPr>
      </p:sp>
      <p:pic>
        <p:nvPicPr>
          <p:cNvPr id="12" name="Image 2" descr="preencoded.png">    </p:cNvPr>
          <p:cNvPicPr>
            <a:picLocks noChangeAspect="1"/>
          </p:cNvPicPr>
          <p:nvPr/>
        </p:nvPicPr>
        <p:blipFill>
          <a:blip r:embed="rId3"/>
          <a:stretch>
            <a:fillRect/>
          </a:stretch>
        </p:blipFill>
        <p:spPr>
          <a:xfrm>
            <a:off x="610271" y="2512223"/>
            <a:ext cx="260787" cy="260787"/>
          </a:xfrm>
          <a:prstGeom prst="rect">
            <a:avLst/>
          </a:prstGeom>
        </p:spPr>
      </p:pic>
      <p:sp>
        <p:nvSpPr>
          <p:cNvPr id="13" name="Text 8"/>
          <p:cNvSpPr txBox="1"/>
          <p:nvPr/>
        </p:nvSpPr>
        <p:spPr>
          <a:xfrm>
            <a:off x="1207008" y="2340864"/>
            <a:ext cx="365760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Scraped content</a:t>
            </a:r>
            <a:endParaRPr lang="en-US" sz="1500" dirty="0"/>
          </a:p>
        </p:txBody>
      </p:sp>
      <p:sp>
        <p:nvSpPr>
          <p:cNvPr id="14" name="Text 9"/>
          <p:cNvSpPr txBox="1"/>
          <p:nvPr/>
        </p:nvSpPr>
        <p:spPr>
          <a:xfrm>
            <a:off x="1207008" y="2651760"/>
            <a:ext cx="3657600" cy="566928"/>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Every page that was read, with how confidently it was read and why.</a:t>
            </a:r>
            <a:endParaRPr lang="en-US" sz="1200" dirty="0"/>
          </a:p>
        </p:txBody>
      </p:sp>
      <p:sp>
        <p:nvSpPr>
          <p:cNvPr id="15" name="Shape 10"/>
          <p:cNvSpPr/>
          <p:nvPr/>
        </p:nvSpPr>
        <p:spPr>
          <a:xfrm>
            <a:off x="457200" y="3346704"/>
            <a:ext cx="566928" cy="566928"/>
          </a:xfrm>
          <a:prstGeom prst="ellipse">
            <a:avLst/>
          </a:prstGeom>
          <a:solidFill>
            <a:srgbClr val="154EA1"/>
          </a:solidFill>
          <a:ln w="12700">
            <a:solidFill>
              <a:srgbClr val="154EA1"/>
            </a:solidFill>
            <a:prstDash val="solid"/>
          </a:ln>
        </p:spPr>
      </p:sp>
      <p:pic>
        <p:nvPicPr>
          <p:cNvPr id="16" name="Image 3" descr="preencoded.png">    </p:cNvPr>
          <p:cNvPicPr>
            <a:picLocks noChangeAspect="1"/>
          </p:cNvPicPr>
          <p:nvPr/>
        </p:nvPicPr>
        <p:blipFill>
          <a:blip r:embed="rId4"/>
          <a:stretch>
            <a:fillRect/>
          </a:stretch>
        </p:blipFill>
        <p:spPr>
          <a:xfrm>
            <a:off x="610271" y="3499775"/>
            <a:ext cx="260787" cy="260787"/>
          </a:xfrm>
          <a:prstGeom prst="rect">
            <a:avLst/>
          </a:prstGeom>
        </p:spPr>
      </p:pic>
      <p:sp>
        <p:nvSpPr>
          <p:cNvPr id="17" name="Text 11"/>
          <p:cNvSpPr txBox="1"/>
          <p:nvPr/>
        </p:nvSpPr>
        <p:spPr>
          <a:xfrm>
            <a:off x="1207008" y="3328416"/>
            <a:ext cx="365760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Failed-links list</a:t>
            </a:r>
            <a:endParaRPr lang="en-US" sz="1500" dirty="0"/>
          </a:p>
        </p:txBody>
      </p:sp>
      <p:sp>
        <p:nvSpPr>
          <p:cNvPr id="18" name="Text 12"/>
          <p:cNvSpPr txBox="1"/>
          <p:nvPr/>
        </p:nvSpPr>
        <p:spPr>
          <a:xfrm>
            <a:off x="1207008" y="3639312"/>
            <a:ext cx="3657600" cy="566928"/>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Only the links that could not be read, each with the reason — easy to review on its own.</a:t>
            </a:r>
            <a:endParaRPr lang="en-US" sz="1200" dirty="0"/>
          </a:p>
        </p:txBody>
      </p:sp>
      <p:sp>
        <p:nvSpPr>
          <p:cNvPr id="19" name="Shape 13"/>
          <p:cNvSpPr/>
          <p:nvPr/>
        </p:nvSpPr>
        <p:spPr>
          <a:xfrm>
            <a:off x="5349240" y="1371600"/>
            <a:ext cx="3337560" cy="3017520"/>
          </a:xfrm>
          <a:prstGeom prst="rect">
            <a:avLst/>
          </a:prstGeom>
          <a:solidFill>
            <a:srgbClr val="EEF3FA"/>
          </a:solidFill>
          <a:ln w="12700">
            <a:solidFill>
              <a:srgbClr val="EEF3FA"/>
            </a:solidFill>
            <a:prstDash val="solid"/>
          </a:ln>
        </p:spPr>
      </p:sp>
      <p:sp>
        <p:nvSpPr>
          <p:cNvPr id="20" name="Text 14"/>
          <p:cNvSpPr txBox="1"/>
          <p:nvPr/>
        </p:nvSpPr>
        <p:spPr>
          <a:xfrm>
            <a:off x="5623560" y="1600200"/>
            <a:ext cx="2834640" cy="228600"/>
          </a:xfrm>
          <a:prstGeom prst="rect">
            <a:avLst/>
          </a:prstGeom>
          <a:noFill/>
          <a:ln/>
        </p:spPr>
        <p:txBody>
          <a:bodyPr wrap="square" lIns="0" tIns="0" rIns="0" bIns="0" rtlCol="0" anchor="t"/>
          <a:lstStyle/>
          <a:p>
            <a:pPr indent="0" marL="0">
              <a:buNone/>
            </a:pPr>
            <a:r>
              <a:rPr lang="en-US" sz="900" b="1" spc="200" kern="0" dirty="0">
                <a:solidFill>
                  <a:srgbClr val="154EA1"/>
                </a:solidFill>
                <a:latin typeface="Arial" pitchFamily="34" charset="0"/>
                <a:ea typeface="Arial" pitchFamily="34" charset="-122"/>
                <a:cs typeface="Arial" pitchFamily="34" charset="-120"/>
              </a:rPr>
              <a:t>WHY IT MATTERS</a:t>
            </a:r>
            <a:endParaRPr lang="en-US" sz="900" dirty="0"/>
          </a:p>
        </p:txBody>
      </p:sp>
      <p:sp>
        <p:nvSpPr>
          <p:cNvPr id="21" name="Text 15"/>
          <p:cNvSpPr txBox="1"/>
          <p:nvPr/>
        </p:nvSpPr>
        <p:spPr>
          <a:xfrm>
            <a:off x="5623560" y="1920240"/>
            <a:ext cx="2834640" cy="237744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222222"/>
                </a:solidFill>
                <a:latin typeface="Arial" pitchFamily="34" charset="0"/>
                <a:ea typeface="Arial" pitchFamily="34" charset="-122"/>
                <a:cs typeface="Arial" pitchFamily="34" charset="-120"/>
              </a:rPr>
              <a:t>No export button to remember — files are ready when the scan ends</a:t>
            </a:r>
            <a:endParaRPr lang="en-US" sz="1150" dirty="0"/>
          </a:p>
          <a:p>
            <a:pPr marL="152400" indent="-152400">
              <a:spcAft>
                <a:spcPts val="800"/>
              </a:spcAft>
              <a:buSzPct val="100000"/>
              <a:buChar char="•"/>
            </a:pPr>
            <a:r>
              <a:rPr lang="en-US" sz="1150" dirty="0">
                <a:solidFill>
                  <a:srgbClr val="222222"/>
                </a:solidFill>
                <a:latin typeface="Arial" pitchFamily="34" charset="0"/>
                <a:ea typeface="Arial" pitchFamily="34" charset="-122"/>
                <a:cs typeface="Arial" pitchFamily="34" charset="-120"/>
              </a:rPr>
              <a:t>Re-auditing a site refreshes its files instead of piling up copies</a:t>
            </a:r>
            <a:endParaRPr lang="en-US" sz="1150" dirty="0"/>
          </a:p>
          <a:p>
            <a:pPr marL="152400" indent="-152400">
              <a:spcAft>
                <a:spcPts val="800"/>
              </a:spcAft>
              <a:buSzPct val="100000"/>
              <a:buChar char="•"/>
            </a:pPr>
            <a:r>
              <a:rPr lang="en-US" sz="1150" dirty="0">
                <a:solidFill>
                  <a:srgbClr val="222222"/>
                </a:solidFill>
                <a:latin typeface="Arial" pitchFamily="34" charset="0"/>
                <a:ea typeface="Arial" pitchFamily="34" charset="-122"/>
                <a:cs typeface="Arial" pitchFamily="34" charset="-120"/>
              </a:rPr>
              <a:t>Data files are saved before scoring, so nothing is lost if a later step fails</a:t>
            </a:r>
            <a:endParaRPr lang="en-US" sz="1150" dirty="0"/>
          </a:p>
          <a:p>
            <a:pPr marL="152400" indent="-152400">
              <a:spcAft>
                <a:spcPts val="800"/>
              </a:spcAft>
              <a:buSzPct val="100000"/>
              <a:buChar char="•"/>
            </a:pPr>
            <a:r>
              <a:rPr lang="en-US" sz="1150" dirty="0">
                <a:solidFill>
                  <a:srgbClr val="222222"/>
                </a:solidFill>
                <a:latin typeface="Arial" pitchFamily="34" charset="0"/>
                <a:ea typeface="Arial" pitchFamily="34" charset="-122"/>
                <a:cs typeface="Arial" pitchFamily="34" charset="-120"/>
              </a:rPr>
              <a:t>Print-friendly black-and-white design that copies cleanly into decks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STAGE 5  ·  28 SEPTEMBER</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Every score can be traced back to its source</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10</a:t>
            </a:r>
            <a:endParaRPr lang="en-US" sz="900" dirty="0"/>
          </a:p>
        </p:txBody>
      </p:sp>
      <p:sp>
        <p:nvSpPr>
          <p:cNvPr id="7" name="Shape 4"/>
          <p:cNvSpPr/>
          <p:nvPr/>
        </p:nvSpPr>
        <p:spPr>
          <a:xfrm>
            <a:off x="457200" y="1325880"/>
            <a:ext cx="3977640" cy="1417320"/>
          </a:xfrm>
          <a:prstGeom prst="rect">
            <a:avLst/>
          </a:prstGeom>
          <a:solidFill>
            <a:srgbClr val="FFFFFF"/>
          </a:solidFill>
          <a:ln w="12700">
            <a:solidFill>
              <a:srgbClr val="D3DCEA"/>
            </a:solidFill>
            <a:prstDash val="solid"/>
          </a:ln>
        </p:spPr>
      </p:sp>
      <p:sp>
        <p:nvSpPr>
          <p:cNvPr id="8" name="Shape 5"/>
          <p:cNvSpPr/>
          <p:nvPr/>
        </p:nvSpPr>
        <p:spPr>
          <a:xfrm>
            <a:off x="685800" y="1600200"/>
            <a:ext cx="502920" cy="502920"/>
          </a:xfrm>
          <a:prstGeom prst="ellipse">
            <a:avLst/>
          </a:prstGeom>
          <a:solidFill>
            <a:srgbClr val="154EA1"/>
          </a:solidFill>
          <a:ln w="12700">
            <a:solidFill>
              <a:srgbClr val="154EA1"/>
            </a:solidFill>
            <a:prstDash val="solid"/>
          </a:ln>
        </p:spPr>
      </p:sp>
      <p:pic>
        <p:nvPicPr>
          <p:cNvPr id="9" name="Image 1" descr="preencoded.png">    </p:cNvPr>
          <p:cNvPicPr>
            <a:picLocks noChangeAspect="1"/>
          </p:cNvPicPr>
          <p:nvPr/>
        </p:nvPicPr>
        <p:blipFill>
          <a:blip r:embed="rId2"/>
          <a:stretch>
            <a:fillRect/>
          </a:stretch>
        </p:blipFill>
        <p:spPr>
          <a:xfrm>
            <a:off x="821588" y="1735988"/>
            <a:ext cx="231343" cy="231343"/>
          </a:xfrm>
          <a:prstGeom prst="rect">
            <a:avLst/>
          </a:prstGeom>
        </p:spPr>
      </p:pic>
      <p:sp>
        <p:nvSpPr>
          <p:cNvPr id="10" name="Text 6"/>
          <p:cNvSpPr txBox="1"/>
          <p:nvPr/>
        </p:nvSpPr>
        <p:spPr>
          <a:xfrm>
            <a:off x="1371600" y="1554480"/>
            <a:ext cx="283464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Every score cited</a:t>
            </a:r>
            <a:endParaRPr lang="en-US" sz="1500" dirty="0"/>
          </a:p>
        </p:txBody>
      </p:sp>
      <p:sp>
        <p:nvSpPr>
          <p:cNvPr id="11" name="Text 7"/>
          <p:cNvSpPr txBox="1"/>
          <p:nvPr/>
        </p:nvSpPr>
        <p:spPr>
          <a:xfrm>
            <a:off x="1371600" y="1874520"/>
            <a:ext cx="2834640" cy="777240"/>
          </a:xfrm>
          <a:prstGeom prst="rect">
            <a:avLst/>
          </a:prstGeom>
          <a:noFill/>
          <a:ln/>
        </p:spPr>
        <p:txBody>
          <a:bodyPr wrap="square" lIns="0" tIns="0" rIns="0" bIns="0" rtlCol="0" anchor="t"/>
          <a:lstStyle/>
          <a:p>
            <a:pPr indent="0" marL="0">
              <a:buNone/>
            </a:pPr>
            <a:r>
              <a:rPr lang="en-US" sz="1150" dirty="0">
                <a:solidFill>
                  <a:srgbClr val="444444"/>
                </a:solidFill>
                <a:latin typeface="Arial" pitchFamily="34" charset="0"/>
                <a:ea typeface="Arial" pitchFamily="34" charset="-122"/>
                <a:cs typeface="Arial" pitchFamily="34" charset="-120"/>
              </a:rPr>
              <a:t>Each result links to the exact pages and third-party sources it was calculated from.</a:t>
            </a:r>
            <a:endParaRPr lang="en-US" sz="1150" dirty="0"/>
          </a:p>
        </p:txBody>
      </p:sp>
      <p:sp>
        <p:nvSpPr>
          <p:cNvPr id="12" name="Shape 8"/>
          <p:cNvSpPr/>
          <p:nvPr/>
        </p:nvSpPr>
        <p:spPr>
          <a:xfrm>
            <a:off x="4709160" y="1325880"/>
            <a:ext cx="3977640" cy="1417320"/>
          </a:xfrm>
          <a:prstGeom prst="rect">
            <a:avLst/>
          </a:prstGeom>
          <a:solidFill>
            <a:srgbClr val="FFFFFF"/>
          </a:solidFill>
          <a:ln w="12700">
            <a:solidFill>
              <a:srgbClr val="D3DCEA"/>
            </a:solidFill>
            <a:prstDash val="solid"/>
          </a:ln>
        </p:spPr>
      </p:sp>
      <p:sp>
        <p:nvSpPr>
          <p:cNvPr id="13" name="Shape 9"/>
          <p:cNvSpPr/>
          <p:nvPr/>
        </p:nvSpPr>
        <p:spPr>
          <a:xfrm>
            <a:off x="4937760" y="1600200"/>
            <a:ext cx="502920" cy="502920"/>
          </a:xfrm>
          <a:prstGeom prst="ellipse">
            <a:avLst/>
          </a:prstGeom>
          <a:solidFill>
            <a:srgbClr val="154EA1"/>
          </a:solidFill>
          <a:ln w="12700">
            <a:solidFill>
              <a:srgbClr val="154EA1"/>
            </a:solidFill>
            <a:prstDash val="solid"/>
          </a:ln>
        </p:spPr>
      </p:sp>
      <p:pic>
        <p:nvPicPr>
          <p:cNvPr id="14" name="Image 2" descr="preencoded.png">    </p:cNvPr>
          <p:cNvPicPr>
            <a:picLocks noChangeAspect="1"/>
          </p:cNvPicPr>
          <p:nvPr/>
        </p:nvPicPr>
        <p:blipFill>
          <a:blip r:embed="rId3"/>
          <a:stretch>
            <a:fillRect/>
          </a:stretch>
        </p:blipFill>
        <p:spPr>
          <a:xfrm>
            <a:off x="5073548" y="1735988"/>
            <a:ext cx="231343" cy="231343"/>
          </a:xfrm>
          <a:prstGeom prst="rect">
            <a:avLst/>
          </a:prstGeom>
        </p:spPr>
      </p:pic>
      <p:sp>
        <p:nvSpPr>
          <p:cNvPr id="15" name="Text 10"/>
          <p:cNvSpPr txBox="1"/>
          <p:nvPr/>
        </p:nvSpPr>
        <p:spPr>
          <a:xfrm>
            <a:off x="5623560" y="1554480"/>
            <a:ext cx="283464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Clear scope</a:t>
            </a:r>
            <a:endParaRPr lang="en-US" sz="1500" dirty="0"/>
          </a:p>
        </p:txBody>
      </p:sp>
      <p:sp>
        <p:nvSpPr>
          <p:cNvPr id="16" name="Text 11"/>
          <p:cNvSpPr txBox="1"/>
          <p:nvPr/>
        </p:nvSpPr>
        <p:spPr>
          <a:xfrm>
            <a:off x="5623560" y="1874520"/>
            <a:ext cx="2834640" cy="777240"/>
          </a:xfrm>
          <a:prstGeom prst="rect">
            <a:avLst/>
          </a:prstGeom>
          <a:noFill/>
          <a:ln/>
        </p:spPr>
        <p:txBody>
          <a:bodyPr wrap="square" lIns="0" tIns="0" rIns="0" bIns="0" rtlCol="0" anchor="t"/>
          <a:lstStyle/>
          <a:p>
            <a:pPr indent="0" marL="0">
              <a:buNone/>
            </a:pPr>
            <a:r>
              <a:rPr lang="en-US" sz="1150" dirty="0">
                <a:solidFill>
                  <a:srgbClr val="444444"/>
                </a:solidFill>
                <a:latin typeface="Arial" pitchFamily="34" charset="0"/>
                <a:ea typeface="Arial" pitchFamily="34" charset="-122"/>
                <a:cs typeface="Arial" pitchFamily="34" charset="-120"/>
              </a:rPr>
              <a:t>Each check explains which pages it looked at — and why the other pages were out of scope.</a:t>
            </a:r>
            <a:endParaRPr lang="en-US" sz="1150" dirty="0"/>
          </a:p>
        </p:txBody>
      </p:sp>
      <p:sp>
        <p:nvSpPr>
          <p:cNvPr id="17" name="Shape 12"/>
          <p:cNvSpPr/>
          <p:nvPr/>
        </p:nvSpPr>
        <p:spPr>
          <a:xfrm>
            <a:off x="457200" y="2971800"/>
            <a:ext cx="3977640" cy="1417320"/>
          </a:xfrm>
          <a:prstGeom prst="rect">
            <a:avLst/>
          </a:prstGeom>
          <a:solidFill>
            <a:srgbClr val="FFFFFF"/>
          </a:solidFill>
          <a:ln w="12700">
            <a:solidFill>
              <a:srgbClr val="D3DCEA"/>
            </a:solidFill>
            <a:prstDash val="solid"/>
          </a:ln>
        </p:spPr>
      </p:sp>
      <p:sp>
        <p:nvSpPr>
          <p:cNvPr id="18" name="Shape 13"/>
          <p:cNvSpPr/>
          <p:nvPr/>
        </p:nvSpPr>
        <p:spPr>
          <a:xfrm>
            <a:off x="685800" y="3246120"/>
            <a:ext cx="502920" cy="502920"/>
          </a:xfrm>
          <a:prstGeom prst="ellipse">
            <a:avLst/>
          </a:prstGeom>
          <a:solidFill>
            <a:srgbClr val="154EA1"/>
          </a:solidFill>
          <a:ln w="12700">
            <a:solidFill>
              <a:srgbClr val="154EA1"/>
            </a:solidFill>
            <a:prstDash val="solid"/>
          </a:ln>
        </p:spPr>
      </p:sp>
      <p:pic>
        <p:nvPicPr>
          <p:cNvPr id="19" name="Image 3" descr="preencoded.png">    </p:cNvPr>
          <p:cNvPicPr>
            <a:picLocks noChangeAspect="1"/>
          </p:cNvPicPr>
          <p:nvPr/>
        </p:nvPicPr>
        <p:blipFill>
          <a:blip r:embed="rId4"/>
          <a:stretch>
            <a:fillRect/>
          </a:stretch>
        </p:blipFill>
        <p:spPr>
          <a:xfrm>
            <a:off x="821588" y="3381908"/>
            <a:ext cx="231343" cy="231343"/>
          </a:xfrm>
          <a:prstGeom prst="rect">
            <a:avLst/>
          </a:prstGeom>
        </p:spPr>
      </p:pic>
      <p:sp>
        <p:nvSpPr>
          <p:cNvPr id="20" name="Text 14"/>
          <p:cNvSpPr txBox="1"/>
          <p:nvPr/>
        </p:nvSpPr>
        <p:spPr>
          <a:xfrm>
            <a:off x="1371600" y="3200400"/>
            <a:ext cx="283464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Evidence status</a:t>
            </a:r>
            <a:endParaRPr lang="en-US" sz="1500" dirty="0"/>
          </a:p>
        </p:txBody>
      </p:sp>
      <p:sp>
        <p:nvSpPr>
          <p:cNvPr id="21" name="Text 15"/>
          <p:cNvSpPr txBox="1"/>
          <p:nvPr/>
        </p:nvSpPr>
        <p:spPr>
          <a:xfrm>
            <a:off x="1371600" y="3520440"/>
            <a:ext cx="2834640" cy="777240"/>
          </a:xfrm>
          <a:prstGeom prst="rect">
            <a:avLst/>
          </a:prstGeom>
          <a:noFill/>
          <a:ln/>
        </p:spPr>
        <p:txBody>
          <a:bodyPr wrap="square" lIns="0" tIns="0" rIns="0" bIns="0" rtlCol="0" anchor="t"/>
          <a:lstStyle/>
          <a:p>
            <a:pPr indent="0" marL="0">
              <a:buNone/>
            </a:pPr>
            <a:r>
              <a:rPr lang="en-US" sz="1150" dirty="0">
                <a:solidFill>
                  <a:srgbClr val="444444"/>
                </a:solidFill>
                <a:latin typeface="Arial" pitchFamily="34" charset="0"/>
                <a:ea typeface="Arial" pitchFamily="34" charset="-122"/>
                <a:cs typeface="Arial" pitchFamily="34" charset="-120"/>
              </a:rPr>
              <a:t>Off-page results show whether sources were verified, blocked or unavailable.</a:t>
            </a:r>
            <a:endParaRPr lang="en-US" sz="1150" dirty="0"/>
          </a:p>
        </p:txBody>
      </p:sp>
      <p:sp>
        <p:nvSpPr>
          <p:cNvPr id="22" name="Shape 16"/>
          <p:cNvSpPr/>
          <p:nvPr/>
        </p:nvSpPr>
        <p:spPr>
          <a:xfrm>
            <a:off x="4709160" y="2971800"/>
            <a:ext cx="3977640" cy="1417320"/>
          </a:xfrm>
          <a:prstGeom prst="rect">
            <a:avLst/>
          </a:prstGeom>
          <a:solidFill>
            <a:srgbClr val="FFFFFF"/>
          </a:solidFill>
          <a:ln w="12700">
            <a:solidFill>
              <a:srgbClr val="D3DCEA"/>
            </a:solidFill>
            <a:prstDash val="solid"/>
          </a:ln>
        </p:spPr>
      </p:sp>
      <p:sp>
        <p:nvSpPr>
          <p:cNvPr id="23" name="Shape 17"/>
          <p:cNvSpPr/>
          <p:nvPr/>
        </p:nvSpPr>
        <p:spPr>
          <a:xfrm>
            <a:off x="4937760" y="3246120"/>
            <a:ext cx="502920" cy="502920"/>
          </a:xfrm>
          <a:prstGeom prst="ellipse">
            <a:avLst/>
          </a:prstGeom>
          <a:solidFill>
            <a:srgbClr val="154EA1"/>
          </a:solidFill>
          <a:ln w="12700">
            <a:solidFill>
              <a:srgbClr val="154EA1"/>
            </a:solidFill>
            <a:prstDash val="solid"/>
          </a:ln>
        </p:spPr>
      </p:sp>
      <p:pic>
        <p:nvPicPr>
          <p:cNvPr id="24" name="Image 4" descr="preencoded.png">    </p:cNvPr>
          <p:cNvPicPr>
            <a:picLocks noChangeAspect="1"/>
          </p:cNvPicPr>
          <p:nvPr/>
        </p:nvPicPr>
        <p:blipFill>
          <a:blip r:embed="rId5"/>
          <a:stretch>
            <a:fillRect/>
          </a:stretch>
        </p:blipFill>
        <p:spPr>
          <a:xfrm>
            <a:off x="5073548" y="3381908"/>
            <a:ext cx="231343" cy="231343"/>
          </a:xfrm>
          <a:prstGeom prst="rect">
            <a:avLst/>
          </a:prstGeom>
        </p:spPr>
      </p:pic>
      <p:sp>
        <p:nvSpPr>
          <p:cNvPr id="25" name="Text 18"/>
          <p:cNvSpPr txBox="1"/>
          <p:nvPr/>
        </p:nvSpPr>
        <p:spPr>
          <a:xfrm>
            <a:off x="5623560" y="3200400"/>
            <a:ext cx="283464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Repeatable audits</a:t>
            </a:r>
            <a:endParaRPr lang="en-US" sz="1500" dirty="0"/>
          </a:p>
        </p:txBody>
      </p:sp>
      <p:sp>
        <p:nvSpPr>
          <p:cNvPr id="26" name="Text 19"/>
          <p:cNvSpPr txBox="1"/>
          <p:nvPr/>
        </p:nvSpPr>
        <p:spPr>
          <a:xfrm>
            <a:off x="5623560" y="3520440"/>
            <a:ext cx="2834640" cy="777240"/>
          </a:xfrm>
          <a:prstGeom prst="rect">
            <a:avLst/>
          </a:prstGeom>
          <a:noFill/>
          <a:ln/>
        </p:spPr>
        <p:txBody>
          <a:bodyPr wrap="square" lIns="0" tIns="0" rIns="0" bIns="0" rtlCol="0" anchor="t"/>
          <a:lstStyle/>
          <a:p>
            <a:pPr indent="0" marL="0">
              <a:buNone/>
            </a:pPr>
            <a:r>
              <a:rPr lang="en-US" sz="1150" dirty="0">
                <a:solidFill>
                  <a:srgbClr val="444444"/>
                </a:solidFill>
                <a:latin typeface="Arial" pitchFamily="34" charset="0"/>
                <a:ea typeface="Arial" pitchFamily="34" charset="-122"/>
                <a:cs typeface="Arial" pitchFamily="34" charset="-120"/>
              </a:rPr>
              <a:t>A site can be saved once and re-audited from that copy, so results can be compared fairly.</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STAGE 6  ·  30 SEPTEMBER</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Off-page research, run by seven AI agents</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11</a:t>
            </a:r>
            <a:endParaRPr lang="en-US" sz="900" dirty="0"/>
          </a:p>
        </p:txBody>
      </p:sp>
      <p:sp>
        <p:nvSpPr>
          <p:cNvPr id="7" name="Shape 4"/>
          <p:cNvSpPr/>
          <p:nvPr/>
        </p:nvSpPr>
        <p:spPr>
          <a:xfrm>
            <a:off x="457200" y="2340864"/>
            <a:ext cx="960120" cy="640080"/>
          </a:xfrm>
          <a:prstGeom prst="rect">
            <a:avLst/>
          </a:prstGeom>
          <a:solidFill>
            <a:srgbClr val="FFFFFF"/>
          </a:solidFill>
          <a:ln w="12700">
            <a:solidFill>
              <a:srgbClr val="154EA1"/>
            </a:solidFill>
            <a:prstDash val="solid"/>
          </a:ln>
        </p:spPr>
      </p:sp>
      <p:sp>
        <p:nvSpPr>
          <p:cNvPr id="8" name="Text 5"/>
          <p:cNvSpPr txBox="1"/>
          <p:nvPr/>
        </p:nvSpPr>
        <p:spPr>
          <a:xfrm>
            <a:off x="457200" y="2340864"/>
            <a:ext cx="960120" cy="640080"/>
          </a:xfrm>
          <a:prstGeom prst="rect">
            <a:avLst/>
          </a:prstGeom>
          <a:noFill/>
          <a:ln/>
        </p:spPr>
        <p:txBody>
          <a:bodyPr wrap="square" lIns="0" tIns="0" rIns="0" bIns="0" rtlCol="0" anchor="ctr"/>
          <a:lstStyle/>
          <a:p>
            <a:pPr algn="ctr" indent="0" marL="0">
              <a:buNone/>
            </a:pPr>
            <a:r>
              <a:rPr lang="en-US" sz="1100" b="1" dirty="0">
                <a:solidFill>
                  <a:srgbClr val="14213D"/>
                </a:solidFill>
                <a:latin typeface="Arial" pitchFamily="34" charset="0"/>
                <a:ea typeface="Arial" pitchFamily="34" charset="-122"/>
                <a:cs typeface="Arial" pitchFamily="34" charset="-120"/>
              </a:rPr>
              <a:t>Company</a:t>
            </a:r>
            <a:endParaRPr lang="en-US" sz="1100" dirty="0"/>
          </a:p>
          <a:p>
            <a:pPr algn="ctr" indent="0" marL="0">
              <a:buNone/>
            </a:pPr>
            <a:r>
              <a:rPr lang="en-US" sz="1100" b="1" dirty="0">
                <a:solidFill>
                  <a:srgbClr val="14213D"/>
                </a:solidFill>
                <a:latin typeface="Arial" pitchFamily="34" charset="0"/>
                <a:ea typeface="Arial" pitchFamily="34" charset="-122"/>
                <a:cs typeface="Arial" pitchFamily="34" charset="-120"/>
              </a:rPr>
              <a:t>website</a:t>
            </a:r>
            <a:endParaRPr lang="en-US" sz="1100" dirty="0"/>
          </a:p>
        </p:txBody>
      </p:sp>
      <p:sp>
        <p:nvSpPr>
          <p:cNvPr id="9" name="Shape 6"/>
          <p:cNvSpPr/>
          <p:nvPr/>
        </p:nvSpPr>
        <p:spPr>
          <a:xfrm>
            <a:off x="1691640" y="2340864"/>
            <a:ext cx="1143000" cy="640080"/>
          </a:xfrm>
          <a:prstGeom prst="rect">
            <a:avLst/>
          </a:prstGeom>
          <a:solidFill>
            <a:srgbClr val="154EA1"/>
          </a:solidFill>
          <a:ln w="12700">
            <a:solidFill>
              <a:srgbClr val="154EA1"/>
            </a:solidFill>
            <a:prstDash val="solid"/>
          </a:ln>
        </p:spPr>
      </p:sp>
      <p:sp>
        <p:nvSpPr>
          <p:cNvPr id="10" name="Text 7"/>
          <p:cNvSpPr txBox="1"/>
          <p:nvPr/>
        </p:nvSpPr>
        <p:spPr>
          <a:xfrm>
            <a:off x="1691640" y="2340864"/>
            <a:ext cx="114300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Orchestrator</a:t>
            </a:r>
            <a:endParaRPr lang="en-US" sz="1100" dirty="0"/>
          </a:p>
        </p:txBody>
      </p:sp>
      <p:sp>
        <p:nvSpPr>
          <p:cNvPr id="11" name="Shape 8"/>
          <p:cNvSpPr/>
          <p:nvPr/>
        </p:nvSpPr>
        <p:spPr>
          <a:xfrm>
            <a:off x="1417320" y="2660904"/>
            <a:ext cx="274320" cy="0"/>
          </a:xfrm>
          <a:prstGeom prst="line">
            <a:avLst/>
          </a:prstGeom>
          <a:noFill/>
          <a:ln w="12700">
            <a:solidFill>
              <a:srgbClr val="444444"/>
            </a:solidFill>
            <a:prstDash val="solid"/>
            <a:tailEnd type="triangle"/>
          </a:ln>
        </p:spPr>
      </p:sp>
      <p:sp>
        <p:nvSpPr>
          <p:cNvPr id="12" name="Shape 9"/>
          <p:cNvSpPr/>
          <p:nvPr/>
        </p:nvSpPr>
        <p:spPr>
          <a:xfrm>
            <a:off x="3154680" y="1325880"/>
            <a:ext cx="2331720" cy="384048"/>
          </a:xfrm>
          <a:prstGeom prst="rect">
            <a:avLst/>
          </a:prstGeom>
          <a:solidFill>
            <a:srgbClr val="EEF3FA"/>
          </a:solidFill>
          <a:ln w="12700">
            <a:solidFill>
              <a:srgbClr val="EEF3FA"/>
            </a:solidFill>
            <a:prstDash val="solid"/>
          </a:ln>
        </p:spPr>
      </p:sp>
      <p:sp>
        <p:nvSpPr>
          <p:cNvPr id="13" name="Text 10"/>
          <p:cNvSpPr txBox="1"/>
          <p:nvPr/>
        </p:nvSpPr>
        <p:spPr>
          <a:xfrm>
            <a:off x="3264408" y="1353312"/>
            <a:ext cx="2148840" cy="329184"/>
          </a:xfrm>
          <a:prstGeom prst="rect">
            <a:avLst/>
          </a:prstGeom>
          <a:noFill/>
          <a:ln/>
        </p:spPr>
        <p:txBody>
          <a:bodyPr wrap="square" lIns="0" tIns="0" rIns="0" bIns="0" rtlCol="0" anchor="ctr"/>
          <a:lstStyle/>
          <a:p>
            <a:pPr indent="0" marL="0">
              <a:buNone/>
            </a:pPr>
            <a:r>
              <a:rPr lang="en-US" sz="1050" b="1" dirty="0">
                <a:solidFill>
                  <a:srgbClr val="14213D"/>
                </a:solidFill>
                <a:latin typeface="Arial" pitchFamily="34" charset="0"/>
                <a:ea typeface="Arial" pitchFamily="34" charset="-122"/>
                <a:cs typeface="Arial" pitchFamily="34" charset="-120"/>
              </a:rPr>
              <a:t>Knowledge Entity</a:t>
            </a:r>
            <a:endParaRPr lang="en-US" sz="1050" dirty="0"/>
          </a:p>
          <a:p>
            <a:pPr indent="0" marL="0">
              <a:buNone/>
            </a:pPr>
            <a:r>
              <a:rPr lang="en-US" sz="900" dirty="0">
                <a:solidFill>
                  <a:srgbClr val="6B6B6B"/>
                </a:solidFill>
                <a:latin typeface="Arial" pitchFamily="34" charset="0"/>
                <a:ea typeface="Arial" pitchFamily="34" charset="-122"/>
                <a:cs typeface="Arial" pitchFamily="34" charset="-120"/>
              </a:rPr>
              <a:t>Wikipedia, Wikidata</a:t>
            </a:r>
            <a:endParaRPr lang="en-US" sz="1050" dirty="0"/>
          </a:p>
        </p:txBody>
      </p:sp>
      <p:sp>
        <p:nvSpPr>
          <p:cNvPr id="14" name="Shape 11"/>
          <p:cNvSpPr/>
          <p:nvPr/>
        </p:nvSpPr>
        <p:spPr>
          <a:xfrm>
            <a:off x="2834640" y="2660904"/>
            <a:ext cx="320040" cy="-1143000"/>
          </a:xfrm>
          <a:prstGeom prst="line">
            <a:avLst/>
          </a:prstGeom>
          <a:noFill/>
          <a:ln w="12700">
            <a:solidFill>
              <a:srgbClr val="444444"/>
            </a:solidFill>
            <a:prstDash val="solid"/>
            <a:tailEnd type="triangle"/>
          </a:ln>
        </p:spPr>
      </p:sp>
      <p:sp>
        <p:nvSpPr>
          <p:cNvPr id="15" name="Shape 12"/>
          <p:cNvSpPr/>
          <p:nvPr/>
        </p:nvSpPr>
        <p:spPr>
          <a:xfrm>
            <a:off x="5486400" y="1517904"/>
            <a:ext cx="320040" cy="1143000"/>
          </a:xfrm>
          <a:prstGeom prst="line">
            <a:avLst/>
          </a:prstGeom>
          <a:noFill/>
          <a:ln w="12700">
            <a:solidFill>
              <a:srgbClr val="444444"/>
            </a:solidFill>
            <a:prstDash val="solid"/>
            <a:tailEnd type="triangle"/>
          </a:ln>
        </p:spPr>
      </p:sp>
      <p:sp>
        <p:nvSpPr>
          <p:cNvPr id="16" name="Shape 13"/>
          <p:cNvSpPr/>
          <p:nvPr/>
        </p:nvSpPr>
        <p:spPr>
          <a:xfrm>
            <a:off x="3154680" y="1783080"/>
            <a:ext cx="2331720" cy="384048"/>
          </a:xfrm>
          <a:prstGeom prst="rect">
            <a:avLst/>
          </a:prstGeom>
          <a:solidFill>
            <a:srgbClr val="EEF3FA"/>
          </a:solidFill>
          <a:ln w="12700">
            <a:solidFill>
              <a:srgbClr val="EEF3FA"/>
            </a:solidFill>
            <a:prstDash val="solid"/>
          </a:ln>
        </p:spPr>
      </p:sp>
      <p:sp>
        <p:nvSpPr>
          <p:cNvPr id="17" name="Text 14"/>
          <p:cNvSpPr txBox="1"/>
          <p:nvPr/>
        </p:nvSpPr>
        <p:spPr>
          <a:xfrm>
            <a:off x="3264408" y="1810512"/>
            <a:ext cx="2148840" cy="329184"/>
          </a:xfrm>
          <a:prstGeom prst="rect">
            <a:avLst/>
          </a:prstGeom>
          <a:noFill/>
          <a:ln/>
        </p:spPr>
        <p:txBody>
          <a:bodyPr wrap="square" lIns="0" tIns="0" rIns="0" bIns="0" rtlCol="0" anchor="ctr"/>
          <a:lstStyle/>
          <a:p>
            <a:pPr indent="0" marL="0">
              <a:buNone/>
            </a:pPr>
            <a:r>
              <a:rPr lang="en-US" sz="1050" b="1" dirty="0">
                <a:solidFill>
                  <a:srgbClr val="14213D"/>
                </a:solidFill>
                <a:latin typeface="Arial" pitchFamily="34" charset="0"/>
                <a:ea typeface="Arial" pitchFamily="34" charset="-122"/>
                <a:cs typeface="Arial" pitchFamily="34" charset="-120"/>
              </a:rPr>
              <a:t>Company Profile</a:t>
            </a:r>
            <a:endParaRPr lang="en-US" sz="1050" dirty="0"/>
          </a:p>
          <a:p>
            <a:pPr indent="0" marL="0">
              <a:buNone/>
            </a:pPr>
            <a:r>
              <a:rPr lang="en-US" sz="900" dirty="0">
                <a:solidFill>
                  <a:srgbClr val="6B6B6B"/>
                </a:solidFill>
                <a:latin typeface="Arial" pitchFamily="34" charset="0"/>
                <a:ea typeface="Arial" pitchFamily="34" charset="-122"/>
                <a:cs typeface="Arial" pitchFamily="34" charset="-120"/>
              </a:rPr>
              <a:t>Business profiles, directories</a:t>
            </a:r>
            <a:endParaRPr lang="en-US" sz="1050" dirty="0"/>
          </a:p>
        </p:txBody>
      </p:sp>
      <p:sp>
        <p:nvSpPr>
          <p:cNvPr id="18" name="Shape 15"/>
          <p:cNvSpPr/>
          <p:nvPr/>
        </p:nvSpPr>
        <p:spPr>
          <a:xfrm>
            <a:off x="2834640" y="2660904"/>
            <a:ext cx="320040" cy="-685800"/>
          </a:xfrm>
          <a:prstGeom prst="line">
            <a:avLst/>
          </a:prstGeom>
          <a:noFill/>
          <a:ln w="12700">
            <a:solidFill>
              <a:srgbClr val="444444"/>
            </a:solidFill>
            <a:prstDash val="solid"/>
            <a:tailEnd type="triangle"/>
          </a:ln>
        </p:spPr>
      </p:sp>
      <p:sp>
        <p:nvSpPr>
          <p:cNvPr id="19" name="Shape 16"/>
          <p:cNvSpPr/>
          <p:nvPr/>
        </p:nvSpPr>
        <p:spPr>
          <a:xfrm>
            <a:off x="5486400" y="1975104"/>
            <a:ext cx="320040" cy="685800"/>
          </a:xfrm>
          <a:prstGeom prst="line">
            <a:avLst/>
          </a:prstGeom>
          <a:noFill/>
          <a:ln w="12700">
            <a:solidFill>
              <a:srgbClr val="444444"/>
            </a:solidFill>
            <a:prstDash val="solid"/>
            <a:tailEnd type="triangle"/>
          </a:ln>
        </p:spPr>
      </p:sp>
      <p:sp>
        <p:nvSpPr>
          <p:cNvPr id="20" name="Shape 17"/>
          <p:cNvSpPr/>
          <p:nvPr/>
        </p:nvSpPr>
        <p:spPr>
          <a:xfrm>
            <a:off x="3154680" y="2240280"/>
            <a:ext cx="2331720" cy="384048"/>
          </a:xfrm>
          <a:prstGeom prst="rect">
            <a:avLst/>
          </a:prstGeom>
          <a:solidFill>
            <a:srgbClr val="EEF3FA"/>
          </a:solidFill>
          <a:ln w="12700">
            <a:solidFill>
              <a:srgbClr val="EEF3FA"/>
            </a:solidFill>
            <a:prstDash val="solid"/>
          </a:ln>
        </p:spPr>
      </p:sp>
      <p:sp>
        <p:nvSpPr>
          <p:cNvPr id="21" name="Text 18"/>
          <p:cNvSpPr txBox="1"/>
          <p:nvPr/>
        </p:nvSpPr>
        <p:spPr>
          <a:xfrm>
            <a:off x="3264408" y="2267712"/>
            <a:ext cx="2148840" cy="329184"/>
          </a:xfrm>
          <a:prstGeom prst="rect">
            <a:avLst/>
          </a:prstGeom>
          <a:noFill/>
          <a:ln/>
        </p:spPr>
        <p:txBody>
          <a:bodyPr wrap="square" lIns="0" tIns="0" rIns="0" bIns="0" rtlCol="0" anchor="ctr"/>
          <a:lstStyle/>
          <a:p>
            <a:pPr indent="0" marL="0">
              <a:buNone/>
            </a:pPr>
            <a:r>
              <a:rPr lang="en-US" sz="1050" b="1" dirty="0">
                <a:solidFill>
                  <a:srgbClr val="14213D"/>
                </a:solidFill>
                <a:latin typeface="Arial" pitchFamily="34" charset="0"/>
                <a:ea typeface="Arial" pitchFamily="34" charset="-122"/>
                <a:cs typeface="Arial" pitchFamily="34" charset="-120"/>
              </a:rPr>
              <a:t>Certification</a:t>
            </a:r>
            <a:endParaRPr lang="en-US" sz="1050" dirty="0"/>
          </a:p>
          <a:p>
            <a:pPr indent="0" marL="0">
              <a:buNone/>
            </a:pPr>
            <a:r>
              <a:rPr lang="en-US" sz="900" dirty="0">
                <a:solidFill>
                  <a:srgbClr val="6B6B6B"/>
                </a:solidFill>
                <a:latin typeface="Arial" pitchFamily="34" charset="0"/>
                <a:ea typeface="Arial" pitchFamily="34" charset="-122"/>
                <a:cs typeface="Arial" pitchFamily="34" charset="-120"/>
              </a:rPr>
              <a:t>ISO, CMMI, partner tiers</a:t>
            </a:r>
            <a:endParaRPr lang="en-US" sz="1050" dirty="0"/>
          </a:p>
        </p:txBody>
      </p:sp>
      <p:sp>
        <p:nvSpPr>
          <p:cNvPr id="22" name="Shape 19"/>
          <p:cNvSpPr/>
          <p:nvPr/>
        </p:nvSpPr>
        <p:spPr>
          <a:xfrm>
            <a:off x="2834640" y="2660904"/>
            <a:ext cx="320040" cy="-228600"/>
          </a:xfrm>
          <a:prstGeom prst="line">
            <a:avLst/>
          </a:prstGeom>
          <a:noFill/>
          <a:ln w="12700">
            <a:solidFill>
              <a:srgbClr val="444444"/>
            </a:solidFill>
            <a:prstDash val="solid"/>
            <a:tailEnd type="triangle"/>
          </a:ln>
        </p:spPr>
      </p:sp>
      <p:sp>
        <p:nvSpPr>
          <p:cNvPr id="23" name="Shape 20"/>
          <p:cNvSpPr/>
          <p:nvPr/>
        </p:nvSpPr>
        <p:spPr>
          <a:xfrm>
            <a:off x="5486400" y="2432304"/>
            <a:ext cx="320040" cy="228600"/>
          </a:xfrm>
          <a:prstGeom prst="line">
            <a:avLst/>
          </a:prstGeom>
          <a:noFill/>
          <a:ln w="12700">
            <a:solidFill>
              <a:srgbClr val="444444"/>
            </a:solidFill>
            <a:prstDash val="solid"/>
            <a:tailEnd type="triangle"/>
          </a:ln>
        </p:spPr>
      </p:sp>
      <p:sp>
        <p:nvSpPr>
          <p:cNvPr id="24" name="Shape 21"/>
          <p:cNvSpPr/>
          <p:nvPr/>
        </p:nvSpPr>
        <p:spPr>
          <a:xfrm>
            <a:off x="3154680" y="2697480"/>
            <a:ext cx="2331720" cy="384048"/>
          </a:xfrm>
          <a:prstGeom prst="rect">
            <a:avLst/>
          </a:prstGeom>
          <a:solidFill>
            <a:srgbClr val="EEF3FA"/>
          </a:solidFill>
          <a:ln w="12700">
            <a:solidFill>
              <a:srgbClr val="EEF3FA"/>
            </a:solidFill>
            <a:prstDash val="solid"/>
          </a:ln>
        </p:spPr>
      </p:sp>
      <p:sp>
        <p:nvSpPr>
          <p:cNvPr id="25" name="Text 22"/>
          <p:cNvSpPr txBox="1"/>
          <p:nvPr/>
        </p:nvSpPr>
        <p:spPr>
          <a:xfrm>
            <a:off x="3264408" y="2724912"/>
            <a:ext cx="2148840" cy="329184"/>
          </a:xfrm>
          <a:prstGeom prst="rect">
            <a:avLst/>
          </a:prstGeom>
          <a:noFill/>
          <a:ln/>
        </p:spPr>
        <p:txBody>
          <a:bodyPr wrap="square" lIns="0" tIns="0" rIns="0" bIns="0" rtlCol="0" anchor="ctr"/>
          <a:lstStyle/>
          <a:p>
            <a:pPr indent="0" marL="0">
              <a:buNone/>
            </a:pPr>
            <a:r>
              <a:rPr lang="en-US" sz="1050" b="1" dirty="0">
                <a:solidFill>
                  <a:srgbClr val="14213D"/>
                </a:solidFill>
                <a:latin typeface="Arial" pitchFamily="34" charset="0"/>
                <a:ea typeface="Arial" pitchFamily="34" charset="-122"/>
                <a:cs typeface="Arial" pitchFamily="34" charset="-120"/>
              </a:rPr>
              <a:t>Review Intelligence</a:t>
            </a:r>
            <a:endParaRPr lang="en-US" sz="1050" dirty="0"/>
          </a:p>
          <a:p>
            <a:pPr indent="0" marL="0">
              <a:buNone/>
            </a:pPr>
            <a:r>
              <a:rPr lang="en-US" sz="900" dirty="0">
                <a:solidFill>
                  <a:srgbClr val="6B6B6B"/>
                </a:solidFill>
                <a:latin typeface="Arial" pitchFamily="34" charset="0"/>
                <a:ea typeface="Arial" pitchFamily="34" charset="-122"/>
                <a:cs typeface="Arial" pitchFamily="34" charset="-120"/>
              </a:rPr>
              <a:t>Review sites, volume, recency</a:t>
            </a:r>
            <a:endParaRPr lang="en-US" sz="1050" dirty="0"/>
          </a:p>
        </p:txBody>
      </p:sp>
      <p:sp>
        <p:nvSpPr>
          <p:cNvPr id="26" name="Shape 23"/>
          <p:cNvSpPr/>
          <p:nvPr/>
        </p:nvSpPr>
        <p:spPr>
          <a:xfrm>
            <a:off x="2834640" y="2660904"/>
            <a:ext cx="320040" cy="228600"/>
          </a:xfrm>
          <a:prstGeom prst="line">
            <a:avLst/>
          </a:prstGeom>
          <a:noFill/>
          <a:ln w="12700">
            <a:solidFill>
              <a:srgbClr val="444444"/>
            </a:solidFill>
            <a:prstDash val="solid"/>
            <a:tailEnd type="triangle"/>
          </a:ln>
        </p:spPr>
      </p:sp>
      <p:sp>
        <p:nvSpPr>
          <p:cNvPr id="27" name="Shape 24"/>
          <p:cNvSpPr/>
          <p:nvPr/>
        </p:nvSpPr>
        <p:spPr>
          <a:xfrm>
            <a:off x="5486400" y="2889504"/>
            <a:ext cx="320040" cy="-228600"/>
          </a:xfrm>
          <a:prstGeom prst="line">
            <a:avLst/>
          </a:prstGeom>
          <a:noFill/>
          <a:ln w="12700">
            <a:solidFill>
              <a:srgbClr val="444444"/>
            </a:solidFill>
            <a:prstDash val="solid"/>
            <a:tailEnd type="triangle"/>
          </a:ln>
        </p:spPr>
      </p:sp>
      <p:sp>
        <p:nvSpPr>
          <p:cNvPr id="28" name="Shape 25"/>
          <p:cNvSpPr/>
          <p:nvPr/>
        </p:nvSpPr>
        <p:spPr>
          <a:xfrm>
            <a:off x="3154680" y="3154680"/>
            <a:ext cx="2331720" cy="384048"/>
          </a:xfrm>
          <a:prstGeom prst="rect">
            <a:avLst/>
          </a:prstGeom>
          <a:solidFill>
            <a:srgbClr val="EEF3FA"/>
          </a:solidFill>
          <a:ln w="12700">
            <a:solidFill>
              <a:srgbClr val="EEF3FA"/>
            </a:solidFill>
            <a:prstDash val="solid"/>
          </a:ln>
        </p:spPr>
      </p:sp>
      <p:sp>
        <p:nvSpPr>
          <p:cNvPr id="29" name="Text 26"/>
          <p:cNvSpPr txBox="1"/>
          <p:nvPr/>
        </p:nvSpPr>
        <p:spPr>
          <a:xfrm>
            <a:off x="3264408" y="3182112"/>
            <a:ext cx="2148840" cy="329184"/>
          </a:xfrm>
          <a:prstGeom prst="rect">
            <a:avLst/>
          </a:prstGeom>
          <a:noFill/>
          <a:ln/>
        </p:spPr>
        <p:txBody>
          <a:bodyPr wrap="square" lIns="0" tIns="0" rIns="0" bIns="0" rtlCol="0" anchor="ctr"/>
          <a:lstStyle/>
          <a:p>
            <a:pPr indent="0" marL="0">
              <a:buNone/>
            </a:pPr>
            <a:r>
              <a:rPr lang="en-US" sz="1050" b="1" dirty="0">
                <a:solidFill>
                  <a:srgbClr val="14213D"/>
                </a:solidFill>
                <a:latin typeface="Arial" pitchFamily="34" charset="0"/>
                <a:ea typeface="Arial" pitchFamily="34" charset="-122"/>
                <a:cs typeface="Arial" pitchFamily="34" charset="-120"/>
              </a:rPr>
              <a:t>Community Presence</a:t>
            </a:r>
            <a:endParaRPr lang="en-US" sz="1050" dirty="0"/>
          </a:p>
          <a:p>
            <a:pPr indent="0" marL="0">
              <a:buNone/>
            </a:pPr>
            <a:r>
              <a:rPr lang="en-US" sz="900" dirty="0">
                <a:solidFill>
                  <a:srgbClr val="6B6B6B"/>
                </a:solidFill>
                <a:latin typeface="Arial" pitchFamily="34" charset="0"/>
                <a:ea typeface="Arial" pitchFamily="34" charset="-122"/>
                <a:cs typeface="Arial" pitchFamily="34" charset="-120"/>
              </a:rPr>
              <a:t>Reddit, Quora, forums</a:t>
            </a:r>
            <a:endParaRPr lang="en-US" sz="1050" dirty="0"/>
          </a:p>
        </p:txBody>
      </p:sp>
      <p:sp>
        <p:nvSpPr>
          <p:cNvPr id="30" name="Shape 27"/>
          <p:cNvSpPr/>
          <p:nvPr/>
        </p:nvSpPr>
        <p:spPr>
          <a:xfrm>
            <a:off x="2834640" y="2660904"/>
            <a:ext cx="320040" cy="685800"/>
          </a:xfrm>
          <a:prstGeom prst="line">
            <a:avLst/>
          </a:prstGeom>
          <a:noFill/>
          <a:ln w="12700">
            <a:solidFill>
              <a:srgbClr val="444444"/>
            </a:solidFill>
            <a:prstDash val="solid"/>
            <a:tailEnd type="triangle"/>
          </a:ln>
        </p:spPr>
      </p:sp>
      <p:sp>
        <p:nvSpPr>
          <p:cNvPr id="31" name="Shape 28"/>
          <p:cNvSpPr/>
          <p:nvPr/>
        </p:nvSpPr>
        <p:spPr>
          <a:xfrm>
            <a:off x="5486400" y="3346704"/>
            <a:ext cx="320040" cy="-685800"/>
          </a:xfrm>
          <a:prstGeom prst="line">
            <a:avLst/>
          </a:prstGeom>
          <a:noFill/>
          <a:ln w="12700">
            <a:solidFill>
              <a:srgbClr val="444444"/>
            </a:solidFill>
            <a:prstDash val="solid"/>
            <a:tailEnd type="triangle"/>
          </a:ln>
        </p:spPr>
      </p:sp>
      <p:sp>
        <p:nvSpPr>
          <p:cNvPr id="32" name="Shape 29"/>
          <p:cNvSpPr/>
          <p:nvPr/>
        </p:nvSpPr>
        <p:spPr>
          <a:xfrm>
            <a:off x="3154680" y="3611880"/>
            <a:ext cx="2331720" cy="384048"/>
          </a:xfrm>
          <a:prstGeom prst="rect">
            <a:avLst/>
          </a:prstGeom>
          <a:solidFill>
            <a:srgbClr val="EEF3FA"/>
          </a:solidFill>
          <a:ln w="12700">
            <a:solidFill>
              <a:srgbClr val="EEF3FA"/>
            </a:solidFill>
            <a:prstDash val="solid"/>
          </a:ln>
        </p:spPr>
      </p:sp>
      <p:sp>
        <p:nvSpPr>
          <p:cNvPr id="33" name="Text 30"/>
          <p:cNvSpPr txBox="1"/>
          <p:nvPr/>
        </p:nvSpPr>
        <p:spPr>
          <a:xfrm>
            <a:off x="3264408" y="3639312"/>
            <a:ext cx="2148840" cy="329184"/>
          </a:xfrm>
          <a:prstGeom prst="rect">
            <a:avLst/>
          </a:prstGeom>
          <a:noFill/>
          <a:ln/>
        </p:spPr>
        <p:txBody>
          <a:bodyPr wrap="square" lIns="0" tIns="0" rIns="0" bIns="0" rtlCol="0" anchor="ctr"/>
          <a:lstStyle/>
          <a:p>
            <a:pPr indent="0" marL="0">
              <a:buNone/>
            </a:pPr>
            <a:r>
              <a:rPr lang="en-US" sz="1050" b="1" dirty="0">
                <a:solidFill>
                  <a:srgbClr val="14213D"/>
                </a:solidFill>
                <a:latin typeface="Arial" pitchFamily="34" charset="0"/>
                <a:ea typeface="Arial" pitchFamily="34" charset="-122"/>
                <a:cs typeface="Arial" pitchFamily="34" charset="-120"/>
              </a:rPr>
              <a:t>Industry Visibility</a:t>
            </a:r>
            <a:endParaRPr lang="en-US" sz="1050" dirty="0"/>
          </a:p>
          <a:p>
            <a:pPr indent="0" marL="0">
              <a:buNone/>
            </a:pPr>
            <a:r>
              <a:rPr lang="en-US" sz="900" dirty="0">
                <a:solidFill>
                  <a:srgbClr val="6B6B6B"/>
                </a:solidFill>
                <a:latin typeface="Arial" pitchFamily="34" charset="0"/>
                <a:ea typeface="Arial" pitchFamily="34" charset="-122"/>
                <a:cs typeface="Arial" pitchFamily="34" charset="-120"/>
              </a:rPr>
              <a:t>Best-of lists, analysts, press</a:t>
            </a:r>
            <a:endParaRPr lang="en-US" sz="1050" dirty="0"/>
          </a:p>
        </p:txBody>
      </p:sp>
      <p:sp>
        <p:nvSpPr>
          <p:cNvPr id="34" name="Shape 31"/>
          <p:cNvSpPr/>
          <p:nvPr/>
        </p:nvSpPr>
        <p:spPr>
          <a:xfrm>
            <a:off x="2834640" y="2660904"/>
            <a:ext cx="320040" cy="1143000"/>
          </a:xfrm>
          <a:prstGeom prst="line">
            <a:avLst/>
          </a:prstGeom>
          <a:noFill/>
          <a:ln w="12700">
            <a:solidFill>
              <a:srgbClr val="444444"/>
            </a:solidFill>
            <a:prstDash val="solid"/>
            <a:tailEnd type="triangle"/>
          </a:ln>
        </p:spPr>
      </p:sp>
      <p:sp>
        <p:nvSpPr>
          <p:cNvPr id="35" name="Shape 32"/>
          <p:cNvSpPr/>
          <p:nvPr/>
        </p:nvSpPr>
        <p:spPr>
          <a:xfrm>
            <a:off x="5486400" y="3803904"/>
            <a:ext cx="320040" cy="-1143000"/>
          </a:xfrm>
          <a:prstGeom prst="line">
            <a:avLst/>
          </a:prstGeom>
          <a:noFill/>
          <a:ln w="12700">
            <a:solidFill>
              <a:srgbClr val="444444"/>
            </a:solidFill>
            <a:prstDash val="solid"/>
            <a:tailEnd type="triangle"/>
          </a:ln>
        </p:spPr>
      </p:sp>
      <p:sp>
        <p:nvSpPr>
          <p:cNvPr id="36" name="Shape 33"/>
          <p:cNvSpPr/>
          <p:nvPr/>
        </p:nvSpPr>
        <p:spPr>
          <a:xfrm>
            <a:off x="5806440" y="2249424"/>
            <a:ext cx="1280160" cy="822960"/>
          </a:xfrm>
          <a:prstGeom prst="rect">
            <a:avLst/>
          </a:prstGeom>
          <a:solidFill>
            <a:srgbClr val="154EA1"/>
          </a:solidFill>
          <a:ln w="12700">
            <a:solidFill>
              <a:srgbClr val="154EA1"/>
            </a:solidFill>
            <a:prstDash val="solid"/>
          </a:ln>
        </p:spPr>
      </p:sp>
      <p:sp>
        <p:nvSpPr>
          <p:cNvPr id="37" name="Text 34"/>
          <p:cNvSpPr txBox="1"/>
          <p:nvPr/>
        </p:nvSpPr>
        <p:spPr>
          <a:xfrm>
            <a:off x="5806440" y="2249424"/>
            <a:ext cx="1280160" cy="82296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Evidence &amp;</a:t>
            </a:r>
            <a:endParaRPr lang="en-US" sz="1050" dirty="0"/>
          </a:p>
          <a:p>
            <a:pPr algn="ctr" indent="0" marL="0">
              <a:buNone/>
            </a:pPr>
            <a:r>
              <a:rPr lang="en-US" sz="1050" b="1" dirty="0">
                <a:solidFill>
                  <a:srgbClr val="FFFFFF"/>
                </a:solidFill>
                <a:latin typeface="Arial" pitchFamily="34" charset="0"/>
                <a:ea typeface="Arial" pitchFamily="34" charset="-122"/>
                <a:cs typeface="Arial" pitchFamily="34" charset="-120"/>
              </a:rPr>
              <a:t>Validation</a:t>
            </a:r>
            <a:endParaRPr lang="en-US" sz="1050" dirty="0"/>
          </a:p>
          <a:p>
            <a:pPr algn="ctr" indent="0" marL="0">
              <a:buNone/>
            </a:pPr>
            <a:r>
              <a:rPr lang="en-US" sz="1050" b="1" dirty="0">
                <a:solidFill>
                  <a:srgbClr val="FFFFFF"/>
                </a:solidFill>
                <a:latin typeface="Arial" pitchFamily="34" charset="0"/>
                <a:ea typeface="Arial" pitchFamily="34" charset="-122"/>
                <a:cs typeface="Arial" pitchFamily="34" charset="-120"/>
              </a:rPr>
              <a:t>Agent</a:t>
            </a:r>
            <a:endParaRPr lang="en-US" sz="1050" dirty="0"/>
          </a:p>
        </p:txBody>
      </p:sp>
      <p:sp>
        <p:nvSpPr>
          <p:cNvPr id="38" name="Shape 35"/>
          <p:cNvSpPr/>
          <p:nvPr/>
        </p:nvSpPr>
        <p:spPr>
          <a:xfrm>
            <a:off x="7086600" y="2660904"/>
            <a:ext cx="274320" cy="0"/>
          </a:xfrm>
          <a:prstGeom prst="line">
            <a:avLst/>
          </a:prstGeom>
          <a:noFill/>
          <a:ln w="12700">
            <a:solidFill>
              <a:srgbClr val="444444"/>
            </a:solidFill>
            <a:prstDash val="solid"/>
            <a:tailEnd type="triangle"/>
          </a:ln>
        </p:spPr>
      </p:sp>
      <p:sp>
        <p:nvSpPr>
          <p:cNvPr id="39" name="Shape 36"/>
          <p:cNvSpPr/>
          <p:nvPr/>
        </p:nvSpPr>
        <p:spPr>
          <a:xfrm>
            <a:off x="7360920" y="2249424"/>
            <a:ext cx="1325880" cy="822960"/>
          </a:xfrm>
          <a:prstGeom prst="rect">
            <a:avLst/>
          </a:prstGeom>
          <a:solidFill>
            <a:srgbClr val="FFFFFF"/>
          </a:solidFill>
          <a:ln w="12700">
            <a:solidFill>
              <a:srgbClr val="154EA1"/>
            </a:solidFill>
            <a:prstDash val="solid"/>
          </a:ln>
        </p:spPr>
      </p:sp>
      <p:sp>
        <p:nvSpPr>
          <p:cNvPr id="40" name="Text 37"/>
          <p:cNvSpPr txBox="1"/>
          <p:nvPr/>
        </p:nvSpPr>
        <p:spPr>
          <a:xfrm>
            <a:off x="7360920" y="2249424"/>
            <a:ext cx="1325880" cy="822960"/>
          </a:xfrm>
          <a:prstGeom prst="rect">
            <a:avLst/>
          </a:prstGeom>
          <a:noFill/>
          <a:ln/>
        </p:spPr>
        <p:txBody>
          <a:bodyPr wrap="square" lIns="0" tIns="0" rIns="0" bIns="0" rtlCol="0" anchor="ctr"/>
          <a:lstStyle/>
          <a:p>
            <a:pPr algn="ctr" indent="0" marL="0">
              <a:buNone/>
            </a:pPr>
            <a:r>
              <a:rPr lang="en-US" sz="1100" b="1" dirty="0">
                <a:solidFill>
                  <a:srgbClr val="14213D"/>
                </a:solidFill>
                <a:latin typeface="Arial" pitchFamily="34" charset="0"/>
                <a:ea typeface="Arial" pitchFamily="34" charset="-122"/>
                <a:cs typeface="Arial" pitchFamily="34" charset="-120"/>
              </a:rPr>
              <a:t>Scoring</a:t>
            </a:r>
            <a:endParaRPr lang="en-US" sz="1100" dirty="0"/>
          </a:p>
          <a:p>
            <a:pPr algn="ctr" indent="0" marL="0">
              <a:buNone/>
            </a:pPr>
            <a:r>
              <a:rPr lang="en-US" sz="1100" b="1" dirty="0">
                <a:solidFill>
                  <a:srgbClr val="14213D"/>
                </a:solidFill>
                <a:latin typeface="Arial" pitchFamily="34" charset="0"/>
                <a:ea typeface="Arial" pitchFamily="34" charset="-122"/>
                <a:cs typeface="Arial" pitchFamily="34" charset="-120"/>
              </a:rPr>
              <a:t>engine</a:t>
            </a:r>
            <a:endParaRPr lang="en-US" sz="1100" dirty="0"/>
          </a:p>
        </p:txBody>
      </p:sp>
      <p:sp>
        <p:nvSpPr>
          <p:cNvPr id="41" name="Text 38"/>
          <p:cNvSpPr txBox="1"/>
          <p:nvPr/>
        </p:nvSpPr>
        <p:spPr>
          <a:xfrm>
            <a:off x="457200" y="4160520"/>
            <a:ext cx="8229600" cy="502920"/>
          </a:xfrm>
          <a:prstGeom prst="rect">
            <a:avLst/>
          </a:prstGeom>
          <a:noFill/>
          <a:ln/>
        </p:spPr>
        <p:txBody>
          <a:bodyPr wrap="square" lIns="0" tIns="0" rIns="0" bIns="0" rtlCol="0" anchor="t"/>
          <a:lstStyle/>
          <a:p>
            <a:pPr indent="0" marL="0">
              <a:buNone/>
            </a:pPr>
            <a:r>
              <a:rPr lang="en-US" sz="1150" b="1" dirty="0">
                <a:solidFill>
                  <a:srgbClr val="14213D"/>
                </a:solidFill>
                <a:latin typeface="Arial" pitchFamily="34" charset="0"/>
                <a:ea typeface="Arial" pitchFamily="34" charset="-122"/>
                <a:cs typeface="Arial" pitchFamily="34" charset="-120"/>
              </a:rPr>
              <a:t>Agents collect and verify evidence; they never set the score. </a:t>
            </a:r>
            <a:pPr indent="0" marL="0">
              <a:buNone/>
            </a:pPr>
            <a:r>
              <a:rPr lang="en-US" sz="1150" dirty="0">
                <a:solidFill>
                  <a:srgbClr val="444444"/>
                </a:solidFill>
                <a:latin typeface="Arial" pitchFamily="34" charset="0"/>
                <a:ea typeface="Arial" pitchFamily="34" charset="-122"/>
                <a:cs typeface="Arial" pitchFamily="34" charset="-120"/>
              </a:rPr>
              <a:t>The validation agent opens each source to confirm it is really about the company, and every score comes from fixed formulas.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THE PRODUCT TODAY</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What a lead or client sees</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12</a:t>
            </a:r>
            <a:endParaRPr lang="en-US" sz="900" dirty="0"/>
          </a:p>
        </p:txBody>
      </p:sp>
      <p:sp>
        <p:nvSpPr>
          <p:cNvPr id="7" name="Shape 4"/>
          <p:cNvSpPr/>
          <p:nvPr/>
        </p:nvSpPr>
        <p:spPr>
          <a:xfrm>
            <a:off x="457200" y="1325880"/>
            <a:ext cx="2587752" cy="1371600"/>
          </a:xfrm>
          <a:prstGeom prst="rect">
            <a:avLst/>
          </a:prstGeom>
          <a:solidFill>
            <a:srgbClr val="EEF3FA"/>
          </a:solidFill>
          <a:ln w="12700">
            <a:solidFill>
              <a:srgbClr val="EEF3FA"/>
            </a:solidFill>
            <a:prstDash val="solid"/>
          </a:ln>
        </p:spPr>
      </p:sp>
      <p:sp>
        <p:nvSpPr>
          <p:cNvPr id="8" name="Shape 5"/>
          <p:cNvSpPr/>
          <p:nvPr/>
        </p:nvSpPr>
        <p:spPr>
          <a:xfrm>
            <a:off x="658368" y="1527048"/>
            <a:ext cx="411480" cy="411480"/>
          </a:xfrm>
          <a:prstGeom prst="ellipse">
            <a:avLst/>
          </a:prstGeom>
          <a:solidFill>
            <a:srgbClr val="154EA1"/>
          </a:solidFill>
          <a:ln w="12700">
            <a:solidFill>
              <a:srgbClr val="154EA1"/>
            </a:solidFill>
            <a:prstDash val="solid"/>
          </a:ln>
        </p:spPr>
      </p:sp>
      <p:pic>
        <p:nvPicPr>
          <p:cNvPr id="9" name="Image 1" descr="preencoded.png">    </p:cNvPr>
          <p:cNvPicPr>
            <a:picLocks noChangeAspect="1"/>
          </p:cNvPicPr>
          <p:nvPr/>
        </p:nvPicPr>
        <p:blipFill>
          <a:blip r:embed="rId2"/>
          <a:stretch>
            <a:fillRect/>
          </a:stretch>
        </p:blipFill>
        <p:spPr>
          <a:xfrm>
            <a:off x="769468" y="1638148"/>
            <a:ext cx="189281" cy="189281"/>
          </a:xfrm>
          <a:prstGeom prst="rect">
            <a:avLst/>
          </a:prstGeom>
        </p:spPr>
      </p:pic>
      <p:sp>
        <p:nvSpPr>
          <p:cNvPr id="10" name="Text 6"/>
          <p:cNvSpPr txBox="1"/>
          <p:nvPr/>
        </p:nvSpPr>
        <p:spPr>
          <a:xfrm>
            <a:off x="1188720" y="1572768"/>
            <a:ext cx="1719072" cy="32004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Dashboard</a:t>
            </a:r>
            <a:endParaRPr lang="en-US" sz="1300" dirty="0"/>
          </a:p>
        </p:txBody>
      </p:sp>
      <p:sp>
        <p:nvSpPr>
          <p:cNvPr id="11" name="Text 7"/>
          <p:cNvSpPr txBox="1"/>
          <p:nvPr/>
        </p:nvSpPr>
        <p:spPr>
          <a:xfrm>
            <a:off x="658368" y="2039112"/>
            <a:ext cx="2203704" cy="594360"/>
          </a:xfrm>
          <a:prstGeom prst="rect">
            <a:avLst/>
          </a:prstGeom>
          <a:noFill/>
          <a:ln/>
        </p:spPr>
        <p:txBody>
          <a:bodyPr wrap="square" lIns="0" tIns="0" rIns="0" bIns="0" rtlCol="0" anchor="t"/>
          <a:lstStyle/>
          <a:p>
            <a:pPr indent="0" marL="0">
              <a:buNone/>
            </a:pPr>
            <a:r>
              <a:rPr lang="en-US" sz="1050" dirty="0">
                <a:solidFill>
                  <a:srgbClr val="444444"/>
                </a:solidFill>
                <a:latin typeface="Arial" pitchFamily="34" charset="0"/>
                <a:ea typeface="Arial" pitchFamily="34" charset="-122"/>
                <a:cs typeface="Arial" pitchFamily="34" charset="-120"/>
              </a:rPr>
              <a:t>Overall AI Visibility score with its status, and a gauge for each pillar.</a:t>
            </a:r>
            <a:endParaRPr lang="en-US" sz="1050" dirty="0"/>
          </a:p>
        </p:txBody>
      </p:sp>
      <p:sp>
        <p:nvSpPr>
          <p:cNvPr id="12" name="Shape 8"/>
          <p:cNvSpPr/>
          <p:nvPr/>
        </p:nvSpPr>
        <p:spPr>
          <a:xfrm>
            <a:off x="3278124" y="1325880"/>
            <a:ext cx="2587752" cy="1371600"/>
          </a:xfrm>
          <a:prstGeom prst="rect">
            <a:avLst/>
          </a:prstGeom>
          <a:solidFill>
            <a:srgbClr val="EEF3FA"/>
          </a:solidFill>
          <a:ln w="12700">
            <a:solidFill>
              <a:srgbClr val="EEF3FA"/>
            </a:solidFill>
            <a:prstDash val="solid"/>
          </a:ln>
        </p:spPr>
      </p:sp>
      <p:sp>
        <p:nvSpPr>
          <p:cNvPr id="13" name="Shape 9"/>
          <p:cNvSpPr/>
          <p:nvPr/>
        </p:nvSpPr>
        <p:spPr>
          <a:xfrm>
            <a:off x="3479292" y="1527048"/>
            <a:ext cx="411480" cy="411480"/>
          </a:xfrm>
          <a:prstGeom prst="ellipse">
            <a:avLst/>
          </a:prstGeom>
          <a:solidFill>
            <a:srgbClr val="154EA1"/>
          </a:solidFill>
          <a:ln w="12700">
            <a:solidFill>
              <a:srgbClr val="154EA1"/>
            </a:solidFill>
            <a:prstDash val="solid"/>
          </a:ln>
        </p:spPr>
      </p:sp>
      <p:pic>
        <p:nvPicPr>
          <p:cNvPr id="14" name="Image 2" descr="preencoded.png">    </p:cNvPr>
          <p:cNvPicPr>
            <a:picLocks noChangeAspect="1"/>
          </p:cNvPicPr>
          <p:nvPr/>
        </p:nvPicPr>
        <p:blipFill>
          <a:blip r:embed="rId3"/>
          <a:stretch>
            <a:fillRect/>
          </a:stretch>
        </p:blipFill>
        <p:spPr>
          <a:xfrm>
            <a:off x="3590392" y="1638148"/>
            <a:ext cx="189281" cy="189281"/>
          </a:xfrm>
          <a:prstGeom prst="rect">
            <a:avLst/>
          </a:prstGeom>
        </p:spPr>
      </p:pic>
      <p:sp>
        <p:nvSpPr>
          <p:cNvPr id="15" name="Text 10"/>
          <p:cNvSpPr txBox="1"/>
          <p:nvPr/>
        </p:nvSpPr>
        <p:spPr>
          <a:xfrm>
            <a:off x="4009644" y="1572768"/>
            <a:ext cx="1719072" cy="32004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Check-by-check table</a:t>
            </a:r>
            <a:endParaRPr lang="en-US" sz="1300" dirty="0"/>
          </a:p>
        </p:txBody>
      </p:sp>
      <p:sp>
        <p:nvSpPr>
          <p:cNvPr id="16" name="Text 11"/>
          <p:cNvSpPr txBox="1"/>
          <p:nvPr/>
        </p:nvSpPr>
        <p:spPr>
          <a:xfrm>
            <a:off x="3479292" y="2039112"/>
            <a:ext cx="2203704" cy="594360"/>
          </a:xfrm>
          <a:prstGeom prst="rect">
            <a:avLst/>
          </a:prstGeom>
          <a:noFill/>
          <a:ln/>
        </p:spPr>
        <p:txBody>
          <a:bodyPr wrap="square" lIns="0" tIns="0" rIns="0" bIns="0" rtlCol="0" anchor="t"/>
          <a:lstStyle/>
          <a:p>
            <a:pPr indent="0" marL="0">
              <a:buNone/>
            </a:pPr>
            <a:r>
              <a:rPr lang="en-US" sz="1050" dirty="0">
                <a:solidFill>
                  <a:srgbClr val="444444"/>
                </a:solidFill>
                <a:latin typeface="Arial" pitchFamily="34" charset="0"/>
                <a:ea typeface="Arial" pitchFamily="34" charset="-122"/>
                <a:cs typeface="Arial" pitchFamily="34" charset="-120"/>
              </a:rPr>
              <a:t>Every check with its score, issue, recommended fix and citation.</a:t>
            </a:r>
            <a:endParaRPr lang="en-US" sz="1050" dirty="0"/>
          </a:p>
        </p:txBody>
      </p:sp>
      <p:sp>
        <p:nvSpPr>
          <p:cNvPr id="17" name="Shape 12"/>
          <p:cNvSpPr/>
          <p:nvPr/>
        </p:nvSpPr>
        <p:spPr>
          <a:xfrm>
            <a:off x="6099048" y="1325880"/>
            <a:ext cx="2587752" cy="1371600"/>
          </a:xfrm>
          <a:prstGeom prst="rect">
            <a:avLst/>
          </a:prstGeom>
          <a:solidFill>
            <a:srgbClr val="EEF3FA"/>
          </a:solidFill>
          <a:ln w="12700">
            <a:solidFill>
              <a:srgbClr val="EEF3FA"/>
            </a:solidFill>
            <a:prstDash val="solid"/>
          </a:ln>
        </p:spPr>
      </p:sp>
      <p:sp>
        <p:nvSpPr>
          <p:cNvPr id="18" name="Shape 13"/>
          <p:cNvSpPr/>
          <p:nvPr/>
        </p:nvSpPr>
        <p:spPr>
          <a:xfrm>
            <a:off x="6300216" y="1527048"/>
            <a:ext cx="411480" cy="411480"/>
          </a:xfrm>
          <a:prstGeom prst="ellipse">
            <a:avLst/>
          </a:prstGeom>
          <a:solidFill>
            <a:srgbClr val="154EA1"/>
          </a:solidFill>
          <a:ln w="12700">
            <a:solidFill>
              <a:srgbClr val="154EA1"/>
            </a:solidFill>
            <a:prstDash val="solid"/>
          </a:ln>
        </p:spPr>
      </p:sp>
      <p:pic>
        <p:nvPicPr>
          <p:cNvPr id="19" name="Image 3" descr="preencoded.png">    </p:cNvPr>
          <p:cNvPicPr>
            <a:picLocks noChangeAspect="1"/>
          </p:cNvPicPr>
          <p:nvPr/>
        </p:nvPicPr>
        <p:blipFill>
          <a:blip r:embed="rId4"/>
          <a:stretch>
            <a:fillRect/>
          </a:stretch>
        </p:blipFill>
        <p:spPr>
          <a:xfrm>
            <a:off x="6411316" y="1638148"/>
            <a:ext cx="189281" cy="189281"/>
          </a:xfrm>
          <a:prstGeom prst="rect">
            <a:avLst/>
          </a:prstGeom>
        </p:spPr>
      </p:pic>
      <p:sp>
        <p:nvSpPr>
          <p:cNvPr id="20" name="Text 14"/>
          <p:cNvSpPr txBox="1"/>
          <p:nvPr/>
        </p:nvSpPr>
        <p:spPr>
          <a:xfrm>
            <a:off x="6830568" y="1572768"/>
            <a:ext cx="1719072" cy="32004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Score panel</a:t>
            </a:r>
            <a:endParaRPr lang="en-US" sz="1300" dirty="0"/>
          </a:p>
        </p:txBody>
      </p:sp>
      <p:sp>
        <p:nvSpPr>
          <p:cNvPr id="21" name="Text 15"/>
          <p:cNvSpPr txBox="1"/>
          <p:nvPr/>
        </p:nvSpPr>
        <p:spPr>
          <a:xfrm>
            <a:off x="6300216" y="2039112"/>
            <a:ext cx="2203704" cy="594360"/>
          </a:xfrm>
          <a:prstGeom prst="rect">
            <a:avLst/>
          </a:prstGeom>
          <a:noFill/>
          <a:ln/>
        </p:spPr>
        <p:txBody>
          <a:bodyPr wrap="square" lIns="0" tIns="0" rIns="0" bIns="0" rtlCol="0" anchor="t"/>
          <a:lstStyle/>
          <a:p>
            <a:pPr indent="0" marL="0">
              <a:buNone/>
            </a:pPr>
            <a:r>
              <a:rPr lang="en-US" sz="1050" dirty="0">
                <a:solidFill>
                  <a:srgbClr val="444444"/>
                </a:solidFill>
                <a:latin typeface="Arial" pitchFamily="34" charset="0"/>
                <a:ea typeface="Arial" pitchFamily="34" charset="-122"/>
                <a:cs typeface="Arial" pitchFamily="34" charset="-120"/>
              </a:rPr>
              <a:t>Open any check for plain-English "what it checks" and "how it is scored", plus the evidence.</a:t>
            </a:r>
            <a:endParaRPr lang="en-US" sz="1050" dirty="0"/>
          </a:p>
        </p:txBody>
      </p:sp>
      <p:sp>
        <p:nvSpPr>
          <p:cNvPr id="22" name="Shape 16"/>
          <p:cNvSpPr/>
          <p:nvPr/>
        </p:nvSpPr>
        <p:spPr>
          <a:xfrm>
            <a:off x="457200" y="2898648"/>
            <a:ext cx="2587752" cy="1371600"/>
          </a:xfrm>
          <a:prstGeom prst="rect">
            <a:avLst/>
          </a:prstGeom>
          <a:solidFill>
            <a:srgbClr val="EEF3FA"/>
          </a:solidFill>
          <a:ln w="12700">
            <a:solidFill>
              <a:srgbClr val="EEF3FA"/>
            </a:solidFill>
            <a:prstDash val="solid"/>
          </a:ln>
        </p:spPr>
      </p:sp>
      <p:sp>
        <p:nvSpPr>
          <p:cNvPr id="23" name="Shape 17"/>
          <p:cNvSpPr/>
          <p:nvPr/>
        </p:nvSpPr>
        <p:spPr>
          <a:xfrm>
            <a:off x="658368" y="3099816"/>
            <a:ext cx="411480" cy="411480"/>
          </a:xfrm>
          <a:prstGeom prst="ellipse">
            <a:avLst/>
          </a:prstGeom>
          <a:solidFill>
            <a:srgbClr val="154EA1"/>
          </a:solidFill>
          <a:ln w="12700">
            <a:solidFill>
              <a:srgbClr val="154EA1"/>
            </a:solidFill>
            <a:prstDash val="solid"/>
          </a:ln>
        </p:spPr>
      </p:sp>
      <p:pic>
        <p:nvPicPr>
          <p:cNvPr id="24" name="Image 4" descr="preencoded.png">    </p:cNvPr>
          <p:cNvPicPr>
            <a:picLocks noChangeAspect="1"/>
          </p:cNvPicPr>
          <p:nvPr/>
        </p:nvPicPr>
        <p:blipFill>
          <a:blip r:embed="rId5"/>
          <a:stretch>
            <a:fillRect/>
          </a:stretch>
        </p:blipFill>
        <p:spPr>
          <a:xfrm>
            <a:off x="769468" y="3210916"/>
            <a:ext cx="189281" cy="189281"/>
          </a:xfrm>
          <a:prstGeom prst="rect">
            <a:avLst/>
          </a:prstGeom>
        </p:spPr>
      </p:pic>
      <p:sp>
        <p:nvSpPr>
          <p:cNvPr id="25" name="Text 18"/>
          <p:cNvSpPr txBox="1"/>
          <p:nvPr/>
        </p:nvSpPr>
        <p:spPr>
          <a:xfrm>
            <a:off x="1188720" y="3145536"/>
            <a:ext cx="1719072" cy="32004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History</a:t>
            </a:r>
            <a:endParaRPr lang="en-US" sz="1300" dirty="0"/>
          </a:p>
        </p:txBody>
      </p:sp>
      <p:sp>
        <p:nvSpPr>
          <p:cNvPr id="26" name="Text 19"/>
          <p:cNvSpPr txBox="1"/>
          <p:nvPr/>
        </p:nvSpPr>
        <p:spPr>
          <a:xfrm>
            <a:off x="658368" y="3611880"/>
            <a:ext cx="2203704" cy="594360"/>
          </a:xfrm>
          <a:prstGeom prst="rect">
            <a:avLst/>
          </a:prstGeom>
          <a:noFill/>
          <a:ln/>
        </p:spPr>
        <p:txBody>
          <a:bodyPr wrap="square" lIns="0" tIns="0" rIns="0" bIns="0" rtlCol="0" anchor="t"/>
          <a:lstStyle/>
          <a:p>
            <a:pPr indent="0" marL="0">
              <a:buNone/>
            </a:pPr>
            <a:r>
              <a:rPr lang="en-US" sz="1050" dirty="0">
                <a:solidFill>
                  <a:srgbClr val="444444"/>
                </a:solidFill>
                <a:latin typeface="Arial" pitchFamily="34" charset="0"/>
                <a:ea typeface="Arial" pitchFamily="34" charset="-122"/>
                <a:cs typeface="Arial" pitchFamily="34" charset="-120"/>
              </a:rPr>
              <a:t>Earlier audits stay available to revisit and compare.</a:t>
            </a:r>
            <a:endParaRPr lang="en-US" sz="1050" dirty="0"/>
          </a:p>
        </p:txBody>
      </p:sp>
      <p:sp>
        <p:nvSpPr>
          <p:cNvPr id="27" name="Shape 20"/>
          <p:cNvSpPr/>
          <p:nvPr/>
        </p:nvSpPr>
        <p:spPr>
          <a:xfrm>
            <a:off x="3278124" y="2898648"/>
            <a:ext cx="2587752" cy="1371600"/>
          </a:xfrm>
          <a:prstGeom prst="rect">
            <a:avLst/>
          </a:prstGeom>
          <a:solidFill>
            <a:srgbClr val="EEF3FA"/>
          </a:solidFill>
          <a:ln w="12700">
            <a:solidFill>
              <a:srgbClr val="EEF3FA"/>
            </a:solidFill>
            <a:prstDash val="solid"/>
          </a:ln>
        </p:spPr>
      </p:sp>
      <p:sp>
        <p:nvSpPr>
          <p:cNvPr id="28" name="Shape 21"/>
          <p:cNvSpPr/>
          <p:nvPr/>
        </p:nvSpPr>
        <p:spPr>
          <a:xfrm>
            <a:off x="3479292" y="3099816"/>
            <a:ext cx="411480" cy="411480"/>
          </a:xfrm>
          <a:prstGeom prst="ellipse">
            <a:avLst/>
          </a:prstGeom>
          <a:solidFill>
            <a:srgbClr val="154EA1"/>
          </a:solidFill>
          <a:ln w="12700">
            <a:solidFill>
              <a:srgbClr val="154EA1"/>
            </a:solidFill>
            <a:prstDash val="solid"/>
          </a:ln>
        </p:spPr>
      </p:sp>
      <p:pic>
        <p:nvPicPr>
          <p:cNvPr id="29" name="Image 5" descr="preencoded.png">    </p:cNvPr>
          <p:cNvPicPr>
            <a:picLocks noChangeAspect="1"/>
          </p:cNvPicPr>
          <p:nvPr/>
        </p:nvPicPr>
        <p:blipFill>
          <a:blip r:embed="rId6"/>
          <a:stretch>
            <a:fillRect/>
          </a:stretch>
        </p:blipFill>
        <p:spPr>
          <a:xfrm>
            <a:off x="3590392" y="3210916"/>
            <a:ext cx="189281" cy="189281"/>
          </a:xfrm>
          <a:prstGeom prst="rect">
            <a:avLst/>
          </a:prstGeom>
        </p:spPr>
      </p:pic>
      <p:sp>
        <p:nvSpPr>
          <p:cNvPr id="30" name="Text 22"/>
          <p:cNvSpPr txBox="1"/>
          <p:nvPr/>
        </p:nvSpPr>
        <p:spPr>
          <a:xfrm>
            <a:off x="4009644" y="3145536"/>
            <a:ext cx="1719072" cy="32004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Excel workbook</a:t>
            </a:r>
            <a:endParaRPr lang="en-US" sz="1300" dirty="0"/>
          </a:p>
        </p:txBody>
      </p:sp>
      <p:sp>
        <p:nvSpPr>
          <p:cNvPr id="31" name="Text 23"/>
          <p:cNvSpPr txBox="1"/>
          <p:nvPr/>
        </p:nvSpPr>
        <p:spPr>
          <a:xfrm>
            <a:off x="3479292" y="3611880"/>
            <a:ext cx="2203704" cy="594360"/>
          </a:xfrm>
          <a:prstGeom prst="rect">
            <a:avLst/>
          </a:prstGeom>
          <a:noFill/>
          <a:ln/>
        </p:spPr>
        <p:txBody>
          <a:bodyPr wrap="square" lIns="0" tIns="0" rIns="0" bIns="0" rtlCol="0" anchor="t"/>
          <a:lstStyle/>
          <a:p>
            <a:pPr indent="0" marL="0">
              <a:buNone/>
            </a:pPr>
            <a:r>
              <a:rPr lang="en-US" sz="1050" dirty="0">
                <a:solidFill>
                  <a:srgbClr val="444444"/>
                </a:solidFill>
                <a:latin typeface="Arial" pitchFamily="34" charset="0"/>
                <a:ea typeface="Arial" pitchFamily="34" charset="-122"/>
                <a:cs typeface="Arial" pitchFamily="34" charset="-120"/>
              </a:rPr>
              <a:t>Generated on every scan, ready to share.</a:t>
            </a:r>
            <a:endParaRPr lang="en-US" sz="1050" dirty="0"/>
          </a:p>
        </p:txBody>
      </p:sp>
      <p:sp>
        <p:nvSpPr>
          <p:cNvPr id="32" name="Shape 24"/>
          <p:cNvSpPr/>
          <p:nvPr/>
        </p:nvSpPr>
        <p:spPr>
          <a:xfrm>
            <a:off x="6099048" y="2898648"/>
            <a:ext cx="2587752" cy="1371600"/>
          </a:xfrm>
          <a:prstGeom prst="rect">
            <a:avLst/>
          </a:prstGeom>
          <a:solidFill>
            <a:srgbClr val="EEF3FA"/>
          </a:solidFill>
          <a:ln w="12700">
            <a:solidFill>
              <a:srgbClr val="EEF3FA"/>
            </a:solidFill>
            <a:prstDash val="solid"/>
          </a:ln>
        </p:spPr>
      </p:sp>
      <p:sp>
        <p:nvSpPr>
          <p:cNvPr id="33" name="Shape 25"/>
          <p:cNvSpPr/>
          <p:nvPr/>
        </p:nvSpPr>
        <p:spPr>
          <a:xfrm>
            <a:off x="6300216" y="3099816"/>
            <a:ext cx="411480" cy="411480"/>
          </a:xfrm>
          <a:prstGeom prst="ellipse">
            <a:avLst/>
          </a:prstGeom>
          <a:solidFill>
            <a:srgbClr val="154EA1"/>
          </a:solidFill>
          <a:ln w="12700">
            <a:solidFill>
              <a:srgbClr val="154EA1"/>
            </a:solidFill>
            <a:prstDash val="solid"/>
          </a:ln>
        </p:spPr>
      </p:sp>
      <p:pic>
        <p:nvPicPr>
          <p:cNvPr id="34" name="Image 6" descr="preencoded.png">    </p:cNvPr>
          <p:cNvPicPr>
            <a:picLocks noChangeAspect="1"/>
          </p:cNvPicPr>
          <p:nvPr/>
        </p:nvPicPr>
        <p:blipFill>
          <a:blip r:embed="rId7"/>
          <a:stretch>
            <a:fillRect/>
          </a:stretch>
        </p:blipFill>
        <p:spPr>
          <a:xfrm>
            <a:off x="6411316" y="3210916"/>
            <a:ext cx="189281" cy="189281"/>
          </a:xfrm>
          <a:prstGeom prst="rect">
            <a:avLst/>
          </a:prstGeom>
        </p:spPr>
      </p:pic>
      <p:sp>
        <p:nvSpPr>
          <p:cNvPr id="35" name="Text 26"/>
          <p:cNvSpPr txBox="1"/>
          <p:nvPr/>
        </p:nvSpPr>
        <p:spPr>
          <a:xfrm>
            <a:off x="6830568" y="3145536"/>
            <a:ext cx="1719072" cy="32004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PDF report</a:t>
            </a:r>
            <a:endParaRPr lang="en-US" sz="1300" dirty="0"/>
          </a:p>
        </p:txBody>
      </p:sp>
      <p:sp>
        <p:nvSpPr>
          <p:cNvPr id="36" name="Text 27"/>
          <p:cNvSpPr txBox="1"/>
          <p:nvPr/>
        </p:nvSpPr>
        <p:spPr>
          <a:xfrm>
            <a:off x="6300216" y="3611880"/>
            <a:ext cx="2203704" cy="594360"/>
          </a:xfrm>
          <a:prstGeom prst="rect">
            <a:avLst/>
          </a:prstGeom>
          <a:noFill/>
          <a:ln/>
        </p:spPr>
        <p:txBody>
          <a:bodyPr wrap="square" lIns="0" tIns="0" rIns="0" bIns="0" rtlCol="0" anchor="t"/>
          <a:lstStyle/>
          <a:p>
            <a:pPr indent="0" marL="0">
              <a:buNone/>
            </a:pPr>
            <a:r>
              <a:rPr lang="en-US" sz="1050" dirty="0">
                <a:solidFill>
                  <a:srgbClr val="444444"/>
                </a:solidFill>
                <a:latin typeface="Arial" pitchFamily="34" charset="0"/>
                <a:ea typeface="Arial" pitchFamily="34" charset="-122"/>
                <a:cs typeface="Arial" pitchFamily="34" charset="-120"/>
              </a:rPr>
              <a:t>A clean summary to hand to a client.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THEN AND NOW</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How the product has matured</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828800"/>
                <a:gridCol w="2743200"/>
                <a:gridCol w="3657600"/>
              </a:tblGrid>
              <a:tr h="384048">
                <a:tc>
                  <a:txBody>
                    <a:bodyPr/>
                    <a:lstStyle/>
                    <a:p>
                      <a:pPr indent="0" marL="0">
                        <a:buNone/>
                      </a:pPr>
                      <a:r>
                        <a:rPr lang="en-US" sz="1100" b="1" dirty="0">
                          <a:solidFill>
                            <a:srgbClr val="FFFFFF"/>
                          </a:solidFill>
                          <a:latin typeface="Arial" pitchFamily="34" charset="0"/>
                          <a:ea typeface="Arial" pitchFamily="34" charset="-122"/>
                          <a:cs typeface="Arial" pitchFamily="34" charset="-120"/>
                        </a:rPr>
                        <a:t>Area</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solidFill>
                      <a:srgbClr val="154EA1"/>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the start</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solidFill>
                      <a:srgbClr val="154EA1"/>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Today</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solidFill>
                      <a:srgbClr val="154EA1"/>
                    </a:solidFill>
                  </a:tcPr>
                </a:tc>
              </a:tr>
              <a:tr h="384048">
                <a:tc>
                  <a:txBody>
                    <a:bodyPr/>
                    <a:lstStyle/>
                    <a:p>
                      <a:pPr indent="0" marL="0">
                        <a:buNone/>
                      </a:pPr>
                      <a:r>
                        <a:rPr lang="en-US" sz="1100" b="1" dirty="0">
                          <a:solidFill>
                            <a:srgbClr val="14213D"/>
                          </a:solidFill>
                          <a:latin typeface="Arial" pitchFamily="34" charset="0"/>
                          <a:ea typeface="Arial" pitchFamily="34" charset="-122"/>
                          <a:cs typeface="Arial" pitchFamily="34" charset="-120"/>
                        </a:rPr>
                        <a:t>Checks</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62 checks, some overlapping</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51 consolidated checks, numbered cleanly per pillar</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r>
              <a:tr h="384048">
                <a:tc>
                  <a:txBody>
                    <a:bodyPr/>
                    <a:lstStyle/>
                    <a:p>
                      <a:pPr indent="0" marL="0">
                        <a:buNone/>
                      </a:pPr>
                      <a:r>
                        <a:rPr lang="en-US" sz="1100" b="1" dirty="0">
                          <a:solidFill>
                            <a:srgbClr val="14213D"/>
                          </a:solidFill>
                          <a:latin typeface="Arial" pitchFamily="34" charset="0"/>
                          <a:ea typeface="Arial" pitchFamily="34" charset="-122"/>
                          <a:cs typeface="Arial" pitchFamily="34" charset="-120"/>
                        </a:rPr>
                        <a:t>Off-page research</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Direct look-ups</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Seven agents that search, then verify each source</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r>
              <a:tr h="384048">
                <a:tc>
                  <a:txBody>
                    <a:bodyPr/>
                    <a:lstStyle/>
                    <a:p>
                      <a:pPr indent="0" marL="0">
                        <a:buNone/>
                      </a:pPr>
                      <a:r>
                        <a:rPr lang="en-US" sz="1100" b="1" dirty="0">
                          <a:solidFill>
                            <a:srgbClr val="14213D"/>
                          </a:solidFill>
                          <a:latin typeface="Arial" pitchFamily="34" charset="0"/>
                          <a:ea typeface="Arial" pitchFamily="34" charset="-122"/>
                          <a:cs typeface="Arial" pitchFamily="34" charset="-120"/>
                        </a:rPr>
                        <a:t>Scoring</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Keyword matching for judgement calls</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AI for judgement, fixed formulas for the score</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r>
              <a:tr h="384048">
                <a:tc>
                  <a:txBody>
                    <a:bodyPr/>
                    <a:lstStyle/>
                    <a:p>
                      <a:pPr indent="0" marL="0">
                        <a:buNone/>
                      </a:pPr>
                      <a:r>
                        <a:rPr lang="en-US" sz="1100" b="1" dirty="0">
                          <a:solidFill>
                            <a:srgbClr val="14213D"/>
                          </a:solidFill>
                          <a:latin typeface="Arial" pitchFamily="34" charset="0"/>
                          <a:ea typeface="Arial" pitchFamily="34" charset="-122"/>
                          <a:cs typeface="Arial" pitchFamily="34" charset="-120"/>
                        </a:rPr>
                        <a:t>Sources</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A score on its own</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Every score linked to the pages behind it</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r>
              <a:tr h="384048">
                <a:tc>
                  <a:txBody>
                    <a:bodyPr/>
                    <a:lstStyle/>
                    <a:p>
                      <a:pPr indent="0" marL="0">
                        <a:buNone/>
                      </a:pPr>
                      <a:r>
                        <a:rPr lang="en-US" sz="1100" b="1" dirty="0">
                          <a:solidFill>
                            <a:srgbClr val="14213D"/>
                          </a:solidFill>
                          <a:latin typeface="Arial" pitchFamily="34" charset="0"/>
                          <a:ea typeface="Arial" pitchFamily="34" charset="-122"/>
                          <a:cs typeface="Arial" pitchFamily="34" charset="-120"/>
                        </a:rPr>
                        <a:t>Reports</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Exported by hand</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Generated automatically on every scan</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r>
              <a:tr h="384048">
                <a:tc>
                  <a:txBody>
                    <a:bodyPr/>
                    <a:lstStyle/>
                    <a:p>
                      <a:pPr indent="0" marL="0">
                        <a:buNone/>
                      </a:pPr>
                      <a:r>
                        <a:rPr lang="en-US" sz="1100" b="1" dirty="0">
                          <a:solidFill>
                            <a:srgbClr val="14213D"/>
                          </a:solidFill>
                          <a:latin typeface="Arial" pitchFamily="34" charset="0"/>
                          <a:ea typeface="Arial" pitchFamily="34" charset="-122"/>
                          <a:cs typeface="Arial" pitchFamily="34" charset="-120"/>
                        </a:rPr>
                        <a:t>Unscored checks</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Re-run by hand</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Retried automatically before the scan ends</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r>
              <a:tr h="384048">
                <a:tc>
                  <a:txBody>
                    <a:bodyPr/>
                    <a:lstStyle/>
                    <a:p>
                      <a:pPr indent="0" marL="0">
                        <a:buNone/>
                      </a:pPr>
                      <a:r>
                        <a:rPr lang="en-US" sz="1100" b="1" dirty="0">
                          <a:solidFill>
                            <a:srgbClr val="14213D"/>
                          </a:solidFill>
                          <a:latin typeface="Arial" pitchFamily="34" charset="0"/>
                          <a:ea typeface="Arial" pitchFamily="34" charset="-122"/>
                          <a:cs typeface="Arial" pitchFamily="34" charset="-120"/>
                        </a:rPr>
                        <a:t>Quality</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A handful of tests</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408 automated tests, all passing</a:t>
                      </a:r>
                      <a:endParaRPr lang="en-US" sz="1100" dirty="0">
                        <a:latin typeface="Arial" charset="0"/>
                        <a:ea typeface="Arial" charset="0"/>
                        <a:cs typeface="Arial" charset="0"/>
                      </a:endParaRPr>
                    </a:p>
                  </a:txBody>
                  <a:tcPr marL="91440" marR="91440" marT="0" marB="0" anchor="ctr">
                    <a:lnL w="9525" cap="flat" cmpd="sng" algn="ctr">
                      <a:solidFill>
                        <a:srgbClr val="D3DCEA"/>
                      </a:solidFill>
                      <a:prstDash val="solid"/>
                      <a:round/>
                      <a:headEnd type="none" w="med" len="med"/>
                      <a:tailEnd type="none" w="med" len="med"/>
                    </a:lnL>
                    <a:lnR w="9525" cap="flat" cmpd="sng" algn="ctr">
                      <a:solidFill>
                        <a:srgbClr val="D3DCEA"/>
                      </a:solidFill>
                      <a:prstDash val="solid"/>
                      <a:round/>
                      <a:headEnd type="none" w="med" len="med"/>
                      <a:tailEnd type="none" w="med" len="med"/>
                    </a:lnR>
                    <a:lnT w="9525" cap="flat" cmpd="sng" algn="ctr">
                      <a:solidFill>
                        <a:srgbClr val="D3DCEA"/>
                      </a:solidFill>
                      <a:prstDash val="solid"/>
                      <a:round/>
                      <a:headEnd type="none" w="med" len="med"/>
                      <a:tailEnd type="none" w="med" len="med"/>
                    </a:lnT>
                    <a:lnB w="9525" cap="flat" cmpd="sng" algn="ctr">
                      <a:solidFill>
                        <a:srgbClr val="D3DCEA"/>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AT A GLANCE</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The product by the numbers</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14</a:t>
            </a:r>
            <a:endParaRPr lang="en-US" sz="900" dirty="0"/>
          </a:p>
        </p:txBody>
      </p:sp>
      <p:sp>
        <p:nvSpPr>
          <p:cNvPr id="7" name="Text 4"/>
          <p:cNvSpPr txBox="1"/>
          <p:nvPr/>
        </p:nvSpPr>
        <p:spPr>
          <a:xfrm>
            <a:off x="457200" y="1737360"/>
            <a:ext cx="1920240" cy="914400"/>
          </a:xfrm>
          <a:prstGeom prst="rect">
            <a:avLst/>
          </a:prstGeom>
          <a:noFill/>
          <a:ln/>
        </p:spPr>
        <p:txBody>
          <a:bodyPr wrap="square" lIns="0" tIns="0" rIns="0" bIns="0" rtlCol="0" anchor="t"/>
          <a:lstStyle/>
          <a:p>
            <a:pPr indent="0" marL="0">
              <a:buNone/>
            </a:pPr>
            <a:r>
              <a:rPr lang="en-US" sz="6000" b="1" dirty="0">
                <a:solidFill>
                  <a:srgbClr val="154EA1"/>
                </a:solidFill>
                <a:latin typeface="Arial" pitchFamily="34" charset="0"/>
                <a:ea typeface="Arial" pitchFamily="34" charset="-122"/>
                <a:cs typeface="Arial" pitchFamily="34" charset="-120"/>
              </a:rPr>
              <a:t>51</a:t>
            </a:r>
            <a:endParaRPr lang="en-US" sz="6000" dirty="0"/>
          </a:p>
        </p:txBody>
      </p:sp>
      <p:sp>
        <p:nvSpPr>
          <p:cNvPr id="8" name="Text 5"/>
          <p:cNvSpPr txBox="1"/>
          <p:nvPr/>
        </p:nvSpPr>
        <p:spPr>
          <a:xfrm>
            <a:off x="457200" y="2743200"/>
            <a:ext cx="192024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visibility checks</a:t>
            </a:r>
            <a:endParaRPr lang="en-US" sz="1500" dirty="0"/>
          </a:p>
        </p:txBody>
      </p:sp>
      <p:sp>
        <p:nvSpPr>
          <p:cNvPr id="9" name="Text 6"/>
          <p:cNvSpPr txBox="1"/>
          <p:nvPr/>
        </p:nvSpPr>
        <p:spPr>
          <a:xfrm>
            <a:off x="457200" y="3035808"/>
            <a:ext cx="1920240" cy="274320"/>
          </a:xfrm>
          <a:prstGeom prst="rect">
            <a:avLst/>
          </a:prstGeom>
          <a:noFill/>
          <a:ln/>
        </p:spPr>
        <p:txBody>
          <a:bodyPr wrap="square" lIns="0" tIns="0" rIns="0" bIns="0" rtlCol="0" anchor="t"/>
          <a:lstStyle/>
          <a:p>
            <a:pPr indent="0" marL="0">
              <a:buNone/>
            </a:pPr>
            <a:r>
              <a:rPr lang="en-US" sz="1150" dirty="0">
                <a:solidFill>
                  <a:srgbClr val="6B6B6B"/>
                </a:solidFill>
                <a:latin typeface="Arial" pitchFamily="34" charset="0"/>
                <a:ea typeface="Arial" pitchFamily="34" charset="-122"/>
                <a:cs typeface="Arial" pitchFamily="34" charset="-120"/>
              </a:rPr>
              <a:t>across three pillars</a:t>
            </a:r>
            <a:endParaRPr lang="en-US" sz="1150" dirty="0"/>
          </a:p>
        </p:txBody>
      </p:sp>
      <p:sp>
        <p:nvSpPr>
          <p:cNvPr id="10" name="Text 7"/>
          <p:cNvSpPr txBox="1"/>
          <p:nvPr/>
        </p:nvSpPr>
        <p:spPr>
          <a:xfrm>
            <a:off x="2560320" y="1737360"/>
            <a:ext cx="1920240" cy="914400"/>
          </a:xfrm>
          <a:prstGeom prst="rect">
            <a:avLst/>
          </a:prstGeom>
          <a:noFill/>
          <a:ln/>
        </p:spPr>
        <p:txBody>
          <a:bodyPr wrap="square" lIns="0" tIns="0" rIns="0" bIns="0" rtlCol="0" anchor="t"/>
          <a:lstStyle/>
          <a:p>
            <a:pPr indent="0" marL="0">
              <a:buNone/>
            </a:pPr>
            <a:r>
              <a:rPr lang="en-US" sz="6000" b="1" dirty="0">
                <a:solidFill>
                  <a:srgbClr val="154EA1"/>
                </a:solidFill>
                <a:latin typeface="Arial" pitchFamily="34" charset="0"/>
                <a:ea typeface="Arial" pitchFamily="34" charset="-122"/>
                <a:cs typeface="Arial" pitchFamily="34" charset="-120"/>
              </a:rPr>
              <a:t>7</a:t>
            </a:r>
            <a:endParaRPr lang="en-US" sz="6000" dirty="0"/>
          </a:p>
        </p:txBody>
      </p:sp>
      <p:sp>
        <p:nvSpPr>
          <p:cNvPr id="11" name="Text 8"/>
          <p:cNvSpPr txBox="1"/>
          <p:nvPr/>
        </p:nvSpPr>
        <p:spPr>
          <a:xfrm>
            <a:off x="2560320" y="2743200"/>
            <a:ext cx="192024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AI agents</a:t>
            </a:r>
            <a:endParaRPr lang="en-US" sz="1500" dirty="0"/>
          </a:p>
        </p:txBody>
      </p:sp>
      <p:sp>
        <p:nvSpPr>
          <p:cNvPr id="12" name="Text 9"/>
          <p:cNvSpPr txBox="1"/>
          <p:nvPr/>
        </p:nvSpPr>
        <p:spPr>
          <a:xfrm>
            <a:off x="2560320" y="3035808"/>
            <a:ext cx="1920240" cy="274320"/>
          </a:xfrm>
          <a:prstGeom prst="rect">
            <a:avLst/>
          </a:prstGeom>
          <a:noFill/>
          <a:ln/>
        </p:spPr>
        <p:txBody>
          <a:bodyPr wrap="square" lIns="0" tIns="0" rIns="0" bIns="0" rtlCol="0" anchor="t"/>
          <a:lstStyle/>
          <a:p>
            <a:pPr indent="0" marL="0">
              <a:buNone/>
            </a:pPr>
            <a:r>
              <a:rPr lang="en-US" sz="1150" dirty="0">
                <a:solidFill>
                  <a:srgbClr val="6B6B6B"/>
                </a:solidFill>
                <a:latin typeface="Arial" pitchFamily="34" charset="0"/>
                <a:ea typeface="Arial" pitchFamily="34" charset="-122"/>
                <a:cs typeface="Arial" pitchFamily="34" charset="-120"/>
              </a:rPr>
              <a:t>for off-page research</a:t>
            </a:r>
            <a:endParaRPr lang="en-US" sz="1150" dirty="0"/>
          </a:p>
        </p:txBody>
      </p:sp>
      <p:sp>
        <p:nvSpPr>
          <p:cNvPr id="13" name="Shape 10"/>
          <p:cNvSpPr/>
          <p:nvPr/>
        </p:nvSpPr>
        <p:spPr>
          <a:xfrm>
            <a:off x="2468880" y="1828800"/>
            <a:ext cx="0" cy="1463040"/>
          </a:xfrm>
          <a:prstGeom prst="line">
            <a:avLst/>
          </a:prstGeom>
          <a:noFill/>
          <a:ln w="12700">
            <a:solidFill>
              <a:srgbClr val="D3DCEA"/>
            </a:solidFill>
            <a:prstDash val="solid"/>
          </a:ln>
        </p:spPr>
      </p:sp>
      <p:sp>
        <p:nvSpPr>
          <p:cNvPr id="14" name="Text 11"/>
          <p:cNvSpPr txBox="1"/>
          <p:nvPr/>
        </p:nvSpPr>
        <p:spPr>
          <a:xfrm>
            <a:off x="4663440" y="1737360"/>
            <a:ext cx="1920240" cy="914400"/>
          </a:xfrm>
          <a:prstGeom prst="rect">
            <a:avLst/>
          </a:prstGeom>
          <a:noFill/>
          <a:ln/>
        </p:spPr>
        <p:txBody>
          <a:bodyPr wrap="square" lIns="0" tIns="0" rIns="0" bIns="0" rtlCol="0" anchor="t"/>
          <a:lstStyle/>
          <a:p>
            <a:pPr indent="0" marL="0">
              <a:buNone/>
            </a:pPr>
            <a:r>
              <a:rPr lang="en-US" sz="6000" b="1" dirty="0">
                <a:solidFill>
                  <a:srgbClr val="154EA1"/>
                </a:solidFill>
                <a:latin typeface="Arial" pitchFamily="34" charset="0"/>
                <a:ea typeface="Arial" pitchFamily="34" charset="-122"/>
                <a:cs typeface="Arial" pitchFamily="34" charset="-120"/>
              </a:rPr>
              <a:t>408</a:t>
            </a:r>
            <a:endParaRPr lang="en-US" sz="6000" dirty="0"/>
          </a:p>
        </p:txBody>
      </p:sp>
      <p:sp>
        <p:nvSpPr>
          <p:cNvPr id="15" name="Text 12"/>
          <p:cNvSpPr txBox="1"/>
          <p:nvPr/>
        </p:nvSpPr>
        <p:spPr>
          <a:xfrm>
            <a:off x="4663440" y="2743200"/>
            <a:ext cx="192024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automated tests</a:t>
            </a:r>
            <a:endParaRPr lang="en-US" sz="1500" dirty="0"/>
          </a:p>
        </p:txBody>
      </p:sp>
      <p:sp>
        <p:nvSpPr>
          <p:cNvPr id="16" name="Text 13"/>
          <p:cNvSpPr txBox="1"/>
          <p:nvPr/>
        </p:nvSpPr>
        <p:spPr>
          <a:xfrm>
            <a:off x="4663440" y="3035808"/>
            <a:ext cx="1920240" cy="274320"/>
          </a:xfrm>
          <a:prstGeom prst="rect">
            <a:avLst/>
          </a:prstGeom>
          <a:noFill/>
          <a:ln/>
        </p:spPr>
        <p:txBody>
          <a:bodyPr wrap="square" lIns="0" tIns="0" rIns="0" bIns="0" rtlCol="0" anchor="t"/>
          <a:lstStyle/>
          <a:p>
            <a:pPr indent="0" marL="0">
              <a:buNone/>
            </a:pPr>
            <a:r>
              <a:rPr lang="en-US" sz="1150" dirty="0">
                <a:solidFill>
                  <a:srgbClr val="6B6B6B"/>
                </a:solidFill>
                <a:latin typeface="Arial" pitchFamily="34" charset="0"/>
                <a:ea typeface="Arial" pitchFamily="34" charset="-122"/>
                <a:cs typeface="Arial" pitchFamily="34" charset="-120"/>
              </a:rPr>
              <a:t>all passing today</a:t>
            </a:r>
            <a:endParaRPr lang="en-US" sz="1150" dirty="0"/>
          </a:p>
        </p:txBody>
      </p:sp>
      <p:sp>
        <p:nvSpPr>
          <p:cNvPr id="17" name="Shape 14"/>
          <p:cNvSpPr/>
          <p:nvPr/>
        </p:nvSpPr>
        <p:spPr>
          <a:xfrm>
            <a:off x="4572000" y="1828800"/>
            <a:ext cx="0" cy="1463040"/>
          </a:xfrm>
          <a:prstGeom prst="line">
            <a:avLst/>
          </a:prstGeom>
          <a:noFill/>
          <a:ln w="12700">
            <a:solidFill>
              <a:srgbClr val="D3DCEA"/>
            </a:solidFill>
            <a:prstDash val="solid"/>
          </a:ln>
        </p:spPr>
      </p:sp>
      <p:sp>
        <p:nvSpPr>
          <p:cNvPr id="18" name="Text 15"/>
          <p:cNvSpPr txBox="1"/>
          <p:nvPr/>
        </p:nvSpPr>
        <p:spPr>
          <a:xfrm>
            <a:off x="6766560" y="1737360"/>
            <a:ext cx="1920240" cy="914400"/>
          </a:xfrm>
          <a:prstGeom prst="rect">
            <a:avLst/>
          </a:prstGeom>
          <a:noFill/>
          <a:ln/>
        </p:spPr>
        <p:txBody>
          <a:bodyPr wrap="square" lIns="0" tIns="0" rIns="0" bIns="0" rtlCol="0" anchor="t"/>
          <a:lstStyle/>
          <a:p>
            <a:pPr indent="0" marL="0">
              <a:buNone/>
            </a:pPr>
            <a:r>
              <a:rPr lang="en-US" sz="6000" b="1" dirty="0">
                <a:solidFill>
                  <a:srgbClr val="154EA1"/>
                </a:solidFill>
                <a:latin typeface="Arial" pitchFamily="34" charset="0"/>
                <a:ea typeface="Arial" pitchFamily="34" charset="-122"/>
                <a:cs typeface="Arial" pitchFamily="34" charset="-120"/>
              </a:rPr>
              <a:t>6</a:t>
            </a:r>
            <a:endParaRPr lang="en-US" sz="6000" dirty="0"/>
          </a:p>
        </p:txBody>
      </p:sp>
      <p:sp>
        <p:nvSpPr>
          <p:cNvPr id="19" name="Text 16"/>
          <p:cNvSpPr txBox="1"/>
          <p:nvPr/>
        </p:nvSpPr>
        <p:spPr>
          <a:xfrm>
            <a:off x="6766560" y="2743200"/>
            <a:ext cx="1920240" cy="292608"/>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weeks</a:t>
            </a:r>
            <a:endParaRPr lang="en-US" sz="1500" dirty="0"/>
          </a:p>
        </p:txBody>
      </p:sp>
      <p:sp>
        <p:nvSpPr>
          <p:cNvPr id="20" name="Text 17"/>
          <p:cNvSpPr txBox="1"/>
          <p:nvPr/>
        </p:nvSpPr>
        <p:spPr>
          <a:xfrm>
            <a:off x="6766560" y="3035808"/>
            <a:ext cx="1920240" cy="274320"/>
          </a:xfrm>
          <a:prstGeom prst="rect">
            <a:avLst/>
          </a:prstGeom>
          <a:noFill/>
          <a:ln/>
        </p:spPr>
        <p:txBody>
          <a:bodyPr wrap="square" lIns="0" tIns="0" rIns="0" bIns="0" rtlCol="0" anchor="t"/>
          <a:lstStyle/>
          <a:p>
            <a:pPr indent="0" marL="0">
              <a:buNone/>
            </a:pPr>
            <a:r>
              <a:rPr lang="en-US" sz="1150" dirty="0">
                <a:solidFill>
                  <a:srgbClr val="6B6B6B"/>
                </a:solidFill>
                <a:latin typeface="Arial" pitchFamily="34" charset="0"/>
                <a:ea typeface="Arial" pitchFamily="34" charset="-122"/>
                <a:cs typeface="Arial" pitchFamily="34" charset="-120"/>
              </a:rPr>
              <a:t>from first build to agents</a:t>
            </a:r>
            <a:endParaRPr lang="en-US" sz="1150" dirty="0"/>
          </a:p>
        </p:txBody>
      </p:sp>
      <p:sp>
        <p:nvSpPr>
          <p:cNvPr id="21" name="Shape 18"/>
          <p:cNvSpPr/>
          <p:nvPr/>
        </p:nvSpPr>
        <p:spPr>
          <a:xfrm>
            <a:off x="6675120" y="1828800"/>
            <a:ext cx="0" cy="1463040"/>
          </a:xfrm>
          <a:prstGeom prst="line">
            <a:avLst/>
          </a:prstGeom>
          <a:noFill/>
          <a:ln w="12700">
            <a:solidFill>
              <a:srgbClr val="D3DCEA"/>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154EA1"/>
                </a:solidFill>
                <a:latin typeface="Arial" pitchFamily="34" charset="0"/>
                <a:ea typeface="Arial" pitchFamily="34" charset="-122"/>
                <a:cs typeface="Arial" pitchFamily="34" charset="-120"/>
              </a:rPr>
              <a:t>LIVE DEMO AND WHAT COMES NEXT</a:t>
            </a:r>
            <a:endParaRPr lang="en-US" sz="1000" dirty="0"/>
          </a:p>
        </p:txBody>
      </p:sp>
      <p:pic>
        <p:nvPicPr>
          <p:cNvPr id="3" name="Image 0" descr="preencoded.png">    </p:cNvPr>
          <p:cNvPicPr>
            <a:picLocks noChangeAspect="1"/>
          </p:cNvPicPr>
          <p:nvPr/>
        </p:nvPicPr>
        <p:blipFill>
          <a:blip r:embed="rId1"/>
          <a:stretch>
            <a:fillRect/>
          </a:stretch>
        </p:blipFill>
        <p:spPr>
          <a:xfrm>
            <a:off x="8229600" y="329184"/>
            <a:ext cx="457200" cy="402336"/>
          </a:xfrm>
          <a:prstGeom prst="rect">
            <a:avLst/>
          </a:prstGeom>
        </p:spPr>
      </p:pic>
      <p:sp>
        <p:nvSpPr>
          <p:cNvPr id="4"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Demo walkthrough and next steps</a:t>
            </a:r>
            <a:endParaRPr lang="en-US" sz="2800" dirty="0"/>
          </a:p>
        </p:txBody>
      </p:sp>
      <p:sp>
        <p:nvSpPr>
          <p:cNvPr id="5"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6"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15</a:t>
            </a:r>
            <a:endParaRPr lang="en-US" sz="900" dirty="0"/>
          </a:p>
        </p:txBody>
      </p:sp>
      <p:sp>
        <p:nvSpPr>
          <p:cNvPr id="7" name="Text 4"/>
          <p:cNvSpPr txBox="1"/>
          <p:nvPr/>
        </p:nvSpPr>
        <p:spPr>
          <a:xfrm>
            <a:off x="457200" y="1325880"/>
            <a:ext cx="3840480" cy="228600"/>
          </a:xfrm>
          <a:prstGeom prst="rect">
            <a:avLst/>
          </a:prstGeom>
          <a:noFill/>
          <a:ln/>
        </p:spPr>
        <p:txBody>
          <a:bodyPr wrap="square" lIns="0" tIns="0" rIns="0" bIns="0" rtlCol="0" anchor="t"/>
          <a:lstStyle/>
          <a:p>
            <a:pPr indent="0" marL="0">
              <a:buNone/>
            </a:pPr>
            <a:r>
              <a:rPr lang="en-US" sz="1000" b="1" spc="300" kern="0" dirty="0">
                <a:solidFill>
                  <a:srgbClr val="154EA1"/>
                </a:solidFill>
                <a:latin typeface="Arial" pitchFamily="34" charset="0"/>
                <a:ea typeface="Arial" pitchFamily="34" charset="-122"/>
                <a:cs typeface="Arial" pitchFamily="34" charset="-120"/>
              </a:rPr>
              <a:t>LIVE DEMO</a:t>
            </a:r>
            <a:endParaRPr lang="en-US" sz="1000" dirty="0"/>
          </a:p>
        </p:txBody>
      </p:sp>
      <p:sp>
        <p:nvSpPr>
          <p:cNvPr id="8" name="Shape 5"/>
          <p:cNvSpPr/>
          <p:nvPr/>
        </p:nvSpPr>
        <p:spPr>
          <a:xfrm>
            <a:off x="457200" y="1691640"/>
            <a:ext cx="347472" cy="347472"/>
          </a:xfrm>
          <a:prstGeom prst="ellipse">
            <a:avLst/>
          </a:prstGeom>
          <a:solidFill>
            <a:srgbClr val="154EA1"/>
          </a:solidFill>
          <a:ln w="12700">
            <a:solidFill>
              <a:srgbClr val="154EA1"/>
            </a:solidFill>
            <a:prstDash val="solid"/>
          </a:ln>
        </p:spPr>
      </p:sp>
      <p:sp>
        <p:nvSpPr>
          <p:cNvPr id="9" name="Text 6"/>
          <p:cNvSpPr txBox="1"/>
          <p:nvPr/>
        </p:nvSpPr>
        <p:spPr>
          <a:xfrm>
            <a:off x="457200" y="16916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7"/>
          <p:cNvSpPr txBox="1"/>
          <p:nvPr/>
        </p:nvSpPr>
        <p:spPr>
          <a:xfrm>
            <a:off x="960120" y="1691640"/>
            <a:ext cx="3383280" cy="347472"/>
          </a:xfrm>
          <a:prstGeom prst="rect">
            <a:avLst/>
          </a:prstGeom>
          <a:noFill/>
          <a:ln/>
        </p:spPr>
        <p:txBody>
          <a:bodyPr wrap="square" lIns="0" tIns="0" rIns="0" bIns="0" rtlCol="0" anchor="ctr"/>
          <a:lstStyle/>
          <a:p>
            <a:pPr indent="0" marL="0">
              <a:buNone/>
            </a:pPr>
            <a:r>
              <a:rPr lang="en-US" sz="1200" dirty="0">
                <a:solidFill>
                  <a:srgbClr val="222222"/>
                </a:solidFill>
                <a:latin typeface="Arial" pitchFamily="34" charset="0"/>
                <a:ea typeface="Arial" pitchFamily="34" charset="-122"/>
                <a:cs typeface="Arial" pitchFamily="34" charset="-120"/>
              </a:rPr>
              <a:t>Enter a website and start the audit</a:t>
            </a:r>
            <a:endParaRPr lang="en-US" sz="1200" dirty="0"/>
          </a:p>
        </p:txBody>
      </p:sp>
      <p:sp>
        <p:nvSpPr>
          <p:cNvPr id="11" name="Shape 8"/>
          <p:cNvSpPr/>
          <p:nvPr/>
        </p:nvSpPr>
        <p:spPr>
          <a:xfrm>
            <a:off x="457200" y="2240280"/>
            <a:ext cx="347472" cy="347472"/>
          </a:xfrm>
          <a:prstGeom prst="ellipse">
            <a:avLst/>
          </a:prstGeom>
          <a:solidFill>
            <a:srgbClr val="154EA1"/>
          </a:solidFill>
          <a:ln w="12700">
            <a:solidFill>
              <a:srgbClr val="154EA1"/>
            </a:solidFill>
            <a:prstDash val="solid"/>
          </a:ln>
        </p:spPr>
      </p:sp>
      <p:sp>
        <p:nvSpPr>
          <p:cNvPr id="12" name="Text 9"/>
          <p:cNvSpPr txBox="1"/>
          <p:nvPr/>
        </p:nvSpPr>
        <p:spPr>
          <a:xfrm>
            <a:off x="457200" y="22402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 name="Text 10"/>
          <p:cNvSpPr txBox="1"/>
          <p:nvPr/>
        </p:nvSpPr>
        <p:spPr>
          <a:xfrm>
            <a:off x="960120" y="2240280"/>
            <a:ext cx="3383280" cy="347472"/>
          </a:xfrm>
          <a:prstGeom prst="rect">
            <a:avLst/>
          </a:prstGeom>
          <a:noFill/>
          <a:ln/>
        </p:spPr>
        <p:txBody>
          <a:bodyPr wrap="square" lIns="0" tIns="0" rIns="0" bIns="0" rtlCol="0" anchor="ctr"/>
          <a:lstStyle/>
          <a:p>
            <a:pPr indent="0" marL="0">
              <a:buNone/>
            </a:pPr>
            <a:r>
              <a:rPr lang="en-US" sz="1200" dirty="0">
                <a:solidFill>
                  <a:srgbClr val="222222"/>
                </a:solidFill>
                <a:latin typeface="Arial" pitchFamily="34" charset="0"/>
                <a:ea typeface="Arial" pitchFamily="34" charset="-122"/>
                <a:cs typeface="Arial" pitchFamily="34" charset="-120"/>
              </a:rPr>
              <a:t>Follow progress as pages are read and checks scored</a:t>
            </a:r>
            <a:endParaRPr lang="en-US" sz="1200" dirty="0"/>
          </a:p>
        </p:txBody>
      </p:sp>
      <p:sp>
        <p:nvSpPr>
          <p:cNvPr id="14" name="Shape 11"/>
          <p:cNvSpPr/>
          <p:nvPr/>
        </p:nvSpPr>
        <p:spPr>
          <a:xfrm>
            <a:off x="457200" y="2788920"/>
            <a:ext cx="347472" cy="347472"/>
          </a:xfrm>
          <a:prstGeom prst="ellipse">
            <a:avLst/>
          </a:prstGeom>
          <a:solidFill>
            <a:srgbClr val="154EA1"/>
          </a:solidFill>
          <a:ln w="12700">
            <a:solidFill>
              <a:srgbClr val="154EA1"/>
            </a:solidFill>
            <a:prstDash val="solid"/>
          </a:ln>
        </p:spPr>
      </p:sp>
      <p:sp>
        <p:nvSpPr>
          <p:cNvPr id="15" name="Text 12"/>
          <p:cNvSpPr txBox="1"/>
          <p:nvPr/>
        </p:nvSpPr>
        <p:spPr>
          <a:xfrm>
            <a:off x="457200" y="27889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3"/>
          <p:cNvSpPr txBox="1"/>
          <p:nvPr/>
        </p:nvSpPr>
        <p:spPr>
          <a:xfrm>
            <a:off x="960120" y="2788920"/>
            <a:ext cx="3383280" cy="347472"/>
          </a:xfrm>
          <a:prstGeom prst="rect">
            <a:avLst/>
          </a:prstGeom>
          <a:noFill/>
          <a:ln/>
        </p:spPr>
        <p:txBody>
          <a:bodyPr wrap="square" lIns="0" tIns="0" rIns="0" bIns="0" rtlCol="0" anchor="ctr"/>
          <a:lstStyle/>
          <a:p>
            <a:pPr indent="0" marL="0">
              <a:buNone/>
            </a:pPr>
            <a:r>
              <a:rPr lang="en-US" sz="1200" dirty="0">
                <a:solidFill>
                  <a:srgbClr val="222222"/>
                </a:solidFill>
                <a:latin typeface="Arial" pitchFamily="34" charset="0"/>
                <a:ea typeface="Arial" pitchFamily="34" charset="-122"/>
                <a:cs typeface="Arial" pitchFamily="34" charset="-120"/>
              </a:rPr>
              <a:t>Review the overall and pillar scores</a:t>
            </a:r>
            <a:endParaRPr lang="en-US" sz="1200" dirty="0"/>
          </a:p>
        </p:txBody>
      </p:sp>
      <p:sp>
        <p:nvSpPr>
          <p:cNvPr id="17" name="Shape 14"/>
          <p:cNvSpPr/>
          <p:nvPr/>
        </p:nvSpPr>
        <p:spPr>
          <a:xfrm>
            <a:off x="457200" y="3337560"/>
            <a:ext cx="347472" cy="347472"/>
          </a:xfrm>
          <a:prstGeom prst="ellipse">
            <a:avLst/>
          </a:prstGeom>
          <a:solidFill>
            <a:srgbClr val="154EA1"/>
          </a:solidFill>
          <a:ln w="12700">
            <a:solidFill>
              <a:srgbClr val="154EA1"/>
            </a:solidFill>
            <a:prstDash val="solid"/>
          </a:ln>
        </p:spPr>
      </p:sp>
      <p:sp>
        <p:nvSpPr>
          <p:cNvPr id="18" name="Text 15"/>
          <p:cNvSpPr txBox="1"/>
          <p:nvPr/>
        </p:nvSpPr>
        <p:spPr>
          <a:xfrm>
            <a:off x="457200" y="33375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9" name="Text 16"/>
          <p:cNvSpPr txBox="1"/>
          <p:nvPr/>
        </p:nvSpPr>
        <p:spPr>
          <a:xfrm>
            <a:off x="960120" y="3337560"/>
            <a:ext cx="3383280" cy="347472"/>
          </a:xfrm>
          <a:prstGeom prst="rect">
            <a:avLst/>
          </a:prstGeom>
          <a:noFill/>
          <a:ln/>
        </p:spPr>
        <p:txBody>
          <a:bodyPr wrap="square" lIns="0" tIns="0" rIns="0" bIns="0" rtlCol="0" anchor="ctr"/>
          <a:lstStyle/>
          <a:p>
            <a:pPr indent="0" marL="0">
              <a:buNone/>
            </a:pPr>
            <a:r>
              <a:rPr lang="en-US" sz="1200" dirty="0">
                <a:solidFill>
                  <a:srgbClr val="222222"/>
                </a:solidFill>
                <a:latin typeface="Arial" pitchFamily="34" charset="0"/>
                <a:ea typeface="Arial" pitchFamily="34" charset="-122"/>
                <a:cs typeface="Arial" pitchFamily="34" charset="-120"/>
              </a:rPr>
              <a:t>Open a check: evidence, sources and the fix</a:t>
            </a:r>
            <a:endParaRPr lang="en-US" sz="1200" dirty="0"/>
          </a:p>
        </p:txBody>
      </p:sp>
      <p:sp>
        <p:nvSpPr>
          <p:cNvPr id="20" name="Shape 17"/>
          <p:cNvSpPr/>
          <p:nvPr/>
        </p:nvSpPr>
        <p:spPr>
          <a:xfrm>
            <a:off x="457200" y="3886200"/>
            <a:ext cx="347472" cy="347472"/>
          </a:xfrm>
          <a:prstGeom prst="ellipse">
            <a:avLst/>
          </a:prstGeom>
          <a:solidFill>
            <a:srgbClr val="154EA1"/>
          </a:solidFill>
          <a:ln w="12700">
            <a:solidFill>
              <a:srgbClr val="154EA1"/>
            </a:solidFill>
            <a:prstDash val="solid"/>
          </a:ln>
        </p:spPr>
      </p:sp>
      <p:sp>
        <p:nvSpPr>
          <p:cNvPr id="21" name="Text 18"/>
          <p:cNvSpPr txBox="1"/>
          <p:nvPr/>
        </p:nvSpPr>
        <p:spPr>
          <a:xfrm>
            <a:off x="457200" y="38862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2" name="Text 19"/>
          <p:cNvSpPr txBox="1"/>
          <p:nvPr/>
        </p:nvSpPr>
        <p:spPr>
          <a:xfrm>
            <a:off x="960120" y="3886200"/>
            <a:ext cx="3383280" cy="347472"/>
          </a:xfrm>
          <a:prstGeom prst="rect">
            <a:avLst/>
          </a:prstGeom>
          <a:noFill/>
          <a:ln/>
        </p:spPr>
        <p:txBody>
          <a:bodyPr wrap="square" lIns="0" tIns="0" rIns="0" bIns="0" rtlCol="0" anchor="ctr"/>
          <a:lstStyle/>
          <a:p>
            <a:pPr indent="0" marL="0">
              <a:buNone/>
            </a:pPr>
            <a:r>
              <a:rPr lang="en-US" sz="1200" dirty="0">
                <a:solidFill>
                  <a:srgbClr val="222222"/>
                </a:solidFill>
                <a:latin typeface="Arial" pitchFamily="34" charset="0"/>
                <a:ea typeface="Arial" pitchFamily="34" charset="-122"/>
                <a:cs typeface="Arial" pitchFamily="34" charset="-120"/>
              </a:rPr>
              <a:t>Open the Excel workbook and PDF</a:t>
            </a:r>
            <a:endParaRPr lang="en-US" sz="1200" dirty="0"/>
          </a:p>
        </p:txBody>
      </p:sp>
      <p:sp>
        <p:nvSpPr>
          <p:cNvPr id="23" name="Shape 20"/>
          <p:cNvSpPr/>
          <p:nvPr/>
        </p:nvSpPr>
        <p:spPr>
          <a:xfrm>
            <a:off x="4754880" y="1325880"/>
            <a:ext cx="3931920" cy="3200400"/>
          </a:xfrm>
          <a:prstGeom prst="rect">
            <a:avLst/>
          </a:prstGeom>
          <a:solidFill>
            <a:srgbClr val="EEF3FA"/>
          </a:solidFill>
          <a:ln w="12700">
            <a:solidFill>
              <a:srgbClr val="EEF3FA"/>
            </a:solidFill>
            <a:prstDash val="solid"/>
          </a:ln>
        </p:spPr>
      </p:sp>
      <p:sp>
        <p:nvSpPr>
          <p:cNvPr id="24" name="Text 21"/>
          <p:cNvSpPr txBox="1"/>
          <p:nvPr/>
        </p:nvSpPr>
        <p:spPr>
          <a:xfrm>
            <a:off x="5029200" y="1554480"/>
            <a:ext cx="3474720" cy="228600"/>
          </a:xfrm>
          <a:prstGeom prst="rect">
            <a:avLst/>
          </a:prstGeom>
          <a:noFill/>
          <a:ln/>
        </p:spPr>
        <p:txBody>
          <a:bodyPr wrap="square" lIns="0" tIns="0" rIns="0" bIns="0" rtlCol="0" anchor="t"/>
          <a:lstStyle/>
          <a:p>
            <a:pPr indent="0" marL="0">
              <a:buNone/>
            </a:pPr>
            <a:r>
              <a:rPr lang="en-US" sz="1000" b="1" spc="300" kern="0" dirty="0">
                <a:solidFill>
                  <a:srgbClr val="154EA1"/>
                </a:solidFill>
                <a:latin typeface="Arial" pitchFamily="34" charset="0"/>
                <a:ea typeface="Arial" pitchFamily="34" charset="-122"/>
                <a:cs typeface="Arial" pitchFamily="34" charset="-120"/>
              </a:rPr>
              <a:t>IN PROGRESS</a:t>
            </a:r>
            <a:endParaRPr lang="en-US" sz="1000" dirty="0"/>
          </a:p>
        </p:txBody>
      </p:sp>
      <p:sp>
        <p:nvSpPr>
          <p:cNvPr id="25" name="Text 22"/>
          <p:cNvSpPr txBox="1"/>
          <p:nvPr/>
        </p:nvSpPr>
        <p:spPr>
          <a:xfrm>
            <a:off x="5029200" y="1828800"/>
            <a:ext cx="3429000" cy="960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Arial" pitchFamily="34" charset="0"/>
                <a:ea typeface="Arial" pitchFamily="34" charset="-122"/>
                <a:cs typeface="Arial" pitchFamily="34" charset="-120"/>
              </a:rPr>
              <a:t>Smoother handling of web-search limits, so every off-page check completes</a:t>
            </a:r>
            <a:endParaRPr lang="en-US" sz="1150" dirty="0"/>
          </a:p>
          <a:p>
            <a:pPr marL="152400" indent="-152400">
              <a:spcAft>
                <a:spcPts val="500"/>
              </a:spcAft>
              <a:buSzPct val="100000"/>
              <a:buChar char="•"/>
            </a:pPr>
            <a:r>
              <a:rPr lang="en-US" sz="1150" dirty="0">
                <a:solidFill>
                  <a:srgbClr val="222222"/>
                </a:solidFill>
                <a:latin typeface="Arial" pitchFamily="34" charset="0"/>
                <a:ea typeface="Arial" pitchFamily="34" charset="-122"/>
                <a:cs typeface="Arial" pitchFamily="34" charset="-120"/>
              </a:rPr>
              <a:t>Real-browser reading made dependable on every server set-up</a:t>
            </a:r>
            <a:endParaRPr lang="en-US" sz="1150" dirty="0"/>
          </a:p>
        </p:txBody>
      </p:sp>
      <p:sp>
        <p:nvSpPr>
          <p:cNvPr id="26" name="Text 23"/>
          <p:cNvSpPr txBox="1"/>
          <p:nvPr/>
        </p:nvSpPr>
        <p:spPr>
          <a:xfrm>
            <a:off x="5029200" y="2880360"/>
            <a:ext cx="3474720" cy="228600"/>
          </a:xfrm>
          <a:prstGeom prst="rect">
            <a:avLst/>
          </a:prstGeom>
          <a:noFill/>
          <a:ln/>
        </p:spPr>
        <p:txBody>
          <a:bodyPr wrap="square" lIns="0" tIns="0" rIns="0" bIns="0" rtlCol="0" anchor="t"/>
          <a:lstStyle/>
          <a:p>
            <a:pPr indent="0" marL="0">
              <a:buNone/>
            </a:pPr>
            <a:r>
              <a:rPr lang="en-US" sz="1000" b="1" spc="300" kern="0" dirty="0">
                <a:solidFill>
                  <a:srgbClr val="154EA1"/>
                </a:solidFill>
                <a:latin typeface="Arial" pitchFamily="34" charset="0"/>
                <a:ea typeface="Arial" pitchFamily="34" charset="-122"/>
                <a:cs typeface="Arial" pitchFamily="34" charset="-120"/>
              </a:rPr>
              <a:t>PROPOSED NEXT</a:t>
            </a:r>
            <a:endParaRPr lang="en-US" sz="1000" dirty="0"/>
          </a:p>
        </p:txBody>
      </p:sp>
      <p:sp>
        <p:nvSpPr>
          <p:cNvPr id="27" name="Text 24"/>
          <p:cNvSpPr txBox="1"/>
          <p:nvPr/>
        </p:nvSpPr>
        <p:spPr>
          <a:xfrm>
            <a:off x="5029200" y="3154680"/>
            <a:ext cx="3429000" cy="128016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Arial" pitchFamily="34" charset="0"/>
                <a:ea typeface="Arial" pitchFamily="34" charset="-122"/>
                <a:cs typeface="Arial" pitchFamily="34" charset="-120"/>
              </a:rPr>
              <a:t>Pilot audits on selected client websites</a:t>
            </a:r>
            <a:endParaRPr lang="en-US" sz="1150" dirty="0"/>
          </a:p>
          <a:p>
            <a:pPr marL="152400" indent="-152400">
              <a:spcAft>
                <a:spcPts val="500"/>
              </a:spcAft>
              <a:buSzPct val="100000"/>
              <a:buChar char="•"/>
            </a:pPr>
            <a:r>
              <a:rPr lang="en-US" sz="1150" dirty="0">
                <a:solidFill>
                  <a:srgbClr val="222222"/>
                </a:solidFill>
                <a:latin typeface="Arial" pitchFamily="34" charset="0"/>
                <a:ea typeface="Arial" pitchFamily="34" charset="-122"/>
                <a:cs typeface="Arial" pitchFamily="34" charset="-120"/>
              </a:rPr>
              <a:t>Fine-tune scoring with feedback from leads and clients</a:t>
            </a:r>
            <a:endParaRPr lang="en-US" sz="1150" dirty="0"/>
          </a:p>
          <a:p>
            <a:pPr marL="152400" indent="-152400">
              <a:spcAft>
                <a:spcPts val="500"/>
              </a:spcAft>
              <a:buSzPct val="100000"/>
              <a:buChar char="•"/>
            </a:pPr>
            <a:r>
              <a:rPr lang="en-US" sz="1150" dirty="0">
                <a:solidFill>
                  <a:srgbClr val="222222"/>
                </a:solidFill>
                <a:latin typeface="Arial" pitchFamily="34" charset="0"/>
                <a:ea typeface="Arial" pitchFamily="34" charset="-122"/>
                <a:cs typeface="Arial" pitchFamily="34" charset="-120"/>
              </a:rPr>
              <a:t>Host the tool for wider team access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60720" y="914400"/>
            <a:ext cx="3291840" cy="3291840"/>
          </a:xfrm>
          <a:prstGeom prst="ellipse">
            <a:avLst/>
          </a:prstGeom>
          <a:solidFill>
            <a:srgbClr val="EEF3FA"/>
          </a:solidFill>
          <a:ln w="15875">
            <a:solidFill>
              <a:srgbClr val="DCE5F3"/>
            </a:solidFill>
            <a:prstDash val="solid"/>
          </a:ln>
        </p:spPr>
      </p:sp>
      <p:sp>
        <p:nvSpPr>
          <p:cNvPr id="3" name="Shape 1"/>
          <p:cNvSpPr/>
          <p:nvPr/>
        </p:nvSpPr>
        <p:spPr>
          <a:xfrm>
            <a:off x="6172200" y="1325880"/>
            <a:ext cx="2468880" cy="2468880"/>
          </a:xfrm>
          <a:prstGeom prst="ellipse">
            <a:avLst/>
          </a:prstGeom>
          <a:solidFill>
            <a:srgbClr val="EEF3FA"/>
          </a:solidFill>
          <a:ln w="19050">
            <a:solidFill>
              <a:srgbClr val="B4C7E6"/>
            </a:solidFill>
            <a:prstDash val="solid"/>
          </a:ln>
        </p:spPr>
      </p:sp>
      <p:sp>
        <p:nvSpPr>
          <p:cNvPr id="4" name="Shape 2"/>
          <p:cNvSpPr/>
          <p:nvPr/>
        </p:nvSpPr>
        <p:spPr>
          <a:xfrm>
            <a:off x="6583680" y="1737360"/>
            <a:ext cx="1645920" cy="1645920"/>
          </a:xfrm>
          <a:prstGeom prst="ellipse">
            <a:avLst/>
          </a:prstGeom>
          <a:solidFill>
            <a:srgbClr val="FFFFFF"/>
          </a:solidFill>
          <a:ln w="19050">
            <a:solidFill>
              <a:srgbClr val="7FA0D4"/>
            </a:solidFill>
            <a:prstDash val="solid"/>
          </a:ln>
        </p:spPr>
      </p:sp>
      <p:sp>
        <p:nvSpPr>
          <p:cNvPr id="5" name="Shape 3"/>
          <p:cNvSpPr/>
          <p:nvPr/>
        </p:nvSpPr>
        <p:spPr>
          <a:xfrm>
            <a:off x="7178040" y="2331720"/>
            <a:ext cx="457200" cy="457200"/>
          </a:xfrm>
          <a:prstGeom prst="ellipse">
            <a:avLst/>
          </a:prstGeom>
          <a:solidFill>
            <a:srgbClr val="F05000"/>
          </a:solidFill>
          <a:ln w="12700">
            <a:solidFill>
              <a:srgbClr val="F05000"/>
            </a:solidFill>
            <a:prstDash val="solid"/>
          </a:ln>
        </p:spPr>
      </p:sp>
      <p:pic>
        <p:nvPicPr>
          <p:cNvPr id="6" name="Image 0" descr="preencoded.png">    </p:cNvPr>
          <p:cNvPicPr>
            <a:picLocks noChangeAspect="1"/>
          </p:cNvPicPr>
          <p:nvPr/>
        </p:nvPicPr>
        <p:blipFill>
          <a:blip r:embed="rId1"/>
          <a:stretch>
            <a:fillRect/>
          </a:stretch>
        </p:blipFill>
        <p:spPr>
          <a:xfrm>
            <a:off x="548640" y="411480"/>
            <a:ext cx="868680" cy="832104"/>
          </a:xfrm>
          <a:prstGeom prst="rect">
            <a:avLst/>
          </a:prstGeom>
        </p:spPr>
      </p:pic>
      <p:sp>
        <p:nvSpPr>
          <p:cNvPr id="7" name="Text 4"/>
          <p:cNvSpPr txBox="1"/>
          <p:nvPr/>
        </p:nvSpPr>
        <p:spPr>
          <a:xfrm>
            <a:off x="548640" y="1783080"/>
            <a:ext cx="5486400" cy="822960"/>
          </a:xfrm>
          <a:prstGeom prst="rect">
            <a:avLst/>
          </a:prstGeom>
          <a:noFill/>
          <a:ln/>
        </p:spPr>
        <p:txBody>
          <a:bodyPr wrap="square" lIns="0" tIns="0" rIns="0" bIns="0" rtlCol="0" anchor="t"/>
          <a:lstStyle/>
          <a:p>
            <a:pPr indent="0" marL="0">
              <a:buNone/>
            </a:pPr>
            <a:r>
              <a:rPr lang="en-US" sz="4400" b="1" dirty="0">
                <a:solidFill>
                  <a:srgbClr val="154EA1"/>
                </a:solidFill>
                <a:latin typeface="Arial" pitchFamily="34" charset="0"/>
                <a:ea typeface="Arial" pitchFamily="34" charset="-122"/>
                <a:cs typeface="Arial" pitchFamily="34" charset="-120"/>
              </a:rPr>
              <a:t>Thank you</a:t>
            </a:r>
            <a:endParaRPr lang="en-US" sz="4400" dirty="0"/>
          </a:p>
        </p:txBody>
      </p:sp>
      <p:sp>
        <p:nvSpPr>
          <p:cNvPr id="8" name="Text 5"/>
          <p:cNvSpPr txBox="1"/>
          <p:nvPr/>
        </p:nvSpPr>
        <p:spPr>
          <a:xfrm>
            <a:off x="548640" y="2651760"/>
            <a:ext cx="5486400" cy="411480"/>
          </a:xfrm>
          <a:prstGeom prst="rect">
            <a:avLst/>
          </a:prstGeom>
          <a:noFill/>
          <a:ln/>
        </p:spPr>
        <p:txBody>
          <a:bodyPr wrap="square" lIns="0" tIns="0" rIns="0" bIns="0" rtlCol="0" anchor="t"/>
          <a:lstStyle/>
          <a:p>
            <a:pPr indent="0" marL="0">
              <a:buNone/>
            </a:pPr>
            <a:r>
              <a:rPr lang="en-US" sz="1800" dirty="0">
                <a:solidFill>
                  <a:srgbClr val="444444"/>
                </a:solidFill>
                <a:latin typeface="Arial" pitchFamily="34" charset="0"/>
                <a:ea typeface="Arial" pitchFamily="34" charset="-122"/>
                <a:cs typeface="Arial" pitchFamily="34" charset="-120"/>
              </a:rPr>
              <a:t>Questions and feedback welcome.</a:t>
            </a:r>
            <a:endParaRPr lang="en-US" sz="1800" dirty="0"/>
          </a:p>
        </p:txBody>
      </p:sp>
      <p:sp>
        <p:nvSpPr>
          <p:cNvPr id="9" name="Text 6"/>
          <p:cNvSpPr txBox="1"/>
          <p:nvPr/>
        </p:nvSpPr>
        <p:spPr>
          <a:xfrm>
            <a:off x="548640" y="4160520"/>
            <a:ext cx="5486400" cy="27432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AI Visibility Audit  ·  Progress Review</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Visibility Audit — Progress Review</dc:title>
  <dc:subject>PptxGenJS Presentation</dc:subject>
  <dc:creator>AI Visibility Audit team</dc:creator>
  <cp:lastModifiedBy>AI Visibility Audit team</cp:lastModifiedBy>
  <cp:revision>1</cp:revision>
  <dcterms:created xsi:type="dcterms:W3CDTF">2026-10-01T12:49:01Z</dcterms:created>
  <dcterms:modified xsi:type="dcterms:W3CDTF">2026-10-01T12:49:01Z</dcterms:modified>
</cp:coreProperties>
</file>