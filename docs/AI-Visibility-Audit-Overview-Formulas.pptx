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515600" cy="457200"/>
          </a:xfrm>
          <a:prstGeom prst="rect">
            <a:avLst/>
          </a:prstGeom>
          <a:noFill/>
        </p:spPr>
        <p:txBody>
          <a:bodyPr wrap="square">
            <a:spAutoFit/>
          </a:bodyPr>
          <a:lstStyle/>
          <a:p>
            <a:pPr algn="l">
              <a:lnSpc>
                <a:spcPct val="115000"/>
              </a:lnSpc>
            </a:pPr>
            <a:r>
              <a:rPr sz="1400" b="1" i="0">
                <a:solidFill>
                  <a:srgbClr val="595959"/>
                </a:solidFill>
                <a:latin typeface="Calibri"/>
              </a:rPr>
              <a:t>TEAM UPDATE</a:t>
            </a:r>
          </a:p>
        </p:txBody>
      </p:sp>
      <p:sp>
        <p:nvSpPr>
          <p:cNvPr id="5" name="TextBox 4"/>
          <p:cNvSpPr txBox="1"/>
          <p:nvPr/>
        </p:nvSpPr>
        <p:spPr>
          <a:xfrm>
            <a:off x="822960" y="2651760"/>
            <a:ext cx="10515600" cy="1188720"/>
          </a:xfrm>
          <a:prstGeom prst="rect">
            <a:avLst/>
          </a:prstGeom>
          <a:noFill/>
        </p:spPr>
        <p:txBody>
          <a:bodyPr wrap="square">
            <a:spAutoFit/>
          </a:bodyPr>
          <a:lstStyle/>
          <a:p>
            <a:pPr algn="l">
              <a:lnSpc>
                <a:spcPct val="115000"/>
              </a:lnSpc>
            </a:pPr>
            <a:r>
              <a:rPr sz="4400" b="1" i="0">
                <a:solidFill>
                  <a:srgbClr val="000000"/>
                </a:solidFill>
                <a:latin typeface="Calibri"/>
              </a:rPr>
              <a:t>AI Visibility Audit</a:t>
            </a:r>
          </a:p>
        </p:txBody>
      </p:sp>
      <p:sp>
        <p:nvSpPr>
          <p:cNvPr id="6" name="TextBox 5"/>
          <p:cNvSpPr txBox="1"/>
          <p:nvPr/>
        </p:nvSpPr>
        <p:spPr>
          <a:xfrm>
            <a:off x="822960" y="3566160"/>
            <a:ext cx="10515600" cy="548640"/>
          </a:xfrm>
          <a:prstGeom prst="rect">
            <a:avLst/>
          </a:prstGeom>
          <a:noFill/>
        </p:spPr>
        <p:txBody>
          <a:bodyPr wrap="square">
            <a:spAutoFit/>
          </a:bodyPr>
          <a:lstStyle/>
          <a:p>
            <a:pPr algn="l">
              <a:lnSpc>
                <a:spcPct val="115000"/>
              </a:lnSpc>
            </a:pPr>
            <a:r>
              <a:rPr sz="2200" b="0" i="0">
                <a:solidFill>
                  <a:srgbClr val="1A1A1A"/>
                </a:solidFill>
                <a:latin typeface="Calibri"/>
              </a:rPr>
              <a:t>Product Overview &amp; Scoring Formulas</a:t>
            </a:r>
          </a:p>
        </p:txBody>
      </p:sp>
      <p:sp>
        <p:nvSpPr>
          <p:cNvPr id="7" name="TextBox 6"/>
          <p:cNvSpPr txBox="1"/>
          <p:nvPr/>
        </p:nvSpPr>
        <p:spPr>
          <a:xfrm>
            <a:off x="822960" y="4114800"/>
            <a:ext cx="9144000" cy="548640"/>
          </a:xfrm>
          <a:prstGeom prst="rect">
            <a:avLst/>
          </a:prstGeom>
          <a:noFill/>
        </p:spPr>
        <p:txBody>
          <a:bodyPr wrap="square">
            <a:spAutoFit/>
          </a:bodyPr>
          <a:lstStyle/>
          <a:p>
            <a:pPr algn="l">
              <a:lnSpc>
                <a:spcPct val="115000"/>
              </a:lnSpc>
            </a:pPr>
            <a:r>
              <a:rPr sz="1400" b="0" i="1">
                <a:solidFill>
                  <a:srgbClr val="595959"/>
                </a:solidFill>
                <a:latin typeface="Calibri"/>
              </a:rPr>
              <a:t>What the product does, and exactly how every score is calculated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7315200" cy="365760"/>
          </a:xfrm>
          <a:prstGeom prst="rect">
            <a:avLst/>
          </a:prstGeom>
          <a:noFill/>
        </p:spPr>
        <p:txBody>
          <a:bodyPr wrap="square">
            <a:spAutoFit/>
          </a:bodyPr>
          <a:lstStyle/>
          <a:p>
            <a:pPr algn="l">
              <a:lnSpc>
                <a:spcPct val="115000"/>
              </a:lnSpc>
            </a:pPr>
            <a:r>
              <a:rPr sz="1200" b="1" i="0">
                <a:solidFill>
                  <a:srgbClr val="595959"/>
                </a:solidFill>
                <a:latin typeface="Calibri"/>
              </a:rPr>
              <a:t>OVERVIEW</a:t>
            </a:r>
          </a:p>
        </p:txBody>
      </p:sp>
      <p:sp>
        <p:nvSpPr>
          <p:cNvPr id="4" name="TextBox 3"/>
          <p:cNvSpPr txBox="1"/>
          <p:nvPr/>
        </p:nvSpPr>
        <p:spPr>
          <a:xfrm>
            <a:off x="640080" y="777240"/>
            <a:ext cx="7315200" cy="640080"/>
          </a:xfrm>
          <a:prstGeom prst="rect">
            <a:avLst/>
          </a:prstGeom>
          <a:noFill/>
        </p:spPr>
        <p:txBody>
          <a:bodyPr wrap="square">
            <a:spAutoFit/>
          </a:bodyPr>
          <a:lstStyle/>
          <a:p>
            <a:pPr algn="l">
              <a:lnSpc>
                <a:spcPct val="115000"/>
              </a:lnSpc>
            </a:pPr>
            <a:r>
              <a:rPr sz="3000" b="1" i="0">
                <a:solidFill>
                  <a:srgbClr val="000000"/>
                </a:solidFill>
                <a:latin typeface="Calibri"/>
              </a:rPr>
              <a:t>Agenda</a:t>
            </a:r>
          </a:p>
        </p:txBody>
      </p:sp>
      <p:sp>
        <p:nvSpPr>
          <p:cNvPr id="5" name="TextBox 4"/>
          <p:cNvSpPr txBox="1"/>
          <p:nvPr/>
        </p:nvSpPr>
        <p:spPr>
          <a:xfrm>
            <a:off x="822960" y="1737360"/>
            <a:ext cx="640080" cy="457200"/>
          </a:xfrm>
          <a:prstGeom prst="rect">
            <a:avLst/>
          </a:prstGeom>
          <a:noFill/>
        </p:spPr>
        <p:txBody>
          <a:bodyPr wrap="square">
            <a:spAutoFit/>
          </a:bodyPr>
          <a:lstStyle/>
          <a:p>
            <a:pPr algn="l">
              <a:lnSpc>
                <a:spcPct val="115000"/>
              </a:lnSpc>
            </a:pPr>
            <a:r>
              <a:rPr sz="2000" b="1" i="0">
                <a:solidFill>
                  <a:srgbClr val="000000"/>
                </a:solidFill>
                <a:latin typeface="Calibri"/>
              </a:rPr>
              <a:t>01</a:t>
            </a:r>
          </a:p>
        </p:txBody>
      </p:sp>
      <p:sp>
        <p:nvSpPr>
          <p:cNvPr id="6" name="TextBox 5"/>
          <p:cNvSpPr txBox="1"/>
          <p:nvPr/>
        </p:nvSpPr>
        <p:spPr>
          <a:xfrm>
            <a:off x="1463040" y="1737360"/>
            <a:ext cx="9144000" cy="457200"/>
          </a:xfrm>
          <a:prstGeom prst="rect">
            <a:avLst/>
          </a:prstGeom>
          <a:noFill/>
        </p:spPr>
        <p:txBody>
          <a:bodyPr wrap="square">
            <a:spAutoFit/>
          </a:bodyPr>
          <a:lstStyle/>
          <a:p>
            <a:pPr algn="l">
              <a:lnSpc>
                <a:spcPct val="115000"/>
              </a:lnSpc>
            </a:pPr>
            <a:r>
              <a:rPr sz="1600" b="0" i="0">
                <a:solidFill>
                  <a:srgbClr val="1A1A1A"/>
                </a:solidFill>
                <a:latin typeface="Calibri"/>
              </a:rPr>
              <a:t>What the AI Visibility Audit does</a:t>
            </a:r>
          </a:p>
        </p:txBody>
      </p:sp>
      <p:sp>
        <p:nvSpPr>
          <p:cNvPr id="7" name="TextBox 6"/>
          <p:cNvSpPr txBox="1"/>
          <p:nvPr/>
        </p:nvSpPr>
        <p:spPr>
          <a:xfrm>
            <a:off x="822960" y="2514600"/>
            <a:ext cx="640080" cy="457200"/>
          </a:xfrm>
          <a:prstGeom prst="rect">
            <a:avLst/>
          </a:prstGeom>
          <a:noFill/>
        </p:spPr>
        <p:txBody>
          <a:bodyPr wrap="square">
            <a:spAutoFit/>
          </a:bodyPr>
          <a:lstStyle/>
          <a:p>
            <a:pPr algn="l">
              <a:lnSpc>
                <a:spcPct val="115000"/>
              </a:lnSpc>
            </a:pPr>
            <a:r>
              <a:rPr sz="2000" b="1" i="0">
                <a:solidFill>
                  <a:srgbClr val="000000"/>
                </a:solidFill>
                <a:latin typeface="Calibri"/>
              </a:rPr>
              <a:t>02</a:t>
            </a:r>
          </a:p>
        </p:txBody>
      </p:sp>
      <p:sp>
        <p:nvSpPr>
          <p:cNvPr id="8" name="TextBox 7"/>
          <p:cNvSpPr txBox="1"/>
          <p:nvPr/>
        </p:nvSpPr>
        <p:spPr>
          <a:xfrm>
            <a:off x="1463040" y="2514600"/>
            <a:ext cx="9144000" cy="457200"/>
          </a:xfrm>
          <a:prstGeom prst="rect">
            <a:avLst/>
          </a:prstGeom>
          <a:noFill/>
        </p:spPr>
        <p:txBody>
          <a:bodyPr wrap="square">
            <a:spAutoFit/>
          </a:bodyPr>
          <a:lstStyle/>
          <a:p>
            <a:pPr algn="l">
              <a:lnSpc>
                <a:spcPct val="115000"/>
              </a:lnSpc>
            </a:pPr>
            <a:r>
              <a:rPr sz="1600" b="0" i="0">
                <a:solidFill>
                  <a:srgbClr val="1A1A1A"/>
                </a:solidFill>
                <a:latin typeface="Calibri"/>
              </a:rPr>
              <a:t>How every score is calculated - the 3-step model</a:t>
            </a:r>
          </a:p>
        </p:txBody>
      </p:sp>
      <p:sp>
        <p:nvSpPr>
          <p:cNvPr id="9" name="TextBox 8"/>
          <p:cNvSpPr txBox="1"/>
          <p:nvPr/>
        </p:nvSpPr>
        <p:spPr>
          <a:xfrm>
            <a:off x="822960" y="3291840"/>
            <a:ext cx="640080" cy="457200"/>
          </a:xfrm>
          <a:prstGeom prst="rect">
            <a:avLst/>
          </a:prstGeom>
          <a:noFill/>
        </p:spPr>
        <p:txBody>
          <a:bodyPr wrap="square">
            <a:spAutoFit/>
          </a:bodyPr>
          <a:lstStyle/>
          <a:p>
            <a:pPr algn="l">
              <a:lnSpc>
                <a:spcPct val="115000"/>
              </a:lnSpc>
            </a:pPr>
            <a:r>
              <a:rPr sz="2000" b="1" i="0">
                <a:solidFill>
                  <a:srgbClr val="000000"/>
                </a:solidFill>
                <a:latin typeface="Calibri"/>
              </a:rPr>
              <a:t>03</a:t>
            </a:r>
          </a:p>
        </p:txBody>
      </p:sp>
      <p:sp>
        <p:nvSpPr>
          <p:cNvPr id="10" name="TextBox 9"/>
          <p:cNvSpPr txBox="1"/>
          <p:nvPr/>
        </p:nvSpPr>
        <p:spPr>
          <a:xfrm>
            <a:off x="1463040" y="3291840"/>
            <a:ext cx="9144000" cy="457200"/>
          </a:xfrm>
          <a:prstGeom prst="rect">
            <a:avLst/>
          </a:prstGeom>
          <a:noFill/>
        </p:spPr>
        <p:txBody>
          <a:bodyPr wrap="square">
            <a:spAutoFit/>
          </a:bodyPr>
          <a:lstStyle/>
          <a:p>
            <a:pPr algn="l">
              <a:lnSpc>
                <a:spcPct val="115000"/>
              </a:lnSpc>
            </a:pPr>
            <a:r>
              <a:rPr sz="1600" b="0" i="0">
                <a:solidFill>
                  <a:srgbClr val="1A1A1A"/>
                </a:solidFill>
                <a:latin typeface="Calibri"/>
              </a:rPr>
              <a:t>The Overall Score formula</a:t>
            </a:r>
          </a:p>
        </p:txBody>
      </p:sp>
      <p:sp>
        <p:nvSpPr>
          <p:cNvPr id="11" name="TextBox 10"/>
          <p:cNvSpPr txBox="1"/>
          <p:nvPr/>
        </p:nvSpPr>
        <p:spPr>
          <a:xfrm>
            <a:off x="822960" y="4069080"/>
            <a:ext cx="640080" cy="457200"/>
          </a:xfrm>
          <a:prstGeom prst="rect">
            <a:avLst/>
          </a:prstGeom>
          <a:noFill/>
        </p:spPr>
        <p:txBody>
          <a:bodyPr wrap="square">
            <a:spAutoFit/>
          </a:bodyPr>
          <a:lstStyle/>
          <a:p>
            <a:pPr algn="l">
              <a:lnSpc>
                <a:spcPct val="115000"/>
              </a:lnSpc>
            </a:pPr>
            <a:r>
              <a:rPr sz="2000" b="1" i="0">
                <a:solidFill>
                  <a:srgbClr val="000000"/>
                </a:solidFill>
                <a:latin typeface="Calibri"/>
              </a:rPr>
              <a:t>04</a:t>
            </a:r>
          </a:p>
        </p:txBody>
      </p:sp>
      <p:sp>
        <p:nvSpPr>
          <p:cNvPr id="12" name="TextBox 11"/>
          <p:cNvSpPr txBox="1"/>
          <p:nvPr/>
        </p:nvSpPr>
        <p:spPr>
          <a:xfrm>
            <a:off x="1463040" y="4069080"/>
            <a:ext cx="9144000" cy="457200"/>
          </a:xfrm>
          <a:prstGeom prst="rect">
            <a:avLst/>
          </a:prstGeom>
          <a:noFill/>
        </p:spPr>
        <p:txBody>
          <a:bodyPr wrap="square">
            <a:spAutoFit/>
          </a:bodyPr>
          <a:lstStyle/>
          <a:p>
            <a:pPr algn="l">
              <a:lnSpc>
                <a:spcPct val="115000"/>
              </a:lnSpc>
            </a:pPr>
            <a:r>
              <a:rPr sz="1600" b="0" i="0">
                <a:solidFill>
                  <a:srgbClr val="1A1A1A"/>
                </a:solidFill>
                <a:latin typeface="Calibri"/>
              </a:rPr>
              <a:t>On-Page, Off-Page and Technical score formulas</a:t>
            </a:r>
          </a:p>
        </p:txBody>
      </p:sp>
      <p:sp>
        <p:nvSpPr>
          <p:cNvPr id="13" name="TextBox 12"/>
          <p:cNvSpPr txBox="1"/>
          <p:nvPr/>
        </p:nvSpPr>
        <p:spPr>
          <a:xfrm>
            <a:off x="822960" y="4846320"/>
            <a:ext cx="640080" cy="457200"/>
          </a:xfrm>
          <a:prstGeom prst="rect">
            <a:avLst/>
          </a:prstGeom>
          <a:noFill/>
        </p:spPr>
        <p:txBody>
          <a:bodyPr wrap="square">
            <a:spAutoFit/>
          </a:bodyPr>
          <a:lstStyle/>
          <a:p>
            <a:pPr algn="l">
              <a:lnSpc>
                <a:spcPct val="115000"/>
              </a:lnSpc>
            </a:pPr>
            <a:r>
              <a:rPr sz="2000" b="1" i="0">
                <a:solidFill>
                  <a:srgbClr val="000000"/>
                </a:solidFill>
                <a:latin typeface="Calibri"/>
              </a:rPr>
              <a:t>05</a:t>
            </a:r>
          </a:p>
        </p:txBody>
      </p:sp>
      <p:sp>
        <p:nvSpPr>
          <p:cNvPr id="14" name="TextBox 13"/>
          <p:cNvSpPr txBox="1"/>
          <p:nvPr/>
        </p:nvSpPr>
        <p:spPr>
          <a:xfrm>
            <a:off x="1463040" y="4846320"/>
            <a:ext cx="9144000" cy="457200"/>
          </a:xfrm>
          <a:prstGeom prst="rect">
            <a:avLst/>
          </a:prstGeom>
          <a:noFill/>
        </p:spPr>
        <p:txBody>
          <a:bodyPr wrap="square">
            <a:spAutoFit/>
          </a:bodyPr>
          <a:lstStyle/>
          <a:p>
            <a:pPr algn="l">
              <a:lnSpc>
                <a:spcPct val="115000"/>
              </a:lnSpc>
            </a:pPr>
            <a:r>
              <a:rPr sz="1600" b="0" i="0">
                <a:solidFill>
                  <a:srgbClr val="1A1A1A"/>
                </a:solidFill>
                <a:latin typeface="Calibri"/>
              </a:rPr>
              <a:t>Score bands &amp; data-coverage notes</a:t>
            </a:r>
          </a:p>
        </p:txBody>
      </p:sp>
      <p:sp>
        <p:nvSpPr>
          <p:cNvPr id="15" name="TextBox 14"/>
          <p:cNvSpPr txBox="1"/>
          <p:nvPr/>
        </p:nvSpPr>
        <p:spPr>
          <a:xfrm>
            <a:off x="11368735" y="6355080"/>
            <a:ext cx="457200" cy="365760"/>
          </a:xfrm>
          <a:prstGeom prst="rect">
            <a:avLst/>
          </a:prstGeom>
          <a:noFill/>
        </p:spPr>
        <p:txBody>
          <a:bodyPr wrap="square">
            <a:spAutoFit/>
          </a:bodyPr>
          <a:lstStyle/>
          <a:p>
            <a:pPr algn="r">
              <a:lnSpc>
                <a:spcPct val="115000"/>
              </a:lnSpc>
            </a:pPr>
            <a:r>
              <a:rPr sz="1100" b="0" i="0">
                <a:solidFill>
                  <a:srgbClr val="59595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7315200" cy="365760"/>
          </a:xfrm>
          <a:prstGeom prst="rect">
            <a:avLst/>
          </a:prstGeom>
          <a:noFill/>
        </p:spPr>
        <p:txBody>
          <a:bodyPr wrap="square">
            <a:spAutoFit/>
          </a:bodyPr>
          <a:lstStyle/>
          <a:p>
            <a:pPr algn="l">
              <a:lnSpc>
                <a:spcPct val="115000"/>
              </a:lnSpc>
            </a:pPr>
            <a:r>
              <a:rPr sz="1200" b="1" i="0">
                <a:solidFill>
                  <a:srgbClr val="595959"/>
                </a:solidFill>
                <a:latin typeface="Calibri"/>
              </a:rPr>
              <a:t>PRODUCT OVERVIEW</a:t>
            </a:r>
          </a:p>
        </p:txBody>
      </p:sp>
      <p:sp>
        <p:nvSpPr>
          <p:cNvPr id="4" name="TextBox 3"/>
          <p:cNvSpPr txBox="1"/>
          <p:nvPr/>
        </p:nvSpPr>
        <p:spPr>
          <a:xfrm>
            <a:off x="640080" y="777240"/>
            <a:ext cx="10515600" cy="640080"/>
          </a:xfrm>
          <a:prstGeom prst="rect">
            <a:avLst/>
          </a:prstGeom>
          <a:noFill/>
        </p:spPr>
        <p:txBody>
          <a:bodyPr wrap="square">
            <a:spAutoFit/>
          </a:bodyPr>
          <a:lstStyle/>
          <a:p>
            <a:pPr algn="l">
              <a:lnSpc>
                <a:spcPct val="115000"/>
              </a:lnSpc>
            </a:pPr>
            <a:r>
              <a:rPr sz="2800" b="1" i="0">
                <a:solidFill>
                  <a:srgbClr val="000000"/>
                </a:solidFill>
                <a:latin typeface="Calibri"/>
              </a:rPr>
              <a:t>What Is the AI Visibility Audit?</a:t>
            </a:r>
          </a:p>
        </p:txBody>
      </p:sp>
      <p:sp>
        <p:nvSpPr>
          <p:cNvPr id="5" name="TextBox 4"/>
          <p:cNvSpPr txBox="1"/>
          <p:nvPr/>
        </p:nvSpPr>
        <p:spPr>
          <a:xfrm>
            <a:off x="640080" y="1463040"/>
            <a:ext cx="10789920" cy="822960"/>
          </a:xfrm>
          <a:prstGeom prst="rect">
            <a:avLst/>
          </a:prstGeom>
          <a:noFill/>
        </p:spPr>
        <p:txBody>
          <a:bodyPr wrap="square">
            <a:spAutoFit/>
          </a:bodyPr>
          <a:lstStyle/>
          <a:p>
            <a:pPr algn="l">
              <a:lnSpc>
                <a:spcPct val="115000"/>
              </a:lnSpc>
            </a:pPr>
            <a:r>
              <a:rPr sz="1400" b="0" i="0">
                <a:solidFill>
                  <a:srgbClr val="1A1A1A"/>
                </a:solidFill>
                <a:latin typeface="Calibri"/>
              </a:rPr>
              <a:t>Enter any public company website. The engine crawls the live site and scores 62 parameters across three pillars, producing one Overall Score that shows how visible and trustworthy the brand is to AI answer engines like ChatGPT, Gemini and Perplexity.</a:t>
            </a:r>
          </a:p>
        </p:txBody>
      </p:sp>
      <p:sp>
        <p:nvSpPr>
          <p:cNvPr id="6" name="Rounded Rectangle 5"/>
          <p:cNvSpPr/>
          <p:nvPr/>
        </p:nvSpPr>
        <p:spPr>
          <a:xfrm>
            <a:off x="640080" y="2651760"/>
            <a:ext cx="3520440" cy="3291840"/>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68680" y="2834640"/>
            <a:ext cx="3063240" cy="457200"/>
          </a:xfrm>
          <a:prstGeom prst="rect">
            <a:avLst/>
          </a:prstGeom>
          <a:noFill/>
        </p:spPr>
        <p:txBody>
          <a:bodyPr wrap="square">
            <a:spAutoFit/>
          </a:bodyPr>
          <a:lstStyle/>
          <a:p>
            <a:pPr algn="l">
              <a:lnSpc>
                <a:spcPct val="115000"/>
              </a:lnSpc>
            </a:pPr>
            <a:r>
              <a:rPr sz="1800" b="1" i="0">
                <a:solidFill>
                  <a:srgbClr val="000000"/>
                </a:solidFill>
                <a:latin typeface="Calibri"/>
              </a:rPr>
              <a:t>On-Page</a:t>
            </a:r>
          </a:p>
        </p:txBody>
      </p:sp>
      <p:sp>
        <p:nvSpPr>
          <p:cNvPr id="8" name="TextBox 7"/>
          <p:cNvSpPr txBox="1"/>
          <p:nvPr/>
        </p:nvSpPr>
        <p:spPr>
          <a:xfrm>
            <a:off x="868680" y="3337560"/>
            <a:ext cx="3063240" cy="640080"/>
          </a:xfrm>
          <a:prstGeom prst="rect">
            <a:avLst/>
          </a:prstGeom>
          <a:noFill/>
        </p:spPr>
        <p:txBody>
          <a:bodyPr wrap="square">
            <a:spAutoFit/>
          </a:bodyPr>
          <a:lstStyle/>
          <a:p>
            <a:pPr algn="l">
              <a:lnSpc>
                <a:spcPct val="115000"/>
              </a:lnSpc>
            </a:pPr>
            <a:r>
              <a:rPr sz="3200" b="1" i="0">
                <a:solidFill>
                  <a:srgbClr val="000000"/>
                </a:solidFill>
                <a:latin typeface="Calibri"/>
              </a:rPr>
              <a:t>40%</a:t>
            </a:r>
          </a:p>
        </p:txBody>
      </p:sp>
      <p:sp>
        <p:nvSpPr>
          <p:cNvPr id="9" name="TextBox 8"/>
          <p:cNvSpPr txBox="1"/>
          <p:nvPr/>
        </p:nvSpPr>
        <p:spPr>
          <a:xfrm>
            <a:off x="868680" y="3977639"/>
            <a:ext cx="3063240" cy="365760"/>
          </a:xfrm>
          <a:prstGeom prst="rect">
            <a:avLst/>
          </a:prstGeom>
          <a:noFill/>
        </p:spPr>
        <p:txBody>
          <a:bodyPr wrap="square">
            <a:spAutoFit/>
          </a:bodyPr>
          <a:lstStyle/>
          <a:p>
            <a:pPr algn="l">
              <a:lnSpc>
                <a:spcPct val="115000"/>
              </a:lnSpc>
            </a:pPr>
            <a:r>
              <a:rPr sz="1100" b="0" i="0">
                <a:solidFill>
                  <a:srgbClr val="595959"/>
                </a:solidFill>
                <a:latin typeface="Calibri"/>
              </a:rPr>
              <a:t>of Overall Score - 22 checks</a:t>
            </a:r>
          </a:p>
        </p:txBody>
      </p:sp>
      <p:sp>
        <p:nvSpPr>
          <p:cNvPr id="10" name="TextBox 9"/>
          <p:cNvSpPr txBox="1"/>
          <p:nvPr/>
        </p:nvSpPr>
        <p:spPr>
          <a:xfrm>
            <a:off x="868680" y="4434840"/>
            <a:ext cx="3063240" cy="1371600"/>
          </a:xfrm>
          <a:prstGeom prst="rect">
            <a:avLst/>
          </a:prstGeom>
          <a:noFill/>
        </p:spPr>
        <p:txBody>
          <a:bodyPr wrap="square">
            <a:spAutoFit/>
          </a:bodyPr>
          <a:lstStyle/>
          <a:p>
            <a:pPr algn="l">
              <a:lnSpc>
                <a:spcPct val="115000"/>
              </a:lnSpc>
            </a:pPr>
            <a:r>
              <a:rPr sz="1150" b="0" i="0">
                <a:solidFill>
                  <a:srgbClr val="1A1A1A"/>
                </a:solidFill>
                <a:latin typeface="Calibri"/>
              </a:rPr>
              <a:t>Is the content itself written and structured so an AI engine can quote, trust, and cite it accurately?</a:t>
            </a:r>
          </a:p>
        </p:txBody>
      </p:sp>
      <p:sp>
        <p:nvSpPr>
          <p:cNvPr id="11" name="Rounded Rectangle 10"/>
          <p:cNvSpPr/>
          <p:nvPr/>
        </p:nvSpPr>
        <p:spPr>
          <a:xfrm>
            <a:off x="4389120" y="2651760"/>
            <a:ext cx="3520440" cy="3291840"/>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617720" y="2834640"/>
            <a:ext cx="3063240" cy="457200"/>
          </a:xfrm>
          <a:prstGeom prst="rect">
            <a:avLst/>
          </a:prstGeom>
          <a:noFill/>
        </p:spPr>
        <p:txBody>
          <a:bodyPr wrap="square">
            <a:spAutoFit/>
          </a:bodyPr>
          <a:lstStyle/>
          <a:p>
            <a:pPr algn="l">
              <a:lnSpc>
                <a:spcPct val="115000"/>
              </a:lnSpc>
            </a:pPr>
            <a:r>
              <a:rPr sz="1800" b="1" i="0">
                <a:solidFill>
                  <a:srgbClr val="000000"/>
                </a:solidFill>
                <a:latin typeface="Calibri"/>
              </a:rPr>
              <a:t>Off-Page</a:t>
            </a:r>
          </a:p>
        </p:txBody>
      </p:sp>
      <p:sp>
        <p:nvSpPr>
          <p:cNvPr id="13" name="TextBox 12"/>
          <p:cNvSpPr txBox="1"/>
          <p:nvPr/>
        </p:nvSpPr>
        <p:spPr>
          <a:xfrm>
            <a:off x="4617720" y="3337560"/>
            <a:ext cx="3063240" cy="640080"/>
          </a:xfrm>
          <a:prstGeom prst="rect">
            <a:avLst/>
          </a:prstGeom>
          <a:noFill/>
        </p:spPr>
        <p:txBody>
          <a:bodyPr wrap="square">
            <a:spAutoFit/>
          </a:bodyPr>
          <a:lstStyle/>
          <a:p>
            <a:pPr algn="l">
              <a:lnSpc>
                <a:spcPct val="115000"/>
              </a:lnSpc>
            </a:pPr>
            <a:r>
              <a:rPr sz="3200" b="1" i="0">
                <a:solidFill>
                  <a:srgbClr val="000000"/>
                </a:solidFill>
                <a:latin typeface="Calibri"/>
              </a:rPr>
              <a:t>25%</a:t>
            </a:r>
          </a:p>
        </p:txBody>
      </p:sp>
      <p:sp>
        <p:nvSpPr>
          <p:cNvPr id="14" name="TextBox 13"/>
          <p:cNvSpPr txBox="1"/>
          <p:nvPr/>
        </p:nvSpPr>
        <p:spPr>
          <a:xfrm>
            <a:off x="4617720" y="3977639"/>
            <a:ext cx="3063240" cy="365760"/>
          </a:xfrm>
          <a:prstGeom prst="rect">
            <a:avLst/>
          </a:prstGeom>
          <a:noFill/>
        </p:spPr>
        <p:txBody>
          <a:bodyPr wrap="square">
            <a:spAutoFit/>
          </a:bodyPr>
          <a:lstStyle/>
          <a:p>
            <a:pPr algn="l">
              <a:lnSpc>
                <a:spcPct val="115000"/>
              </a:lnSpc>
            </a:pPr>
            <a:r>
              <a:rPr sz="1100" b="0" i="0">
                <a:solidFill>
                  <a:srgbClr val="595959"/>
                </a:solidFill>
                <a:latin typeface="Calibri"/>
              </a:rPr>
              <a:t>of Overall Score - 18 checks</a:t>
            </a:r>
          </a:p>
        </p:txBody>
      </p:sp>
      <p:sp>
        <p:nvSpPr>
          <p:cNvPr id="15" name="TextBox 14"/>
          <p:cNvSpPr txBox="1"/>
          <p:nvPr/>
        </p:nvSpPr>
        <p:spPr>
          <a:xfrm>
            <a:off x="4617720" y="4434840"/>
            <a:ext cx="3063240" cy="1371600"/>
          </a:xfrm>
          <a:prstGeom prst="rect">
            <a:avLst/>
          </a:prstGeom>
          <a:noFill/>
        </p:spPr>
        <p:txBody>
          <a:bodyPr wrap="square">
            <a:spAutoFit/>
          </a:bodyPr>
          <a:lstStyle/>
          <a:p>
            <a:pPr algn="l">
              <a:lnSpc>
                <a:spcPct val="115000"/>
              </a:lnSpc>
            </a:pPr>
            <a:r>
              <a:rPr sz="1150" b="0" i="0">
                <a:solidFill>
                  <a:srgbClr val="1A1A1A"/>
                </a:solidFill>
                <a:latin typeface="Calibri"/>
              </a:rPr>
              <a:t>Does the brand show up consistently elsewhere on the web - Wikidata, reviews, backlinks, press?</a:t>
            </a:r>
          </a:p>
        </p:txBody>
      </p:sp>
      <p:sp>
        <p:nvSpPr>
          <p:cNvPr id="16" name="Rounded Rectangle 15"/>
          <p:cNvSpPr/>
          <p:nvPr/>
        </p:nvSpPr>
        <p:spPr>
          <a:xfrm>
            <a:off x="8138160" y="2651760"/>
            <a:ext cx="3520440" cy="3291840"/>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366760" y="2834640"/>
            <a:ext cx="3063240" cy="457200"/>
          </a:xfrm>
          <a:prstGeom prst="rect">
            <a:avLst/>
          </a:prstGeom>
          <a:noFill/>
        </p:spPr>
        <p:txBody>
          <a:bodyPr wrap="square">
            <a:spAutoFit/>
          </a:bodyPr>
          <a:lstStyle/>
          <a:p>
            <a:pPr algn="l">
              <a:lnSpc>
                <a:spcPct val="115000"/>
              </a:lnSpc>
            </a:pPr>
            <a:r>
              <a:rPr sz="1800" b="1" i="0">
                <a:solidFill>
                  <a:srgbClr val="000000"/>
                </a:solidFill>
                <a:latin typeface="Calibri"/>
              </a:rPr>
              <a:t>Technical</a:t>
            </a:r>
          </a:p>
        </p:txBody>
      </p:sp>
      <p:sp>
        <p:nvSpPr>
          <p:cNvPr id="18" name="TextBox 17"/>
          <p:cNvSpPr txBox="1"/>
          <p:nvPr/>
        </p:nvSpPr>
        <p:spPr>
          <a:xfrm>
            <a:off x="8366760" y="3337560"/>
            <a:ext cx="3063240" cy="640080"/>
          </a:xfrm>
          <a:prstGeom prst="rect">
            <a:avLst/>
          </a:prstGeom>
          <a:noFill/>
        </p:spPr>
        <p:txBody>
          <a:bodyPr wrap="square">
            <a:spAutoFit/>
          </a:bodyPr>
          <a:lstStyle/>
          <a:p>
            <a:pPr algn="l">
              <a:lnSpc>
                <a:spcPct val="115000"/>
              </a:lnSpc>
            </a:pPr>
            <a:r>
              <a:rPr sz="3200" b="1" i="0">
                <a:solidFill>
                  <a:srgbClr val="000000"/>
                </a:solidFill>
                <a:latin typeface="Calibri"/>
              </a:rPr>
              <a:t>35%</a:t>
            </a:r>
          </a:p>
        </p:txBody>
      </p:sp>
      <p:sp>
        <p:nvSpPr>
          <p:cNvPr id="19" name="TextBox 18"/>
          <p:cNvSpPr txBox="1"/>
          <p:nvPr/>
        </p:nvSpPr>
        <p:spPr>
          <a:xfrm>
            <a:off x="8366760" y="3977639"/>
            <a:ext cx="3063240" cy="365760"/>
          </a:xfrm>
          <a:prstGeom prst="rect">
            <a:avLst/>
          </a:prstGeom>
          <a:noFill/>
        </p:spPr>
        <p:txBody>
          <a:bodyPr wrap="square">
            <a:spAutoFit/>
          </a:bodyPr>
          <a:lstStyle/>
          <a:p>
            <a:pPr algn="l">
              <a:lnSpc>
                <a:spcPct val="115000"/>
              </a:lnSpc>
            </a:pPr>
            <a:r>
              <a:rPr sz="1100" b="0" i="0">
                <a:solidFill>
                  <a:srgbClr val="595959"/>
                </a:solidFill>
                <a:latin typeface="Calibri"/>
              </a:rPr>
              <a:t>of Overall Score - 22 checks</a:t>
            </a:r>
          </a:p>
        </p:txBody>
      </p:sp>
      <p:sp>
        <p:nvSpPr>
          <p:cNvPr id="20" name="TextBox 19"/>
          <p:cNvSpPr txBox="1"/>
          <p:nvPr/>
        </p:nvSpPr>
        <p:spPr>
          <a:xfrm>
            <a:off x="8366760" y="4434840"/>
            <a:ext cx="3063240" cy="1371600"/>
          </a:xfrm>
          <a:prstGeom prst="rect">
            <a:avLst/>
          </a:prstGeom>
          <a:noFill/>
        </p:spPr>
        <p:txBody>
          <a:bodyPr wrap="square">
            <a:spAutoFit/>
          </a:bodyPr>
          <a:lstStyle/>
          <a:p>
            <a:pPr algn="l">
              <a:lnSpc>
                <a:spcPct val="115000"/>
              </a:lnSpc>
            </a:pPr>
            <a:r>
              <a:rPr sz="1150" b="0" i="0">
                <a:solidFill>
                  <a:srgbClr val="1A1A1A"/>
                </a:solidFill>
                <a:latin typeface="Calibri"/>
              </a:rPr>
              <a:t>Can AI crawlers even access, read, and parse the site in the first place?</a:t>
            </a:r>
          </a:p>
        </p:txBody>
      </p:sp>
      <p:sp>
        <p:nvSpPr>
          <p:cNvPr id="21" name="TextBox 20"/>
          <p:cNvSpPr txBox="1"/>
          <p:nvPr/>
        </p:nvSpPr>
        <p:spPr>
          <a:xfrm>
            <a:off x="11368735" y="6355080"/>
            <a:ext cx="457200" cy="365760"/>
          </a:xfrm>
          <a:prstGeom prst="rect">
            <a:avLst/>
          </a:prstGeom>
          <a:noFill/>
        </p:spPr>
        <p:txBody>
          <a:bodyPr wrap="square">
            <a:spAutoFit/>
          </a:bodyPr>
          <a:lstStyle/>
          <a:p>
            <a:pPr algn="r">
              <a:lnSpc>
                <a:spcPct val="115000"/>
              </a:lnSpc>
            </a:pPr>
            <a:r>
              <a:rPr sz="1100" b="0" i="0">
                <a:solidFill>
                  <a:srgbClr val="59595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7315200" cy="365760"/>
          </a:xfrm>
          <a:prstGeom prst="rect">
            <a:avLst/>
          </a:prstGeom>
          <a:noFill/>
        </p:spPr>
        <p:txBody>
          <a:bodyPr wrap="square">
            <a:spAutoFit/>
          </a:bodyPr>
          <a:lstStyle/>
          <a:p>
            <a:pPr algn="l">
              <a:lnSpc>
                <a:spcPct val="115000"/>
              </a:lnSpc>
            </a:pPr>
            <a:r>
              <a:rPr sz="1200" b="1" i="0">
                <a:solidFill>
                  <a:srgbClr val="595959"/>
                </a:solidFill>
                <a:latin typeface="Calibri"/>
              </a:rPr>
              <a:t>SCORING METHODOLOGY</a:t>
            </a:r>
          </a:p>
        </p:txBody>
      </p:sp>
      <p:sp>
        <p:nvSpPr>
          <p:cNvPr id="4" name="TextBox 3"/>
          <p:cNvSpPr txBox="1"/>
          <p:nvPr/>
        </p:nvSpPr>
        <p:spPr>
          <a:xfrm>
            <a:off x="640080" y="777240"/>
            <a:ext cx="10515600" cy="640080"/>
          </a:xfrm>
          <a:prstGeom prst="rect">
            <a:avLst/>
          </a:prstGeom>
          <a:noFill/>
        </p:spPr>
        <p:txBody>
          <a:bodyPr wrap="square">
            <a:spAutoFit/>
          </a:bodyPr>
          <a:lstStyle/>
          <a:p>
            <a:pPr algn="l">
              <a:lnSpc>
                <a:spcPct val="115000"/>
              </a:lnSpc>
            </a:pPr>
            <a:r>
              <a:rPr sz="2800" b="1" i="0">
                <a:solidFill>
                  <a:srgbClr val="000000"/>
                </a:solidFill>
                <a:latin typeface="Calibri"/>
              </a:rPr>
              <a:t>How Every Score Is Calculated</a:t>
            </a:r>
          </a:p>
        </p:txBody>
      </p:sp>
      <p:sp>
        <p:nvSpPr>
          <p:cNvPr id="5" name="TextBox 4"/>
          <p:cNvSpPr txBox="1"/>
          <p:nvPr/>
        </p:nvSpPr>
        <p:spPr>
          <a:xfrm>
            <a:off x="640080" y="1417320"/>
            <a:ext cx="10515600" cy="457200"/>
          </a:xfrm>
          <a:prstGeom prst="rect">
            <a:avLst/>
          </a:prstGeom>
          <a:noFill/>
        </p:spPr>
        <p:txBody>
          <a:bodyPr wrap="square">
            <a:spAutoFit/>
          </a:bodyPr>
          <a:lstStyle/>
          <a:p>
            <a:pPr algn="l">
              <a:lnSpc>
                <a:spcPct val="115000"/>
              </a:lnSpc>
            </a:pPr>
            <a:r>
              <a:rPr sz="1300" b="0" i="1">
                <a:solidFill>
                  <a:srgbClr val="595959"/>
                </a:solidFill>
                <a:latin typeface="Calibri"/>
              </a:rPr>
              <a:t>Every parameter counts equally in this model - weight = 1 for all 62 checks.</a:t>
            </a:r>
          </a:p>
        </p:txBody>
      </p:sp>
      <p:sp>
        <p:nvSpPr>
          <p:cNvPr id="6" name="Rounded Rectangle 5"/>
          <p:cNvSpPr/>
          <p:nvPr/>
        </p:nvSpPr>
        <p:spPr>
          <a:xfrm>
            <a:off x="822960" y="2377440"/>
            <a:ext cx="3108960" cy="2011680"/>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05840" y="2606040"/>
            <a:ext cx="2743200" cy="548640"/>
          </a:xfrm>
          <a:prstGeom prst="rect">
            <a:avLst/>
          </a:prstGeom>
          <a:noFill/>
        </p:spPr>
        <p:txBody>
          <a:bodyPr wrap="square">
            <a:spAutoFit/>
          </a:bodyPr>
          <a:lstStyle/>
          <a:p>
            <a:pPr algn="ctr">
              <a:lnSpc>
                <a:spcPct val="115000"/>
              </a:lnSpc>
            </a:pPr>
            <a:r>
              <a:rPr sz="1800" b="1" i="0">
                <a:solidFill>
                  <a:srgbClr val="000000"/>
                </a:solidFill>
                <a:latin typeface="Calibri"/>
              </a:rPr>
              <a:t>62 Checks</a:t>
            </a:r>
          </a:p>
        </p:txBody>
      </p:sp>
      <p:sp>
        <p:nvSpPr>
          <p:cNvPr id="8" name="TextBox 7"/>
          <p:cNvSpPr txBox="1"/>
          <p:nvPr/>
        </p:nvSpPr>
        <p:spPr>
          <a:xfrm>
            <a:off x="1005840" y="3291840"/>
            <a:ext cx="2743200" cy="1005840"/>
          </a:xfrm>
          <a:prstGeom prst="rect">
            <a:avLst/>
          </a:prstGeom>
          <a:noFill/>
        </p:spPr>
        <p:txBody>
          <a:bodyPr wrap="square">
            <a:spAutoFit/>
          </a:bodyPr>
          <a:lstStyle/>
          <a:p>
            <a:pPr algn="ctr">
              <a:lnSpc>
                <a:spcPct val="115000"/>
              </a:lnSpc>
            </a:pPr>
            <a:r>
              <a:rPr sz="1250" b="0" i="0">
                <a:solidFill>
                  <a:srgbClr val="1A1A1A"/>
                </a:solidFill>
                <a:latin typeface="Calibri"/>
              </a:rPr>
              <a:t>Scored 0-100 each,</a:t>
            </a:r>
          </a:p>
          <a:p>
            <a:pPr algn="ctr">
              <a:lnSpc>
                <a:spcPct val="115000"/>
              </a:lnSpc>
            </a:pPr>
            <a:r>
              <a:rPr sz="1250" b="0" i="0">
                <a:solidFill>
                  <a:srgbClr val="1A1A1A"/>
                </a:solidFill>
                <a:latin typeface="Calibri"/>
              </a:rPr>
              <a:t>live against the site</a:t>
            </a:r>
          </a:p>
        </p:txBody>
      </p:sp>
      <p:sp>
        <p:nvSpPr>
          <p:cNvPr id="9" name="TextBox 8"/>
          <p:cNvSpPr txBox="1"/>
          <p:nvPr/>
        </p:nvSpPr>
        <p:spPr>
          <a:xfrm>
            <a:off x="3931920" y="3017520"/>
            <a:ext cx="640080" cy="731520"/>
          </a:xfrm>
          <a:prstGeom prst="rect">
            <a:avLst/>
          </a:prstGeom>
          <a:noFill/>
        </p:spPr>
        <p:txBody>
          <a:bodyPr wrap="square">
            <a:spAutoFit/>
          </a:bodyPr>
          <a:lstStyle/>
          <a:p>
            <a:pPr algn="ctr">
              <a:lnSpc>
                <a:spcPct val="115000"/>
              </a:lnSpc>
            </a:pPr>
            <a:r>
              <a:rPr sz="3000" b="1" i="0">
                <a:solidFill>
                  <a:srgbClr val="595959"/>
                </a:solidFill>
                <a:latin typeface="Calibri"/>
              </a:rPr>
              <a:t>→</a:t>
            </a:r>
          </a:p>
        </p:txBody>
      </p:sp>
      <p:sp>
        <p:nvSpPr>
          <p:cNvPr id="10" name="Rounded Rectangle 9"/>
          <p:cNvSpPr/>
          <p:nvPr/>
        </p:nvSpPr>
        <p:spPr>
          <a:xfrm>
            <a:off x="4572000" y="2377440"/>
            <a:ext cx="3108960" cy="2011680"/>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754880" y="2606040"/>
            <a:ext cx="2743200" cy="548640"/>
          </a:xfrm>
          <a:prstGeom prst="rect">
            <a:avLst/>
          </a:prstGeom>
          <a:noFill/>
        </p:spPr>
        <p:txBody>
          <a:bodyPr wrap="square">
            <a:spAutoFit/>
          </a:bodyPr>
          <a:lstStyle/>
          <a:p>
            <a:pPr algn="ctr">
              <a:lnSpc>
                <a:spcPct val="115000"/>
              </a:lnSpc>
            </a:pPr>
            <a:r>
              <a:rPr sz="1800" b="1" i="0">
                <a:solidFill>
                  <a:srgbClr val="000000"/>
                </a:solidFill>
                <a:latin typeface="Calibri"/>
              </a:rPr>
              <a:t>3 Pillar Scores</a:t>
            </a:r>
          </a:p>
        </p:txBody>
      </p:sp>
      <p:sp>
        <p:nvSpPr>
          <p:cNvPr id="12" name="TextBox 11"/>
          <p:cNvSpPr txBox="1"/>
          <p:nvPr/>
        </p:nvSpPr>
        <p:spPr>
          <a:xfrm>
            <a:off x="4754880" y="3291840"/>
            <a:ext cx="2743200" cy="1005840"/>
          </a:xfrm>
          <a:prstGeom prst="rect">
            <a:avLst/>
          </a:prstGeom>
          <a:noFill/>
        </p:spPr>
        <p:txBody>
          <a:bodyPr wrap="square">
            <a:spAutoFit/>
          </a:bodyPr>
          <a:lstStyle/>
          <a:p>
            <a:pPr algn="ctr">
              <a:lnSpc>
                <a:spcPct val="115000"/>
              </a:lnSpc>
            </a:pPr>
            <a:r>
              <a:rPr sz="1250" b="0" i="0">
                <a:solidFill>
                  <a:srgbClr val="1A1A1A"/>
                </a:solidFill>
                <a:latin typeface="Calibri"/>
              </a:rPr>
              <a:t>On-Page - Off-Page - Technical</a:t>
            </a:r>
          </a:p>
          <a:p>
            <a:pPr algn="ctr">
              <a:lnSpc>
                <a:spcPct val="115000"/>
              </a:lnSpc>
            </a:pPr>
            <a:r>
              <a:rPr sz="1250" b="0" i="0">
                <a:solidFill>
                  <a:srgbClr val="1A1A1A"/>
                </a:solidFill>
                <a:latin typeface="Calibri"/>
              </a:rPr>
              <a:t>simple average per pillar</a:t>
            </a:r>
          </a:p>
        </p:txBody>
      </p:sp>
      <p:sp>
        <p:nvSpPr>
          <p:cNvPr id="13" name="TextBox 12"/>
          <p:cNvSpPr txBox="1"/>
          <p:nvPr/>
        </p:nvSpPr>
        <p:spPr>
          <a:xfrm>
            <a:off x="7680960" y="3017520"/>
            <a:ext cx="640080" cy="731520"/>
          </a:xfrm>
          <a:prstGeom prst="rect">
            <a:avLst/>
          </a:prstGeom>
          <a:noFill/>
        </p:spPr>
        <p:txBody>
          <a:bodyPr wrap="square">
            <a:spAutoFit/>
          </a:bodyPr>
          <a:lstStyle/>
          <a:p>
            <a:pPr algn="ctr">
              <a:lnSpc>
                <a:spcPct val="115000"/>
              </a:lnSpc>
            </a:pPr>
            <a:r>
              <a:rPr sz="3000" b="1" i="0">
                <a:solidFill>
                  <a:srgbClr val="595959"/>
                </a:solidFill>
                <a:latin typeface="Calibri"/>
              </a:rPr>
              <a:t>→</a:t>
            </a:r>
          </a:p>
        </p:txBody>
      </p:sp>
      <p:sp>
        <p:nvSpPr>
          <p:cNvPr id="14" name="Rounded Rectangle 13"/>
          <p:cNvSpPr/>
          <p:nvPr/>
        </p:nvSpPr>
        <p:spPr>
          <a:xfrm>
            <a:off x="8321040" y="2377440"/>
            <a:ext cx="3108960" cy="2011680"/>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503920" y="2606040"/>
            <a:ext cx="2743200" cy="548640"/>
          </a:xfrm>
          <a:prstGeom prst="rect">
            <a:avLst/>
          </a:prstGeom>
          <a:noFill/>
        </p:spPr>
        <p:txBody>
          <a:bodyPr wrap="square">
            <a:spAutoFit/>
          </a:bodyPr>
          <a:lstStyle/>
          <a:p>
            <a:pPr algn="ctr">
              <a:lnSpc>
                <a:spcPct val="115000"/>
              </a:lnSpc>
            </a:pPr>
            <a:r>
              <a:rPr sz="1800" b="1" i="0">
                <a:solidFill>
                  <a:srgbClr val="000000"/>
                </a:solidFill>
                <a:latin typeface="Calibri"/>
              </a:rPr>
              <a:t>1 Overall Score</a:t>
            </a:r>
          </a:p>
        </p:txBody>
      </p:sp>
      <p:sp>
        <p:nvSpPr>
          <p:cNvPr id="16" name="TextBox 15"/>
          <p:cNvSpPr txBox="1"/>
          <p:nvPr/>
        </p:nvSpPr>
        <p:spPr>
          <a:xfrm>
            <a:off x="8503920" y="3291840"/>
            <a:ext cx="2743200" cy="1005840"/>
          </a:xfrm>
          <a:prstGeom prst="rect">
            <a:avLst/>
          </a:prstGeom>
          <a:noFill/>
        </p:spPr>
        <p:txBody>
          <a:bodyPr wrap="square">
            <a:spAutoFit/>
          </a:bodyPr>
          <a:lstStyle/>
          <a:p>
            <a:pPr algn="ctr">
              <a:lnSpc>
                <a:spcPct val="115000"/>
              </a:lnSpc>
            </a:pPr>
            <a:r>
              <a:rPr sz="1250" b="0" i="0">
                <a:solidFill>
                  <a:srgbClr val="1A1A1A"/>
                </a:solidFill>
                <a:latin typeface="Calibri"/>
              </a:rPr>
              <a:t>On-Page x 40% + Off-Page x 25%</a:t>
            </a:r>
          </a:p>
          <a:p>
            <a:pPr algn="ctr">
              <a:lnSpc>
                <a:spcPct val="115000"/>
              </a:lnSpc>
            </a:pPr>
            <a:r>
              <a:rPr sz="1250" b="0" i="0">
                <a:solidFill>
                  <a:srgbClr val="1A1A1A"/>
                </a:solidFill>
                <a:latin typeface="Calibri"/>
              </a:rPr>
              <a:t>+ Technical x 35%</a:t>
            </a:r>
          </a:p>
        </p:txBody>
      </p:sp>
      <p:sp>
        <p:nvSpPr>
          <p:cNvPr id="17" name="TextBox 16"/>
          <p:cNvSpPr txBox="1"/>
          <p:nvPr/>
        </p:nvSpPr>
        <p:spPr>
          <a:xfrm>
            <a:off x="822960" y="4754880"/>
            <a:ext cx="10058400" cy="457200"/>
          </a:xfrm>
          <a:prstGeom prst="rect">
            <a:avLst/>
          </a:prstGeom>
          <a:noFill/>
        </p:spPr>
        <p:txBody>
          <a:bodyPr wrap="square">
            <a:spAutoFit/>
          </a:bodyPr>
          <a:lstStyle/>
          <a:p>
            <a:pPr algn="l">
              <a:lnSpc>
                <a:spcPct val="115000"/>
              </a:lnSpc>
            </a:pPr>
            <a:r>
              <a:rPr sz="1250" b="0" i="1">
                <a:solidFill>
                  <a:srgbClr val="595959"/>
                </a:solidFill>
                <a:latin typeface="Calibri"/>
              </a:rPr>
              <a:t>UNKNOWN checks (a required source could not be reached) are excluded entirely - never counted as a zero.</a:t>
            </a:r>
          </a:p>
        </p:txBody>
      </p:sp>
      <p:sp>
        <p:nvSpPr>
          <p:cNvPr id="18" name="TextBox 17"/>
          <p:cNvSpPr txBox="1"/>
          <p:nvPr/>
        </p:nvSpPr>
        <p:spPr>
          <a:xfrm>
            <a:off x="11368735" y="6355080"/>
            <a:ext cx="457200" cy="365760"/>
          </a:xfrm>
          <a:prstGeom prst="rect">
            <a:avLst/>
          </a:prstGeom>
          <a:noFill/>
        </p:spPr>
        <p:txBody>
          <a:bodyPr wrap="square">
            <a:spAutoFit/>
          </a:bodyPr>
          <a:lstStyle/>
          <a:p>
            <a:pPr algn="r">
              <a:lnSpc>
                <a:spcPct val="115000"/>
              </a:lnSpc>
            </a:pPr>
            <a:r>
              <a:rPr sz="1100" b="0" i="0">
                <a:solidFill>
                  <a:srgbClr val="59595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7315200" cy="365760"/>
          </a:xfrm>
          <a:prstGeom prst="rect">
            <a:avLst/>
          </a:prstGeom>
          <a:noFill/>
        </p:spPr>
        <p:txBody>
          <a:bodyPr wrap="square">
            <a:spAutoFit/>
          </a:bodyPr>
          <a:lstStyle/>
          <a:p>
            <a:pPr algn="l">
              <a:lnSpc>
                <a:spcPct val="115000"/>
              </a:lnSpc>
            </a:pPr>
            <a:r>
              <a:rPr sz="1200" b="1" i="0">
                <a:solidFill>
                  <a:srgbClr val="595959"/>
                </a:solidFill>
                <a:latin typeface="Calibri"/>
              </a:rPr>
              <a:t>SCORING METHODOLOGY</a:t>
            </a:r>
          </a:p>
        </p:txBody>
      </p:sp>
      <p:sp>
        <p:nvSpPr>
          <p:cNvPr id="4" name="TextBox 3"/>
          <p:cNvSpPr txBox="1"/>
          <p:nvPr/>
        </p:nvSpPr>
        <p:spPr>
          <a:xfrm>
            <a:off x="640080" y="777240"/>
            <a:ext cx="10515600" cy="640080"/>
          </a:xfrm>
          <a:prstGeom prst="rect">
            <a:avLst/>
          </a:prstGeom>
          <a:noFill/>
        </p:spPr>
        <p:txBody>
          <a:bodyPr wrap="square">
            <a:spAutoFit/>
          </a:bodyPr>
          <a:lstStyle/>
          <a:p>
            <a:pPr algn="l">
              <a:lnSpc>
                <a:spcPct val="115000"/>
              </a:lnSpc>
            </a:pPr>
            <a:r>
              <a:rPr sz="2700" b="1" i="0">
                <a:solidFill>
                  <a:srgbClr val="000000"/>
                </a:solidFill>
                <a:latin typeface="Calibri"/>
              </a:rPr>
              <a:t>Overall Score Formula</a:t>
            </a:r>
          </a:p>
        </p:txBody>
      </p:sp>
      <p:sp>
        <p:nvSpPr>
          <p:cNvPr id="5" name="TextBox 4"/>
          <p:cNvSpPr txBox="1"/>
          <p:nvPr/>
        </p:nvSpPr>
        <p:spPr>
          <a:xfrm>
            <a:off x="640080" y="1417320"/>
            <a:ext cx="10515600" cy="457200"/>
          </a:xfrm>
          <a:prstGeom prst="rect">
            <a:avLst/>
          </a:prstGeom>
          <a:noFill/>
        </p:spPr>
        <p:txBody>
          <a:bodyPr wrap="square">
            <a:spAutoFit/>
          </a:bodyPr>
          <a:lstStyle/>
          <a:p>
            <a:pPr algn="l">
              <a:lnSpc>
                <a:spcPct val="115000"/>
              </a:lnSpc>
            </a:pPr>
            <a:r>
              <a:rPr sz="1250" b="0" i="1">
                <a:solidFill>
                  <a:srgbClr val="595959"/>
                </a:solidFill>
                <a:latin typeface="Calibri"/>
              </a:rPr>
              <a:t>Combines the three pillar scores using their category-level weights.</a:t>
            </a:r>
          </a:p>
        </p:txBody>
      </p:sp>
      <p:sp>
        <p:nvSpPr>
          <p:cNvPr id="6" name="Rounded Rectangle 5"/>
          <p:cNvSpPr/>
          <p:nvPr/>
        </p:nvSpPr>
        <p:spPr>
          <a:xfrm>
            <a:off x="822960" y="2057400"/>
            <a:ext cx="10515600" cy="1280160"/>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05840" y="2331720"/>
            <a:ext cx="10149840" cy="822960"/>
          </a:xfrm>
          <a:prstGeom prst="rect">
            <a:avLst/>
          </a:prstGeom>
          <a:noFill/>
        </p:spPr>
        <p:txBody>
          <a:bodyPr wrap="square">
            <a:spAutoFit/>
          </a:bodyPr>
          <a:lstStyle/>
          <a:p>
            <a:pPr algn="ctr">
              <a:lnSpc>
                <a:spcPct val="115000"/>
              </a:lnSpc>
            </a:pPr>
            <a:r>
              <a:rPr sz="2000" b="1" i="0">
                <a:solidFill>
                  <a:srgbClr val="000000"/>
                </a:solidFill>
                <a:latin typeface="Consolas"/>
              </a:rPr>
              <a:t>Overall = (On-Page x 40%) + (Off-Page x 25%) + (Technical x 35%)</a:t>
            </a:r>
          </a:p>
        </p:txBody>
      </p:sp>
      <p:sp>
        <p:nvSpPr>
          <p:cNvPr id="8" name="TextBox 7"/>
          <p:cNvSpPr txBox="1"/>
          <p:nvPr/>
        </p:nvSpPr>
        <p:spPr>
          <a:xfrm>
            <a:off x="822960" y="3611880"/>
            <a:ext cx="10332720" cy="457200"/>
          </a:xfrm>
          <a:prstGeom prst="rect">
            <a:avLst/>
          </a:prstGeom>
          <a:noFill/>
        </p:spPr>
        <p:txBody>
          <a:bodyPr wrap="square">
            <a:spAutoFit/>
          </a:bodyPr>
          <a:lstStyle/>
          <a:p>
            <a:pPr algn="l">
              <a:lnSpc>
                <a:spcPct val="115000"/>
              </a:lnSpc>
            </a:pPr>
            <a:r>
              <a:rPr sz="1300" b="1" i="0">
                <a:solidFill>
                  <a:srgbClr val="000000"/>
                </a:solidFill>
                <a:latin typeface="Calibri"/>
              </a:rPr>
              <a:t>Worked example:</a:t>
            </a:r>
          </a:p>
        </p:txBody>
      </p:sp>
      <p:sp>
        <p:nvSpPr>
          <p:cNvPr id="9" name="TextBox 8"/>
          <p:cNvSpPr txBox="1"/>
          <p:nvPr/>
        </p:nvSpPr>
        <p:spPr>
          <a:xfrm>
            <a:off x="822960" y="4023360"/>
            <a:ext cx="10332720" cy="640080"/>
          </a:xfrm>
          <a:prstGeom prst="rect">
            <a:avLst/>
          </a:prstGeom>
          <a:noFill/>
        </p:spPr>
        <p:txBody>
          <a:bodyPr wrap="square">
            <a:spAutoFit/>
          </a:bodyPr>
          <a:lstStyle/>
          <a:p>
            <a:pPr algn="l">
              <a:lnSpc>
                <a:spcPct val="115000"/>
              </a:lnSpc>
            </a:pPr>
            <a:r>
              <a:rPr sz="1400" b="0" i="0">
                <a:solidFill>
                  <a:srgbClr val="1A1A1A"/>
                </a:solidFill>
                <a:latin typeface="Consolas"/>
              </a:rPr>
              <a:t>Overall = (28.4x0.40) + (34.8x0.25) + (60.3x0.35) = 11.4 + 8.7 + 21.1 = 41.2  -&gt;  “Poor” band</a:t>
            </a:r>
          </a:p>
        </p:txBody>
      </p:sp>
      <p:sp>
        <p:nvSpPr>
          <p:cNvPr id="10" name="TextBox 9"/>
          <p:cNvSpPr txBox="1"/>
          <p:nvPr/>
        </p:nvSpPr>
        <p:spPr>
          <a:xfrm>
            <a:off x="822960" y="4846320"/>
            <a:ext cx="10332720" cy="1737360"/>
          </a:xfrm>
          <a:prstGeom prst="rect">
            <a:avLst/>
          </a:prstGeom>
          <a:noFill/>
        </p:spPr>
        <p:txBody>
          <a:bodyPr wrap="square">
            <a:spAutoFit/>
          </a:bodyPr>
          <a:lstStyle/>
          <a:p>
            <a:pPr>
              <a:lnSpc>
                <a:spcPct val="120000"/>
              </a:lnSpc>
              <a:spcAft>
                <a:spcPts val="800"/>
              </a:spcAft>
            </a:pPr>
            <a:r>
              <a:rPr sz="1300">
                <a:solidFill>
                  <a:srgbClr val="1A1A1A"/>
                </a:solidFill>
              </a:rPr>
              <a:t>•  Rounded to 1 decimal place.</a:t>
            </a:r>
          </a:p>
          <a:p>
            <a:pPr>
              <a:lnSpc>
                <a:spcPct val="120000"/>
              </a:lnSpc>
              <a:spcAft>
                <a:spcPts val="800"/>
              </a:spcAft>
            </a:pPr>
            <a:r>
              <a:rPr sz="1300">
                <a:solidFill>
                  <a:srgbClr val="1A1A1A"/>
                </a:solidFill>
              </a:rPr>
              <a:t>•  If a whole pillar has no known checks, its weight is dropped and the remaining pillar weights are scaled back up to total 100% - the score reflects only what could be measured.</a:t>
            </a:r>
          </a:p>
        </p:txBody>
      </p:sp>
      <p:sp>
        <p:nvSpPr>
          <p:cNvPr id="11" name="TextBox 10"/>
          <p:cNvSpPr txBox="1"/>
          <p:nvPr/>
        </p:nvSpPr>
        <p:spPr>
          <a:xfrm>
            <a:off x="11368735" y="6355080"/>
            <a:ext cx="457200" cy="365760"/>
          </a:xfrm>
          <a:prstGeom prst="rect">
            <a:avLst/>
          </a:prstGeom>
          <a:noFill/>
        </p:spPr>
        <p:txBody>
          <a:bodyPr wrap="square">
            <a:spAutoFit/>
          </a:bodyPr>
          <a:lstStyle/>
          <a:p>
            <a:pPr algn="r">
              <a:lnSpc>
                <a:spcPct val="115000"/>
              </a:lnSpc>
            </a:pPr>
            <a:r>
              <a:rPr sz="1100" b="0" i="0">
                <a:solidFill>
                  <a:srgbClr val="59595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7315200" cy="365760"/>
          </a:xfrm>
          <a:prstGeom prst="rect">
            <a:avLst/>
          </a:prstGeom>
          <a:noFill/>
        </p:spPr>
        <p:txBody>
          <a:bodyPr wrap="square">
            <a:spAutoFit/>
          </a:bodyPr>
          <a:lstStyle/>
          <a:p>
            <a:pPr algn="l">
              <a:lnSpc>
                <a:spcPct val="115000"/>
              </a:lnSpc>
            </a:pPr>
            <a:r>
              <a:rPr sz="1200" b="1" i="0">
                <a:solidFill>
                  <a:srgbClr val="595959"/>
                </a:solidFill>
                <a:latin typeface="Calibri"/>
              </a:rPr>
              <a:t>SCORING METHODOLOGY</a:t>
            </a:r>
          </a:p>
        </p:txBody>
      </p:sp>
      <p:sp>
        <p:nvSpPr>
          <p:cNvPr id="4" name="TextBox 3"/>
          <p:cNvSpPr txBox="1"/>
          <p:nvPr/>
        </p:nvSpPr>
        <p:spPr>
          <a:xfrm>
            <a:off x="640080" y="777240"/>
            <a:ext cx="10515600" cy="640080"/>
          </a:xfrm>
          <a:prstGeom prst="rect">
            <a:avLst/>
          </a:prstGeom>
          <a:noFill/>
        </p:spPr>
        <p:txBody>
          <a:bodyPr wrap="square">
            <a:spAutoFit/>
          </a:bodyPr>
          <a:lstStyle/>
          <a:p>
            <a:pPr algn="l">
              <a:lnSpc>
                <a:spcPct val="115000"/>
              </a:lnSpc>
            </a:pPr>
            <a:r>
              <a:rPr sz="2700" b="1" i="0">
                <a:solidFill>
                  <a:srgbClr val="000000"/>
                </a:solidFill>
                <a:latin typeface="Calibri"/>
              </a:rPr>
              <a:t>On-Page, Off-Page &amp; Technical Formulas</a:t>
            </a:r>
          </a:p>
        </p:txBody>
      </p:sp>
      <p:sp>
        <p:nvSpPr>
          <p:cNvPr id="5" name="TextBox 4"/>
          <p:cNvSpPr txBox="1"/>
          <p:nvPr/>
        </p:nvSpPr>
        <p:spPr>
          <a:xfrm>
            <a:off x="640080" y="1417320"/>
            <a:ext cx="10515600" cy="457200"/>
          </a:xfrm>
          <a:prstGeom prst="rect">
            <a:avLst/>
          </a:prstGeom>
          <a:noFill/>
        </p:spPr>
        <p:txBody>
          <a:bodyPr wrap="square">
            <a:spAutoFit/>
          </a:bodyPr>
          <a:lstStyle/>
          <a:p>
            <a:pPr algn="l">
              <a:lnSpc>
                <a:spcPct val="115000"/>
              </a:lnSpc>
            </a:pPr>
            <a:r>
              <a:rPr sz="1250" b="0" i="1">
                <a:solidFill>
                  <a:srgbClr val="595959"/>
                </a:solidFill>
                <a:latin typeface="Calibri"/>
              </a:rPr>
              <a:t>Same formula shape for all three pillars - equal weight (=1) per check.</a:t>
            </a:r>
          </a:p>
        </p:txBody>
      </p:sp>
      <p:sp>
        <p:nvSpPr>
          <p:cNvPr id="6" name="Rounded Rectangle 5"/>
          <p:cNvSpPr/>
          <p:nvPr/>
        </p:nvSpPr>
        <p:spPr>
          <a:xfrm>
            <a:off x="640080" y="2148840"/>
            <a:ext cx="3520440" cy="3840480"/>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68680" y="2377440"/>
            <a:ext cx="3063240" cy="457200"/>
          </a:xfrm>
          <a:prstGeom prst="rect">
            <a:avLst/>
          </a:prstGeom>
          <a:noFill/>
        </p:spPr>
        <p:txBody>
          <a:bodyPr wrap="square">
            <a:spAutoFit/>
          </a:bodyPr>
          <a:lstStyle/>
          <a:p>
            <a:pPr algn="l">
              <a:lnSpc>
                <a:spcPct val="115000"/>
              </a:lnSpc>
            </a:pPr>
            <a:r>
              <a:rPr sz="1900" b="1" i="0">
                <a:solidFill>
                  <a:srgbClr val="000000"/>
                </a:solidFill>
                <a:latin typeface="Calibri"/>
              </a:rPr>
              <a:t>On-Page</a:t>
            </a:r>
          </a:p>
        </p:txBody>
      </p:sp>
      <p:sp>
        <p:nvSpPr>
          <p:cNvPr id="8" name="TextBox 7"/>
          <p:cNvSpPr txBox="1"/>
          <p:nvPr/>
        </p:nvSpPr>
        <p:spPr>
          <a:xfrm>
            <a:off x="868680" y="2880360"/>
            <a:ext cx="3063240" cy="365760"/>
          </a:xfrm>
          <a:prstGeom prst="rect">
            <a:avLst/>
          </a:prstGeom>
          <a:noFill/>
        </p:spPr>
        <p:txBody>
          <a:bodyPr wrap="square">
            <a:spAutoFit/>
          </a:bodyPr>
          <a:lstStyle/>
          <a:p>
            <a:pPr algn="l">
              <a:lnSpc>
                <a:spcPct val="115000"/>
              </a:lnSpc>
            </a:pPr>
            <a:r>
              <a:rPr sz="1150" b="0" i="0">
                <a:solidFill>
                  <a:srgbClr val="595959"/>
                </a:solidFill>
                <a:latin typeface="Calibri"/>
              </a:rPr>
              <a:t>40% - 22 checks</a:t>
            </a:r>
          </a:p>
        </p:txBody>
      </p:sp>
      <p:sp>
        <p:nvSpPr>
          <p:cNvPr id="9" name="TextBox 8"/>
          <p:cNvSpPr txBox="1"/>
          <p:nvPr/>
        </p:nvSpPr>
        <p:spPr>
          <a:xfrm>
            <a:off x="868680" y="3429000"/>
            <a:ext cx="3063240" cy="1371600"/>
          </a:xfrm>
          <a:prstGeom prst="rect">
            <a:avLst/>
          </a:prstGeom>
          <a:noFill/>
        </p:spPr>
        <p:txBody>
          <a:bodyPr wrap="square">
            <a:spAutoFit/>
          </a:bodyPr>
          <a:lstStyle/>
          <a:p>
            <a:pPr algn="l">
              <a:lnSpc>
                <a:spcPct val="130000"/>
              </a:lnSpc>
            </a:pPr>
            <a:r>
              <a:rPr sz="1350" b="1" i="0">
                <a:solidFill>
                  <a:srgbClr val="000000"/>
                </a:solidFill>
                <a:latin typeface="Consolas"/>
              </a:rPr>
              <a:t>= ( Sum of Known</a:t>
            </a:r>
          </a:p>
          <a:p>
            <a:pPr algn="l">
              <a:lnSpc>
                <a:spcPct val="130000"/>
              </a:lnSpc>
            </a:pPr>
            <a:r>
              <a:rPr sz="1350" b="1" i="0">
                <a:solidFill>
                  <a:srgbClr val="000000"/>
                </a:solidFill>
                <a:latin typeface="Consolas"/>
              </a:rPr>
              <a:t>On-Page Scores )</a:t>
            </a:r>
          </a:p>
          <a:p>
            <a:pPr algn="l">
              <a:lnSpc>
                <a:spcPct val="130000"/>
              </a:lnSpc>
            </a:pPr>
            <a:r>
              <a:rPr sz="1350" b="1" i="0">
                <a:solidFill>
                  <a:srgbClr val="000000"/>
                </a:solidFill>
                <a:latin typeface="Consolas"/>
              </a:rPr>
              <a:t>÷ ( Count Known )</a:t>
            </a:r>
          </a:p>
        </p:txBody>
      </p:sp>
      <p:sp>
        <p:nvSpPr>
          <p:cNvPr id="10" name="TextBox 9"/>
          <p:cNvSpPr txBox="1"/>
          <p:nvPr/>
        </p:nvSpPr>
        <p:spPr>
          <a:xfrm>
            <a:off x="868680" y="4983480"/>
            <a:ext cx="3063240" cy="914400"/>
          </a:xfrm>
          <a:prstGeom prst="rect">
            <a:avLst/>
          </a:prstGeom>
          <a:noFill/>
        </p:spPr>
        <p:txBody>
          <a:bodyPr wrap="square">
            <a:spAutoFit/>
          </a:bodyPr>
          <a:lstStyle/>
          <a:p>
            <a:pPr algn="l">
              <a:lnSpc>
                <a:spcPct val="125000"/>
              </a:lnSpc>
            </a:pPr>
            <a:r>
              <a:rPr sz="1150" b="0" i="1">
                <a:solidFill>
                  <a:srgbClr val="1A1A1A"/>
                </a:solidFill>
                <a:latin typeface="Calibri"/>
              </a:rPr>
              <a:t>Only ON-09 can</a:t>
            </a:r>
          </a:p>
          <a:p>
            <a:pPr algn="l">
              <a:lnSpc>
                <a:spcPct val="125000"/>
              </a:lnSpc>
            </a:pPr>
            <a:r>
              <a:rPr sz="1150" b="0" i="1">
                <a:solidFill>
                  <a:srgbClr val="1A1A1A"/>
                </a:solidFill>
                <a:latin typeface="Calibri"/>
              </a:rPr>
              <a:t>return UNKNOWN.</a:t>
            </a:r>
          </a:p>
        </p:txBody>
      </p:sp>
      <p:sp>
        <p:nvSpPr>
          <p:cNvPr id="11" name="Rounded Rectangle 10"/>
          <p:cNvSpPr/>
          <p:nvPr/>
        </p:nvSpPr>
        <p:spPr>
          <a:xfrm>
            <a:off x="4389120" y="2148840"/>
            <a:ext cx="3520440" cy="3840480"/>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617720" y="2377440"/>
            <a:ext cx="3063240" cy="457200"/>
          </a:xfrm>
          <a:prstGeom prst="rect">
            <a:avLst/>
          </a:prstGeom>
          <a:noFill/>
        </p:spPr>
        <p:txBody>
          <a:bodyPr wrap="square">
            <a:spAutoFit/>
          </a:bodyPr>
          <a:lstStyle/>
          <a:p>
            <a:pPr algn="l">
              <a:lnSpc>
                <a:spcPct val="115000"/>
              </a:lnSpc>
            </a:pPr>
            <a:r>
              <a:rPr sz="1900" b="1" i="0">
                <a:solidFill>
                  <a:srgbClr val="000000"/>
                </a:solidFill>
                <a:latin typeface="Calibri"/>
              </a:rPr>
              <a:t>Off-Page</a:t>
            </a:r>
          </a:p>
        </p:txBody>
      </p:sp>
      <p:sp>
        <p:nvSpPr>
          <p:cNvPr id="13" name="TextBox 12"/>
          <p:cNvSpPr txBox="1"/>
          <p:nvPr/>
        </p:nvSpPr>
        <p:spPr>
          <a:xfrm>
            <a:off x="4617720" y="2880360"/>
            <a:ext cx="3063240" cy="365760"/>
          </a:xfrm>
          <a:prstGeom prst="rect">
            <a:avLst/>
          </a:prstGeom>
          <a:noFill/>
        </p:spPr>
        <p:txBody>
          <a:bodyPr wrap="square">
            <a:spAutoFit/>
          </a:bodyPr>
          <a:lstStyle/>
          <a:p>
            <a:pPr algn="l">
              <a:lnSpc>
                <a:spcPct val="115000"/>
              </a:lnSpc>
            </a:pPr>
            <a:r>
              <a:rPr sz="1150" b="0" i="0">
                <a:solidFill>
                  <a:srgbClr val="595959"/>
                </a:solidFill>
                <a:latin typeface="Calibri"/>
              </a:rPr>
              <a:t>25% - 18 checks</a:t>
            </a:r>
          </a:p>
        </p:txBody>
      </p:sp>
      <p:sp>
        <p:nvSpPr>
          <p:cNvPr id="14" name="TextBox 13"/>
          <p:cNvSpPr txBox="1"/>
          <p:nvPr/>
        </p:nvSpPr>
        <p:spPr>
          <a:xfrm>
            <a:off x="4617720" y="3429000"/>
            <a:ext cx="3063240" cy="1371600"/>
          </a:xfrm>
          <a:prstGeom prst="rect">
            <a:avLst/>
          </a:prstGeom>
          <a:noFill/>
        </p:spPr>
        <p:txBody>
          <a:bodyPr wrap="square">
            <a:spAutoFit/>
          </a:bodyPr>
          <a:lstStyle/>
          <a:p>
            <a:pPr algn="l">
              <a:lnSpc>
                <a:spcPct val="130000"/>
              </a:lnSpc>
            </a:pPr>
            <a:r>
              <a:rPr sz="1350" b="1" i="0">
                <a:solidFill>
                  <a:srgbClr val="000000"/>
                </a:solidFill>
                <a:latin typeface="Consolas"/>
              </a:rPr>
              <a:t>= ( Sum of Known</a:t>
            </a:r>
          </a:p>
          <a:p>
            <a:pPr algn="l">
              <a:lnSpc>
                <a:spcPct val="130000"/>
              </a:lnSpc>
            </a:pPr>
            <a:r>
              <a:rPr sz="1350" b="1" i="0">
                <a:solidFill>
                  <a:srgbClr val="000000"/>
                </a:solidFill>
                <a:latin typeface="Consolas"/>
              </a:rPr>
              <a:t>Off-Page Scores )</a:t>
            </a:r>
          </a:p>
          <a:p>
            <a:pPr algn="l">
              <a:lnSpc>
                <a:spcPct val="130000"/>
              </a:lnSpc>
            </a:pPr>
            <a:r>
              <a:rPr sz="1350" b="1" i="0">
                <a:solidFill>
                  <a:srgbClr val="000000"/>
                </a:solidFill>
                <a:latin typeface="Consolas"/>
              </a:rPr>
              <a:t>÷ ( Count Known )</a:t>
            </a:r>
          </a:p>
        </p:txBody>
      </p:sp>
      <p:sp>
        <p:nvSpPr>
          <p:cNvPr id="15" name="TextBox 14"/>
          <p:cNvSpPr txBox="1"/>
          <p:nvPr/>
        </p:nvSpPr>
        <p:spPr>
          <a:xfrm>
            <a:off x="4617720" y="4983480"/>
            <a:ext cx="3063240" cy="914400"/>
          </a:xfrm>
          <a:prstGeom prst="rect">
            <a:avLst/>
          </a:prstGeom>
          <a:noFill/>
        </p:spPr>
        <p:txBody>
          <a:bodyPr wrap="square">
            <a:spAutoFit/>
          </a:bodyPr>
          <a:lstStyle/>
          <a:p>
            <a:pPr algn="l">
              <a:lnSpc>
                <a:spcPct val="125000"/>
              </a:lnSpc>
            </a:pPr>
            <a:r>
              <a:rPr sz="1150" b="0" i="1">
                <a:solidFill>
                  <a:srgbClr val="1A1A1A"/>
                </a:solidFill>
                <a:latin typeface="Calibri"/>
              </a:rPr>
              <a:t>6 checks always</a:t>
            </a:r>
          </a:p>
          <a:p>
            <a:pPr algn="l">
              <a:lnSpc>
                <a:spcPct val="125000"/>
              </a:lnSpc>
            </a:pPr>
            <a:r>
              <a:rPr sz="1150" b="0" i="1">
                <a:solidFill>
                  <a:srgbClr val="1A1A1A"/>
                </a:solidFill>
                <a:latin typeface="Calibri"/>
              </a:rPr>
              <a:t>UNKNOWN today</a:t>
            </a:r>
          </a:p>
          <a:p>
            <a:pPr algn="l">
              <a:lnSpc>
                <a:spcPct val="125000"/>
              </a:lnSpc>
            </a:pPr>
            <a:r>
              <a:rPr sz="1150" b="0" i="1">
                <a:solidFill>
                  <a:srgbClr val="1A1A1A"/>
                </a:solidFill>
                <a:latin typeface="Calibri"/>
              </a:rPr>
              <a:t>(pending data</a:t>
            </a:r>
          </a:p>
          <a:p>
            <a:pPr algn="l">
              <a:lnSpc>
                <a:spcPct val="125000"/>
              </a:lnSpc>
            </a:pPr>
            <a:r>
              <a:rPr sz="1150" b="0" i="1">
                <a:solidFill>
                  <a:srgbClr val="1A1A1A"/>
                </a:solidFill>
                <a:latin typeface="Calibri"/>
              </a:rPr>
              <a:t>source access).</a:t>
            </a:r>
          </a:p>
        </p:txBody>
      </p:sp>
      <p:sp>
        <p:nvSpPr>
          <p:cNvPr id="16" name="Rounded Rectangle 15"/>
          <p:cNvSpPr/>
          <p:nvPr/>
        </p:nvSpPr>
        <p:spPr>
          <a:xfrm>
            <a:off x="8138160" y="2148840"/>
            <a:ext cx="3520440" cy="3840480"/>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366760" y="2377440"/>
            <a:ext cx="3063240" cy="457200"/>
          </a:xfrm>
          <a:prstGeom prst="rect">
            <a:avLst/>
          </a:prstGeom>
          <a:noFill/>
        </p:spPr>
        <p:txBody>
          <a:bodyPr wrap="square">
            <a:spAutoFit/>
          </a:bodyPr>
          <a:lstStyle/>
          <a:p>
            <a:pPr algn="l">
              <a:lnSpc>
                <a:spcPct val="115000"/>
              </a:lnSpc>
            </a:pPr>
            <a:r>
              <a:rPr sz="1900" b="1" i="0">
                <a:solidFill>
                  <a:srgbClr val="000000"/>
                </a:solidFill>
                <a:latin typeface="Calibri"/>
              </a:rPr>
              <a:t>Technical</a:t>
            </a:r>
          </a:p>
        </p:txBody>
      </p:sp>
      <p:sp>
        <p:nvSpPr>
          <p:cNvPr id="18" name="TextBox 17"/>
          <p:cNvSpPr txBox="1"/>
          <p:nvPr/>
        </p:nvSpPr>
        <p:spPr>
          <a:xfrm>
            <a:off x="8366760" y="2880360"/>
            <a:ext cx="3063240" cy="365760"/>
          </a:xfrm>
          <a:prstGeom prst="rect">
            <a:avLst/>
          </a:prstGeom>
          <a:noFill/>
        </p:spPr>
        <p:txBody>
          <a:bodyPr wrap="square">
            <a:spAutoFit/>
          </a:bodyPr>
          <a:lstStyle/>
          <a:p>
            <a:pPr algn="l">
              <a:lnSpc>
                <a:spcPct val="115000"/>
              </a:lnSpc>
            </a:pPr>
            <a:r>
              <a:rPr sz="1150" b="0" i="0">
                <a:solidFill>
                  <a:srgbClr val="595959"/>
                </a:solidFill>
                <a:latin typeface="Calibri"/>
              </a:rPr>
              <a:t>35% - 22 checks</a:t>
            </a:r>
          </a:p>
        </p:txBody>
      </p:sp>
      <p:sp>
        <p:nvSpPr>
          <p:cNvPr id="19" name="TextBox 18"/>
          <p:cNvSpPr txBox="1"/>
          <p:nvPr/>
        </p:nvSpPr>
        <p:spPr>
          <a:xfrm>
            <a:off x="8366760" y="3429000"/>
            <a:ext cx="3063240" cy="1371600"/>
          </a:xfrm>
          <a:prstGeom prst="rect">
            <a:avLst/>
          </a:prstGeom>
          <a:noFill/>
        </p:spPr>
        <p:txBody>
          <a:bodyPr wrap="square">
            <a:spAutoFit/>
          </a:bodyPr>
          <a:lstStyle/>
          <a:p>
            <a:pPr algn="l">
              <a:lnSpc>
                <a:spcPct val="130000"/>
              </a:lnSpc>
            </a:pPr>
            <a:r>
              <a:rPr sz="1350" b="1" i="0">
                <a:solidFill>
                  <a:srgbClr val="000000"/>
                </a:solidFill>
                <a:latin typeface="Consolas"/>
              </a:rPr>
              <a:t>= ( Sum of Known</a:t>
            </a:r>
          </a:p>
          <a:p>
            <a:pPr algn="l">
              <a:lnSpc>
                <a:spcPct val="130000"/>
              </a:lnSpc>
            </a:pPr>
            <a:r>
              <a:rPr sz="1350" b="1" i="0">
                <a:solidFill>
                  <a:srgbClr val="000000"/>
                </a:solidFill>
                <a:latin typeface="Consolas"/>
              </a:rPr>
              <a:t>Technical Scores )</a:t>
            </a:r>
          </a:p>
          <a:p>
            <a:pPr algn="l">
              <a:lnSpc>
                <a:spcPct val="130000"/>
              </a:lnSpc>
            </a:pPr>
            <a:r>
              <a:rPr sz="1350" b="1" i="0">
                <a:solidFill>
                  <a:srgbClr val="000000"/>
                </a:solidFill>
                <a:latin typeface="Consolas"/>
              </a:rPr>
              <a:t>÷ ( Count Known )</a:t>
            </a:r>
          </a:p>
        </p:txBody>
      </p:sp>
      <p:sp>
        <p:nvSpPr>
          <p:cNvPr id="20" name="TextBox 19"/>
          <p:cNvSpPr txBox="1"/>
          <p:nvPr/>
        </p:nvSpPr>
        <p:spPr>
          <a:xfrm>
            <a:off x="8366760" y="4983480"/>
            <a:ext cx="3063240" cy="914400"/>
          </a:xfrm>
          <a:prstGeom prst="rect">
            <a:avLst/>
          </a:prstGeom>
          <a:noFill/>
        </p:spPr>
        <p:txBody>
          <a:bodyPr wrap="square">
            <a:spAutoFit/>
          </a:bodyPr>
          <a:lstStyle/>
          <a:p>
            <a:pPr algn="l">
              <a:lnSpc>
                <a:spcPct val="125000"/>
              </a:lnSpc>
            </a:pPr>
            <a:r>
              <a:rPr sz="1150" b="0" i="1">
                <a:solidFill>
                  <a:srgbClr val="1A1A1A"/>
                </a:solidFill>
                <a:latin typeface="Calibri"/>
              </a:rPr>
              <a:t>Retries transient</a:t>
            </a:r>
          </a:p>
          <a:p>
            <a:pPr algn="l">
              <a:lnSpc>
                <a:spcPct val="125000"/>
              </a:lnSpc>
            </a:pPr>
            <a:r>
              <a:rPr sz="1150" b="0" i="1">
                <a:solidFill>
                  <a:srgbClr val="1A1A1A"/>
                </a:solidFill>
                <a:latin typeface="Calibri"/>
              </a:rPr>
              <a:t>site errors before</a:t>
            </a:r>
          </a:p>
          <a:p>
            <a:pPr algn="l">
              <a:lnSpc>
                <a:spcPct val="125000"/>
              </a:lnSpc>
            </a:pPr>
            <a:r>
              <a:rPr sz="1150" b="0" i="1">
                <a:solidFill>
                  <a:srgbClr val="1A1A1A"/>
                </a:solidFill>
                <a:latin typeface="Calibri"/>
              </a:rPr>
              <a:t>scoring a FAIL.</a:t>
            </a:r>
          </a:p>
        </p:txBody>
      </p:sp>
      <p:sp>
        <p:nvSpPr>
          <p:cNvPr id="21" name="TextBox 20"/>
          <p:cNvSpPr txBox="1"/>
          <p:nvPr/>
        </p:nvSpPr>
        <p:spPr>
          <a:xfrm>
            <a:off x="11368735" y="6355080"/>
            <a:ext cx="457200" cy="365760"/>
          </a:xfrm>
          <a:prstGeom prst="rect">
            <a:avLst/>
          </a:prstGeom>
          <a:noFill/>
        </p:spPr>
        <p:txBody>
          <a:bodyPr wrap="square">
            <a:spAutoFit/>
          </a:bodyPr>
          <a:lstStyle/>
          <a:p>
            <a:pPr algn="r">
              <a:lnSpc>
                <a:spcPct val="115000"/>
              </a:lnSpc>
            </a:pPr>
            <a:r>
              <a:rPr sz="1100" b="0" i="0">
                <a:solidFill>
                  <a:srgbClr val="59595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7315200" cy="365760"/>
          </a:xfrm>
          <a:prstGeom prst="rect">
            <a:avLst/>
          </a:prstGeom>
          <a:noFill/>
        </p:spPr>
        <p:txBody>
          <a:bodyPr wrap="square">
            <a:spAutoFit/>
          </a:bodyPr>
          <a:lstStyle/>
          <a:p>
            <a:pPr algn="l">
              <a:lnSpc>
                <a:spcPct val="115000"/>
              </a:lnSpc>
            </a:pPr>
            <a:r>
              <a:rPr sz="1200" b="1" i="0">
                <a:solidFill>
                  <a:srgbClr val="595959"/>
                </a:solidFill>
                <a:latin typeface="Calibri"/>
              </a:rPr>
              <a:t>REFERENCE</a:t>
            </a:r>
          </a:p>
        </p:txBody>
      </p:sp>
      <p:sp>
        <p:nvSpPr>
          <p:cNvPr id="4" name="TextBox 3"/>
          <p:cNvSpPr txBox="1"/>
          <p:nvPr/>
        </p:nvSpPr>
        <p:spPr>
          <a:xfrm>
            <a:off x="640080" y="777240"/>
            <a:ext cx="10058400" cy="640080"/>
          </a:xfrm>
          <a:prstGeom prst="rect">
            <a:avLst/>
          </a:prstGeom>
          <a:noFill/>
        </p:spPr>
        <p:txBody>
          <a:bodyPr wrap="square">
            <a:spAutoFit/>
          </a:bodyPr>
          <a:lstStyle/>
          <a:p>
            <a:pPr algn="l">
              <a:lnSpc>
                <a:spcPct val="115000"/>
              </a:lnSpc>
            </a:pPr>
            <a:r>
              <a:rPr sz="2800" b="1" i="0">
                <a:solidFill>
                  <a:srgbClr val="000000"/>
                </a:solidFill>
                <a:latin typeface="Calibri"/>
              </a:rPr>
              <a:t>Score Bands</a:t>
            </a:r>
          </a:p>
        </p:txBody>
      </p:sp>
      <p:sp>
        <p:nvSpPr>
          <p:cNvPr id="5" name="TextBox 4"/>
          <p:cNvSpPr txBox="1"/>
          <p:nvPr/>
        </p:nvSpPr>
        <p:spPr>
          <a:xfrm>
            <a:off x="640080" y="1417320"/>
            <a:ext cx="10058400" cy="457200"/>
          </a:xfrm>
          <a:prstGeom prst="rect">
            <a:avLst/>
          </a:prstGeom>
          <a:noFill/>
        </p:spPr>
        <p:txBody>
          <a:bodyPr wrap="square">
            <a:spAutoFit/>
          </a:bodyPr>
          <a:lstStyle/>
          <a:p>
            <a:pPr algn="l">
              <a:lnSpc>
                <a:spcPct val="115000"/>
              </a:lnSpc>
            </a:pPr>
            <a:r>
              <a:rPr sz="1300" b="0" i="1">
                <a:solidFill>
                  <a:srgbClr val="595959"/>
                </a:solidFill>
                <a:latin typeface="Calibri"/>
              </a:rPr>
              <a:t>The same bands apply everywhere - Overall Score and each pillar score.</a:t>
            </a:r>
          </a:p>
        </p:txBody>
      </p:sp>
      <p:sp>
        <p:nvSpPr>
          <p:cNvPr id="6" name="Rounded Rectangle 5"/>
          <p:cNvSpPr/>
          <p:nvPr/>
        </p:nvSpPr>
        <p:spPr>
          <a:xfrm>
            <a:off x="640080" y="2377440"/>
            <a:ext cx="1920240" cy="640080"/>
          </a:xfrm>
          <a:prstGeom prst="roundRect">
            <a:avLst>
              <a:gd name="adj" fmla="val 15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Excellent</a:t>
            </a:r>
          </a:p>
        </p:txBody>
      </p:sp>
      <p:sp>
        <p:nvSpPr>
          <p:cNvPr id="7" name="TextBox 6"/>
          <p:cNvSpPr txBox="1"/>
          <p:nvPr/>
        </p:nvSpPr>
        <p:spPr>
          <a:xfrm>
            <a:off x="640080" y="3200400"/>
            <a:ext cx="1920240" cy="457200"/>
          </a:xfrm>
          <a:prstGeom prst="rect">
            <a:avLst/>
          </a:prstGeom>
          <a:noFill/>
        </p:spPr>
        <p:txBody>
          <a:bodyPr wrap="square">
            <a:spAutoFit/>
          </a:bodyPr>
          <a:lstStyle/>
          <a:p>
            <a:pPr algn="ctr">
              <a:lnSpc>
                <a:spcPct val="115000"/>
              </a:lnSpc>
            </a:pPr>
            <a:r>
              <a:rPr sz="1500" b="1" i="0">
                <a:solidFill>
                  <a:srgbClr val="000000"/>
                </a:solidFill>
                <a:latin typeface="Calibri"/>
              </a:rPr>
              <a:t>90+</a:t>
            </a:r>
          </a:p>
        </p:txBody>
      </p:sp>
      <p:sp>
        <p:nvSpPr>
          <p:cNvPr id="8" name="Rounded Rectangle 7"/>
          <p:cNvSpPr/>
          <p:nvPr/>
        </p:nvSpPr>
        <p:spPr>
          <a:xfrm>
            <a:off x="2743200" y="2377440"/>
            <a:ext cx="1920240" cy="640080"/>
          </a:xfrm>
          <a:prstGeom prst="roundRect">
            <a:avLst>
              <a:gd name="adj" fmla="val 15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Good</a:t>
            </a:r>
          </a:p>
        </p:txBody>
      </p:sp>
      <p:sp>
        <p:nvSpPr>
          <p:cNvPr id="9" name="TextBox 8"/>
          <p:cNvSpPr txBox="1"/>
          <p:nvPr/>
        </p:nvSpPr>
        <p:spPr>
          <a:xfrm>
            <a:off x="2743200" y="3200400"/>
            <a:ext cx="1920240" cy="457200"/>
          </a:xfrm>
          <a:prstGeom prst="rect">
            <a:avLst/>
          </a:prstGeom>
          <a:noFill/>
        </p:spPr>
        <p:txBody>
          <a:bodyPr wrap="square">
            <a:spAutoFit/>
          </a:bodyPr>
          <a:lstStyle/>
          <a:p>
            <a:pPr algn="ctr">
              <a:lnSpc>
                <a:spcPct val="115000"/>
              </a:lnSpc>
            </a:pPr>
            <a:r>
              <a:rPr sz="1500" b="1" i="0">
                <a:solidFill>
                  <a:srgbClr val="000000"/>
                </a:solidFill>
                <a:latin typeface="Calibri"/>
              </a:rPr>
              <a:t>75-89</a:t>
            </a:r>
          </a:p>
        </p:txBody>
      </p:sp>
      <p:sp>
        <p:nvSpPr>
          <p:cNvPr id="10" name="Rounded Rectangle 9"/>
          <p:cNvSpPr/>
          <p:nvPr/>
        </p:nvSpPr>
        <p:spPr>
          <a:xfrm>
            <a:off x="4846320" y="2377440"/>
            <a:ext cx="1920240" cy="640080"/>
          </a:xfrm>
          <a:prstGeom prst="roundRect">
            <a:avLst>
              <a:gd name="adj" fmla="val 15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Fair</a:t>
            </a:r>
          </a:p>
        </p:txBody>
      </p:sp>
      <p:sp>
        <p:nvSpPr>
          <p:cNvPr id="11" name="TextBox 10"/>
          <p:cNvSpPr txBox="1"/>
          <p:nvPr/>
        </p:nvSpPr>
        <p:spPr>
          <a:xfrm>
            <a:off x="4846320" y="3200400"/>
            <a:ext cx="1920240" cy="457200"/>
          </a:xfrm>
          <a:prstGeom prst="rect">
            <a:avLst/>
          </a:prstGeom>
          <a:noFill/>
        </p:spPr>
        <p:txBody>
          <a:bodyPr wrap="square">
            <a:spAutoFit/>
          </a:bodyPr>
          <a:lstStyle/>
          <a:p>
            <a:pPr algn="ctr">
              <a:lnSpc>
                <a:spcPct val="115000"/>
              </a:lnSpc>
            </a:pPr>
            <a:r>
              <a:rPr sz="1500" b="1" i="0">
                <a:solidFill>
                  <a:srgbClr val="000000"/>
                </a:solidFill>
                <a:latin typeface="Calibri"/>
              </a:rPr>
              <a:t>60-74</a:t>
            </a:r>
          </a:p>
        </p:txBody>
      </p:sp>
      <p:sp>
        <p:nvSpPr>
          <p:cNvPr id="12" name="Rounded Rectangle 11"/>
          <p:cNvSpPr/>
          <p:nvPr/>
        </p:nvSpPr>
        <p:spPr>
          <a:xfrm>
            <a:off x="6949440" y="2377440"/>
            <a:ext cx="1920240" cy="640080"/>
          </a:xfrm>
          <a:prstGeom prst="roundRect">
            <a:avLst>
              <a:gd name="adj" fmla="val 15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Poor</a:t>
            </a:r>
          </a:p>
        </p:txBody>
      </p:sp>
      <p:sp>
        <p:nvSpPr>
          <p:cNvPr id="13" name="TextBox 12"/>
          <p:cNvSpPr txBox="1"/>
          <p:nvPr/>
        </p:nvSpPr>
        <p:spPr>
          <a:xfrm>
            <a:off x="6949440" y="3200400"/>
            <a:ext cx="1920240" cy="457200"/>
          </a:xfrm>
          <a:prstGeom prst="rect">
            <a:avLst/>
          </a:prstGeom>
          <a:noFill/>
        </p:spPr>
        <p:txBody>
          <a:bodyPr wrap="square">
            <a:spAutoFit/>
          </a:bodyPr>
          <a:lstStyle/>
          <a:p>
            <a:pPr algn="ctr">
              <a:lnSpc>
                <a:spcPct val="115000"/>
              </a:lnSpc>
            </a:pPr>
            <a:r>
              <a:rPr sz="1500" b="1" i="0">
                <a:solidFill>
                  <a:srgbClr val="000000"/>
                </a:solidFill>
                <a:latin typeface="Calibri"/>
              </a:rPr>
              <a:t>40-59</a:t>
            </a:r>
          </a:p>
        </p:txBody>
      </p:sp>
      <p:sp>
        <p:nvSpPr>
          <p:cNvPr id="14" name="Rounded Rectangle 13"/>
          <p:cNvSpPr/>
          <p:nvPr/>
        </p:nvSpPr>
        <p:spPr>
          <a:xfrm>
            <a:off x="9052560" y="2377440"/>
            <a:ext cx="1920240" cy="640080"/>
          </a:xfrm>
          <a:prstGeom prst="roundRect">
            <a:avLst>
              <a:gd name="adj" fmla="val 15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Critical</a:t>
            </a:r>
          </a:p>
        </p:txBody>
      </p:sp>
      <p:sp>
        <p:nvSpPr>
          <p:cNvPr id="15" name="TextBox 14"/>
          <p:cNvSpPr txBox="1"/>
          <p:nvPr/>
        </p:nvSpPr>
        <p:spPr>
          <a:xfrm>
            <a:off x="9052560" y="3200400"/>
            <a:ext cx="1920240" cy="457200"/>
          </a:xfrm>
          <a:prstGeom prst="rect">
            <a:avLst/>
          </a:prstGeom>
          <a:noFill/>
        </p:spPr>
        <p:txBody>
          <a:bodyPr wrap="square">
            <a:spAutoFit/>
          </a:bodyPr>
          <a:lstStyle/>
          <a:p>
            <a:pPr algn="ctr">
              <a:lnSpc>
                <a:spcPct val="115000"/>
              </a:lnSpc>
            </a:pPr>
            <a:r>
              <a:rPr sz="1500" b="1" i="0">
                <a:solidFill>
                  <a:srgbClr val="000000"/>
                </a:solidFill>
                <a:latin typeface="Calibri"/>
              </a:rPr>
              <a:t>Under 40</a:t>
            </a:r>
          </a:p>
        </p:txBody>
      </p:sp>
      <p:sp>
        <p:nvSpPr>
          <p:cNvPr id="16" name="TextBox 15"/>
          <p:cNvSpPr txBox="1"/>
          <p:nvPr/>
        </p:nvSpPr>
        <p:spPr>
          <a:xfrm>
            <a:off x="11368735" y="6355080"/>
            <a:ext cx="457200" cy="365760"/>
          </a:xfrm>
          <a:prstGeom prst="rect">
            <a:avLst/>
          </a:prstGeom>
          <a:noFill/>
        </p:spPr>
        <p:txBody>
          <a:bodyPr wrap="square">
            <a:spAutoFit/>
          </a:bodyPr>
          <a:lstStyle/>
          <a:p>
            <a:pPr algn="r">
              <a:lnSpc>
                <a:spcPct val="115000"/>
              </a:lnSpc>
            </a:pPr>
            <a:r>
              <a:rPr sz="1100" b="0" i="0">
                <a:solidFill>
                  <a:srgbClr val="59595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7315200" cy="365760"/>
          </a:xfrm>
          <a:prstGeom prst="rect">
            <a:avLst/>
          </a:prstGeom>
          <a:noFill/>
        </p:spPr>
        <p:txBody>
          <a:bodyPr wrap="square">
            <a:spAutoFit/>
          </a:bodyPr>
          <a:lstStyle/>
          <a:p>
            <a:pPr algn="l">
              <a:lnSpc>
                <a:spcPct val="115000"/>
              </a:lnSpc>
            </a:pPr>
            <a:r>
              <a:rPr sz="1200" b="1" i="0">
                <a:solidFill>
                  <a:srgbClr val="595959"/>
                </a:solidFill>
                <a:latin typeface="Calibri"/>
              </a:rPr>
              <a:t>REFERENCE</a:t>
            </a:r>
          </a:p>
        </p:txBody>
      </p:sp>
      <p:sp>
        <p:nvSpPr>
          <p:cNvPr id="4" name="TextBox 3"/>
          <p:cNvSpPr txBox="1"/>
          <p:nvPr/>
        </p:nvSpPr>
        <p:spPr>
          <a:xfrm>
            <a:off x="640080" y="777240"/>
            <a:ext cx="10058400" cy="640080"/>
          </a:xfrm>
          <a:prstGeom prst="rect">
            <a:avLst/>
          </a:prstGeom>
          <a:noFill/>
        </p:spPr>
        <p:txBody>
          <a:bodyPr wrap="square">
            <a:spAutoFit/>
          </a:bodyPr>
          <a:lstStyle/>
          <a:p>
            <a:pPr algn="l">
              <a:lnSpc>
                <a:spcPct val="115000"/>
              </a:lnSpc>
            </a:pPr>
            <a:r>
              <a:rPr sz="2800" b="1" i="0">
                <a:solidFill>
                  <a:srgbClr val="000000"/>
                </a:solidFill>
                <a:latin typeface="Calibri"/>
              </a:rPr>
              <a:t>Data Coverage Notes</a:t>
            </a:r>
          </a:p>
        </p:txBody>
      </p:sp>
      <p:sp>
        <p:nvSpPr>
          <p:cNvPr id="5" name="TextBox 4"/>
          <p:cNvSpPr txBox="1"/>
          <p:nvPr/>
        </p:nvSpPr>
        <p:spPr>
          <a:xfrm>
            <a:off x="640080" y="1417320"/>
            <a:ext cx="10515600" cy="548640"/>
          </a:xfrm>
          <a:prstGeom prst="rect">
            <a:avLst/>
          </a:prstGeom>
          <a:noFill/>
        </p:spPr>
        <p:txBody>
          <a:bodyPr wrap="square">
            <a:spAutoFit/>
          </a:bodyPr>
          <a:lstStyle/>
          <a:p>
            <a:pPr algn="l">
              <a:lnSpc>
                <a:spcPct val="115000"/>
              </a:lnSpc>
            </a:pPr>
            <a:r>
              <a:rPr sz="1300" b="0" i="1">
                <a:solidFill>
                  <a:srgbClr val="595959"/>
                </a:solidFill>
                <a:latin typeface="Calibri"/>
              </a:rPr>
              <a:t>Honest gaps in the live system today - these do not change the scoring math, but they affect how many checks can produce a real number.</a:t>
            </a:r>
          </a:p>
        </p:txBody>
      </p:sp>
      <p:sp>
        <p:nvSpPr>
          <p:cNvPr id="6" name="TextBox 5"/>
          <p:cNvSpPr txBox="1"/>
          <p:nvPr/>
        </p:nvSpPr>
        <p:spPr>
          <a:xfrm>
            <a:off x="822960" y="2286000"/>
            <a:ext cx="10332720" cy="3657600"/>
          </a:xfrm>
          <a:prstGeom prst="rect">
            <a:avLst/>
          </a:prstGeom>
          <a:noFill/>
        </p:spPr>
        <p:txBody>
          <a:bodyPr wrap="square">
            <a:spAutoFit/>
          </a:bodyPr>
          <a:lstStyle/>
          <a:p>
            <a:pPr>
              <a:lnSpc>
                <a:spcPct val="130000"/>
              </a:lnSpc>
              <a:spcAft>
                <a:spcPts val="800"/>
              </a:spcAft>
            </a:pPr>
            <a:r>
              <a:rPr sz="1450">
                <a:solidFill>
                  <a:srgbClr val="1A1A1A"/>
                </a:solidFill>
              </a:rPr>
              <a:t>•  No AI/LLM scoring is used yet - every one of the 62 checks is a deterministic, rule-based test (pattern matching, structural checks, live HTTP calls), which keeps results fast, repeatable and explainable.</a:t>
            </a:r>
          </a:p>
          <a:p>
            <a:pPr>
              <a:lnSpc>
                <a:spcPct val="130000"/>
              </a:lnSpc>
              <a:spcAft>
                <a:spcPts val="800"/>
              </a:spcAft>
            </a:pPr>
            <a:r>
              <a:rPr sz="1450">
                <a:solidFill>
                  <a:srgbClr val="1A1A1A"/>
                </a:solidFill>
              </a:rPr>
              <a:t>•  Six Off-Page checks are permanently UNKNOWN pending a data-source integration: OFF-03 (Knowledge Panel), OFF-07 (G2/Clutch/TrustRadius), OFF-08 (review velocity), OFF-09 (category placement), OFF-13 (backlink quality), and OFF-15 (AI-assistant citation share).</a:t>
            </a:r>
          </a:p>
          <a:p>
            <a:pPr>
              <a:lnSpc>
                <a:spcPct val="130000"/>
              </a:lnSpc>
              <a:spcAft>
                <a:spcPts val="800"/>
              </a:spcAft>
            </a:pPr>
            <a:r>
              <a:rPr sz="1450">
                <a:solidFill>
                  <a:srgbClr val="1A1A1A"/>
                </a:solidFill>
              </a:rPr>
              <a:t>•  Off-Page otherwise relies on public web lookups (Wikidata, Wikipedia, public search) rather than a licensed SEO/backlink API - an occasional rate-limit or transient error can surface as UNKNOWN for that run rather than a permanently wrong score.</a:t>
            </a:r>
          </a:p>
        </p:txBody>
      </p:sp>
      <p:sp>
        <p:nvSpPr>
          <p:cNvPr id="7" name="TextBox 6"/>
          <p:cNvSpPr txBox="1"/>
          <p:nvPr/>
        </p:nvSpPr>
        <p:spPr>
          <a:xfrm>
            <a:off x="11368735" y="6355080"/>
            <a:ext cx="457200" cy="365760"/>
          </a:xfrm>
          <a:prstGeom prst="rect">
            <a:avLst/>
          </a:prstGeom>
          <a:noFill/>
        </p:spPr>
        <p:txBody>
          <a:bodyPr wrap="square">
            <a:spAutoFit/>
          </a:bodyPr>
          <a:lstStyle/>
          <a:p>
            <a:pPr algn="r">
              <a:lnSpc>
                <a:spcPct val="115000"/>
              </a:lnSpc>
            </a:pPr>
            <a:r>
              <a:rPr sz="1100" b="0" i="0">
                <a:solidFill>
                  <a:srgbClr val="595959"/>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880360"/>
            <a:ext cx="1280160" cy="317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017520"/>
            <a:ext cx="10058400" cy="914400"/>
          </a:xfrm>
          <a:prstGeom prst="rect">
            <a:avLst/>
          </a:prstGeom>
          <a:noFill/>
        </p:spPr>
        <p:txBody>
          <a:bodyPr wrap="square">
            <a:spAutoFit/>
          </a:bodyPr>
          <a:lstStyle/>
          <a:p>
            <a:pPr algn="l">
              <a:lnSpc>
                <a:spcPct val="115000"/>
              </a:lnSpc>
            </a:pPr>
            <a:r>
              <a:rPr sz="4000" b="1" i="0">
                <a:solidFill>
                  <a:srgbClr val="000000"/>
                </a:solidFill>
                <a:latin typeface="Calibri"/>
              </a:rPr>
              <a:t>Thank You</a:t>
            </a:r>
          </a:p>
        </p:txBody>
      </p:sp>
      <p:sp>
        <p:nvSpPr>
          <p:cNvPr id="5" name="TextBox 4"/>
          <p:cNvSpPr txBox="1"/>
          <p:nvPr/>
        </p:nvSpPr>
        <p:spPr>
          <a:xfrm>
            <a:off x="822960" y="3840480"/>
            <a:ext cx="10058400" cy="548640"/>
          </a:xfrm>
          <a:prstGeom prst="rect">
            <a:avLst/>
          </a:prstGeom>
          <a:noFill/>
        </p:spPr>
        <p:txBody>
          <a:bodyPr wrap="square">
            <a:spAutoFit/>
          </a:bodyPr>
          <a:lstStyle/>
          <a:p>
            <a:pPr algn="l">
              <a:lnSpc>
                <a:spcPct val="115000"/>
              </a:lnSpc>
            </a:pPr>
            <a:r>
              <a:rPr sz="1800" b="0" i="0">
                <a:solidFill>
                  <a:srgbClr val="595959"/>
                </a:solidFill>
                <a:latin typeface="Calibri"/>
              </a:rP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